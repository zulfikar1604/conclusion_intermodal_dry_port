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5852160"/>
          </a:xfrm>
          <a:prstGeom prst="rect">
            <a:avLst/>
          </a:prstGeom>
          <a:solidFill>
            <a:srgbClr val="017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11480"/>
            <a:ext cx="10424160" cy="2011680"/>
          </a:xfrm>
          <a:prstGeom prst="rect">
            <a:avLst/>
          </a:prstGeom>
          <a:noFill/>
        </p:spPr>
        <p:txBody>
          <a:bodyPr wrap="square" lIns="0" tIns="0" rIns="0" bIns="0">
            <a:spAutoFit/>
          </a:bodyPr>
          <a:lstStyle/>
          <a:p>
            <a:pPr>
              <a:defRPr sz="1100" b="1">
                <a:solidFill>
                  <a:srgbClr val="38BDF8"/>
                </a:solidFill>
              </a:defRPr>
            </a:pPr>
            <a:r>
              <a:t>CONCLUSION SUPPLY CHAIN CONSULTANT — STRATEGIC ADVISORY REPORT</a:t>
            </a:r>
          </a:p>
          <a:p>
            <a:pPr>
              <a:spcBef>
                <a:spcPts val="400"/>
              </a:spcBef>
              <a:defRPr sz="2100" b="1">
                <a:solidFill>
                  <a:srgbClr val="FFFFFF"/>
                </a:solidFill>
              </a:defRPr>
            </a:pPr>
            <a:r>
              <a:t>Business Analysis &amp; Alur Proses Bisnis End-to-End:</a:t>
            </a:r>
            <a:br/>
            <a:r>
              <a:t>Pemetaan Fitur Software Logistik CIDP 35 Ha</a:t>
            </a:r>
          </a:p>
          <a:p>
            <a:pPr>
              <a:spcBef>
                <a:spcPts val="600"/>
              </a:spcBef>
              <a:defRPr sz="950" b="1">
                <a:solidFill>
                  <a:srgbClr val="F59E0B"/>
                </a:solidFill>
              </a:defRPr>
            </a:pPr>
            <a:r>
              <a:t>STANDAR SILABUS: ALUR KEPUTUSAN (JIKA YA / JIKA TIDAK), ALAT &amp; HARDWARE, VALIDASI BISNIS, SERTA FEASIBILITY</a:t>
            </a:r>
          </a:p>
        </p:txBody>
      </p:sp>
      <p:sp>
        <p:nvSpPr>
          <p:cNvPr id="5" name="Rounded Rectangle 4"/>
          <p:cNvSpPr/>
          <p:nvPr/>
        </p:nvSpPr>
        <p:spPr>
          <a:xfrm>
            <a:off x="1005840" y="2606040"/>
            <a:ext cx="5120640" cy="2971800"/>
          </a:xfrm>
          <a:prstGeom prst="roundRect">
            <a:avLst/>
          </a:prstGeom>
          <a:solidFill>
            <a:srgbClr val="0F214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TIM ADVISORY BUSINESS ANALYSIS &amp; QA</a:t>
            </a:r>
          </a:p>
          <a:p>
            <a:pPr>
              <a:spcBef>
                <a:spcPts val="600"/>
              </a:spcBef>
              <a:defRPr sz="900">
                <a:solidFill>
                  <a:srgbClr val="E2E8F0"/>
                </a:solidFill>
              </a:defRPr>
            </a:pPr>
            <a:r>
              <a:t>• Naufal Andika Heditya (24D507001012) — Lead Business Analyst &amp; QA</a:t>
            </a:r>
            <a:br/>
            <a:r>
              <a:t>  Fokus: End-to-End Decision Flows, Business Rules Mapping, Exception Handling, Validasi 3D Bay-Row-Tier, Standar GS1 SSCC-18, &amp; Feasibility Study.</a:t>
            </a:r>
            <a:br/>
            <a:br/>
            <a:r>
              <a:t>• Zulfikar Jafarudin Fatah (24D507001001) — Lead System Architect</a:t>
            </a:r>
            <a:br/>
            <a:r>
              <a:t>  Fokus: Arsitektur Eksekutif Web YMS, Database MySQL, &amp; Integrasi 5 Modul.</a:t>
            </a:r>
          </a:p>
        </p:txBody>
      </p:sp>
      <p:sp>
        <p:nvSpPr>
          <p:cNvPr id="6" name="Rounded Rectangle 5"/>
          <p:cNvSpPr/>
          <p:nvPr/>
        </p:nvSpPr>
        <p:spPr>
          <a:xfrm>
            <a:off x="6309360" y="2606040"/>
            <a:ext cx="5120640" cy="2971800"/>
          </a:xfrm>
          <a:prstGeom prst="roundRect">
            <a:avLst/>
          </a:prstGeom>
          <a:solidFill>
            <a:srgbClr val="0F214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defRPr>
            </a:pPr>
            <a:r>
              <a:t>DEWAN KONSULTAN PENDUKUNG (CONCLUSION CONSULTANT)</a:t>
            </a:r>
          </a:p>
          <a:p>
            <a:pPr>
              <a:spcBef>
                <a:spcPts val="600"/>
              </a:spcBef>
              <a:defRPr sz="900">
                <a:solidFill>
                  <a:srgbClr val="E2E8F0"/>
                </a:solidFill>
              </a:defRPr>
            </a:pPr>
            <a:r>
              <a:t>• Armansyah Muchtarrom (24D507001010) — Hardware Specialist</a:t>
            </a:r>
            <a:br/>
            <a:r>
              <a:t>  (Spesifikasi 26 Sensor Lapangan, Jembatan Timbang &amp; Otomasi Gate)</a:t>
            </a:r>
            <a:br/>
            <a:br/>
            <a:r>
              <a:t>• Afriansayah Ayubi (24D507001026) — Software &amp; ERP Specialist</a:t>
            </a:r>
            <a:br/>
            <a:r>
              <a:t>  (Logika Penanganan Peti Kemas &amp; Terminal Tariff Engine Odoo)</a:t>
            </a:r>
            <a:br/>
            <a:br/>
            <a:r>
              <a:t>• Juan Gamaliel (24D507001016) — Data Integration Specialist</a:t>
            </a:r>
            <a:br/>
            <a:r>
              <a:t>  (REST API Gateway, Payload JSON &amp; Stacking Rules Matrix)</a:t>
            </a:r>
          </a:p>
        </p:txBody>
      </p:sp>
      <p:sp>
        <p:nvSpPr>
          <p:cNvPr id="7" name="TextBox 6"/>
          <p:cNvSpPr txBox="1"/>
          <p:nvPr/>
        </p:nvSpPr>
        <p:spPr>
          <a:xfrm>
            <a:off x="1005840" y="5715000"/>
            <a:ext cx="10424160" cy="822960"/>
          </a:xfrm>
          <a:prstGeom prst="rect">
            <a:avLst/>
          </a:prstGeom>
          <a:noFill/>
        </p:spPr>
        <p:txBody>
          <a:bodyPr wrap="square" lIns="0" tIns="0" rIns="0" bIns="0">
            <a:spAutoFit/>
          </a:bodyPr>
          <a:lstStyle/>
          <a:p>
            <a:pPr>
              <a:defRPr sz="950" b="1">
                <a:solidFill>
                  <a:srgbClr val="CBD5E1"/>
                </a:solidFill>
              </a:defRPr>
            </a:pPr>
            <a:r>
              <a:t>Klien / Evaluator Akademik: Dr. Tigor Franky, S.T., M.T.  •  Mata Kuliah: Teknologi dan Perangkat Lunak Logistik</a:t>
            </a:r>
          </a:p>
          <a:p>
            <a:pPr>
              <a:spcBef>
                <a:spcPts val="100"/>
              </a:spcBef>
              <a:defRPr sz="900">
                <a:solidFill>
                  <a:srgbClr val="94A3B8"/>
                </a:solidFill>
              </a:defRPr>
            </a:pPr>
            <a:r>
              <a:t>Program Studi S1 Manajemen Logistik  •  Institut Transportasi dan Logistik (ITL) Trisakti  •  Oktober 2026</a:t>
            </a:r>
          </a:p>
          <a:p>
            <a:pPr>
              <a:spcBef>
                <a:spcPts val="200"/>
              </a:spcBef>
              <a:defRPr sz="900" b="1">
                <a:solidFill>
                  <a:srgbClr val="38BDF8"/>
                </a:solidFill>
              </a:defRPr>
            </a:pPr>
            <a:r>
              <a:t>🌐 Live Web Application Portal: http://localhost/Conclusion_Intermodal_Dry_Port/dashboard.php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Paradigma Business Analyst: Developer vs BA &amp; Metodologi 3-Langkah</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dashboard.php?page=beranda</a:t>
            </a:r>
          </a:p>
          <a:p>
            <a:pPr>
              <a:spcBef>
                <a:spcPts val="100"/>
              </a:spcBef>
              <a:defRPr sz="700" i="1">
                <a:solidFill>
                  <a:srgbClr val="64748B"/>
                </a:solidFill>
              </a:defRPr>
            </a:pPr>
            <a:r>
              <a:t>http://localhost/.../dashboard.php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2 of 12</a:t>
            </a:r>
          </a:p>
        </p:txBody>
      </p:sp>
      <p:sp>
        <p:nvSpPr>
          <p:cNvPr id="5" name="Rounded Rectangle 4"/>
          <p:cNvSpPr/>
          <p:nvPr/>
        </p:nvSpPr>
        <p:spPr>
          <a:xfrm>
            <a:off x="731520" y="1508760"/>
            <a:ext cx="3383280"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017520" cy="3794760"/>
          </a:xfrm>
          <a:prstGeom prst="rect">
            <a:avLst/>
          </a:prstGeom>
          <a:noFill/>
        </p:spPr>
        <p:txBody>
          <a:bodyPr wrap="square">
            <a:spAutoFit/>
          </a:bodyPr>
          <a:lstStyle/>
          <a:p>
            <a:pPr>
              <a:defRPr sz="950" b="1">
                <a:solidFill>
                  <a:srgbClr val="0170B9"/>
                </a:solidFill>
              </a:defRPr>
            </a:pPr>
            <a:r>
              <a:t>DEVELOPER VS BUSINESS ANALYST</a:t>
            </a:r>
          </a:p>
          <a:p>
            <a:pPr>
              <a:spcBef>
                <a:spcPts val="200"/>
              </a:spcBef>
              <a:defRPr sz="1200" b="1">
                <a:solidFill>
                  <a:srgbClr val="002F5E"/>
                </a:solidFill>
              </a:defRPr>
            </a:pPr>
            <a:r>
              <a:t>Perbedaan Sudut Pandang</a:t>
            </a:r>
          </a:p>
          <a:p>
            <a:pPr>
              <a:spcBef>
                <a:spcPts val="400"/>
              </a:spcBef>
              <a:defRPr sz="850">
                <a:solidFill>
                  <a:srgbClr val="1E293B"/>
                </a:solidFill>
              </a:defRPr>
            </a:pPr>
            <a:r>
              <a:t>• Pendekatan Developer (Koding):</a:t>
            </a:r>
            <a:br/>
            <a:r>
              <a:t>  - Fokus struktur koding, database sintaks, &amp; tombol.</a:t>
            </a:r>
            <a:br/>
            <a:r>
              <a:t>  - Contoh: Membuat Button 'Confirm Putaway'.</a:t>
            </a:r>
            <a:br/>
            <a:br/>
            <a:r>
              <a:t>• Pendekatan Business Analyst (BA):</a:t>
            </a:r>
            <a:br/>
            <a:r>
              <a:t>  - Fokus logika bisnis, batasan input, &amp; dampak operasional.</a:t>
            </a:r>
            <a:br/>
            <a:r>
              <a:t>  - Contoh: 'Sistem wajib verifikasi berat barang &lt;= kapasitas rak bin sebelum status lokasi diperbarui di database.'</a:t>
            </a:r>
          </a:p>
        </p:txBody>
      </p:sp>
      <p:sp>
        <p:nvSpPr>
          <p:cNvPr id="7" name="Rounded Rectangle 6"/>
          <p:cNvSpPr/>
          <p:nvPr/>
        </p:nvSpPr>
        <p:spPr>
          <a:xfrm>
            <a:off x="4389120" y="1508760"/>
            <a:ext cx="3383280" cy="4160520"/>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3794760"/>
          </a:xfrm>
          <a:prstGeom prst="rect">
            <a:avLst/>
          </a:prstGeom>
          <a:noFill/>
        </p:spPr>
        <p:txBody>
          <a:bodyPr wrap="square">
            <a:spAutoFit/>
          </a:bodyPr>
          <a:lstStyle/>
          <a:p>
            <a:pPr>
              <a:defRPr sz="950" b="1">
                <a:solidFill>
                  <a:srgbClr val="0170B9"/>
                </a:solidFill>
              </a:defRPr>
            </a:pPr>
            <a:r>
              <a:t>METODOLOGI PERKULIAHAN DR. TIGOR</a:t>
            </a:r>
          </a:p>
          <a:p>
            <a:pPr>
              <a:spcBef>
                <a:spcPts val="200"/>
              </a:spcBef>
              <a:defRPr sz="1200" b="1">
                <a:solidFill>
                  <a:srgbClr val="002F5E"/>
                </a:solidFill>
              </a:defRPr>
            </a:pPr>
            <a:r>
              <a:t>Rumus 3-Langkah Analisis Fitur</a:t>
            </a:r>
          </a:p>
          <a:p>
            <a:pPr>
              <a:spcBef>
                <a:spcPts val="400"/>
              </a:spcBef>
              <a:defRPr sz="850">
                <a:solidFill>
                  <a:srgbClr val="1E293B"/>
                </a:solidFill>
              </a:defRPr>
            </a:pPr>
            <a:r>
              <a:t>1. FITUR / EVENT TRIGGER:</a:t>
            </a:r>
            <a:br/>
            <a:r>
              <a:t>   Tombol UI / input sensor (misal: 'Trigger Gate-In').</a:t>
            </a:r>
            <a:br/>
            <a:br/>
            <a:r>
              <a:t>2. VALIDASI BUSINESS RULE:</a:t>
            </a:r>
            <a:br/>
            <a:r>
              <a:t>   Verifikasi aturan (misal: 'Berat &lt;= 34.000 kg SOLAS VGM &amp; ISO Modulo 11').</a:t>
            </a:r>
            <a:br/>
            <a:br/>
            <a:r>
              <a:t>3. DAMPAK &amp; STATUS DATABASE:</a:t>
            </a:r>
            <a:br/>
            <a:r>
              <a:t>   Perubahan data &amp; aksi fisik (misal: 'Status GATE_IN_APPROVED, e-Pass cetak, palang buka').</a:t>
            </a:r>
          </a:p>
        </p:txBody>
      </p:sp>
      <p:sp>
        <p:nvSpPr>
          <p:cNvPr id="9" name="Rounded Rectangle 8"/>
          <p:cNvSpPr/>
          <p:nvPr/>
        </p:nvSpPr>
        <p:spPr>
          <a:xfrm>
            <a:off x="8046720" y="1508760"/>
            <a:ext cx="3383280"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794760"/>
          </a:xfrm>
          <a:prstGeom prst="rect">
            <a:avLst/>
          </a:prstGeom>
          <a:noFill/>
        </p:spPr>
        <p:txBody>
          <a:bodyPr wrap="square">
            <a:spAutoFit/>
          </a:bodyPr>
          <a:lstStyle/>
          <a:p>
            <a:pPr>
              <a:spcBef>
                <a:spcPts val="0"/>
              </a:spcBef>
              <a:defRPr sz="950" b="1">
                <a:solidFill>
                  <a:srgbClr val="10B981"/>
                </a:solidFill>
              </a:defRPr>
            </a:pPr>
            <a:r>
              <a:t>ORKESTRASI 5 MODUL LOGISTIK</a:t>
            </a:r>
          </a:p>
          <a:p>
            <a:pPr>
              <a:spcBef>
                <a:spcPts val="200"/>
              </a:spcBef>
              <a:defRPr sz="1200" b="1">
                <a:solidFill>
                  <a:srgbClr val="002F5E"/>
                </a:solidFill>
              </a:defRPr>
            </a:pPr>
            <a:r>
              <a:t>Ekosistem Terpadu CIDP</a:t>
            </a:r>
          </a:p>
          <a:p>
            <a:pPr>
              <a:spcBef>
                <a:spcPts val="400"/>
              </a:spcBef>
              <a:defRPr sz="850">
                <a:solidFill>
                  <a:srgbClr val="1E293B"/>
                </a:solidFill>
              </a:defRPr>
            </a:pPr>
            <a:r>
              <a:t>• WCS: Kontrol sensor OCR, timbangan 80t, &amp; RFID.</a:t>
            </a:r>
            <a:br/>
            <a:r>
              <a:t>• YMS: Penjadwalan gate &amp; alokasi 3D Bay-Row-Tier.</a:t>
            </a:r>
            <a:br/>
            <a:r>
              <a:t>• WMS: Gudang CFS LCL (GS1 SSCC-18) &amp; Reefer dingin.</a:t>
            </a:r>
            <a:br/>
            <a:r>
              <a:t>• TMS: Intermodal rel siding 600m &amp; GPS E-Seal KA.</a:t>
            </a:r>
            <a:br/>
            <a:r>
              <a:t>• ERP: Odoo Billing &amp; Webhook CEISA 4.0 Bea Cukai.</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PUSAT NAVIGASI SISTEM: Seluruh Alur Terintegrasi Diakses Melalui Portal 'dashboard.php?page=beranda'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Master End-to-End Decision Flow: Peta Alur Keputusan Terminal (Gate-In s/d Gate-Out)</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dashboard.php?page=simulator</a:t>
            </a:r>
          </a:p>
          <a:p>
            <a:pPr>
              <a:spcBef>
                <a:spcPts val="100"/>
              </a:spcBef>
              <a:defRPr sz="700" i="1">
                <a:solidFill>
                  <a:srgbClr val="64748B"/>
                </a:solidFill>
              </a:defRPr>
            </a:pPr>
            <a:r>
              <a:t>http://localhost/.../simulator.php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3 of 12</a:t>
            </a:r>
          </a:p>
        </p:txBody>
      </p:sp>
      <p:sp>
        <p:nvSpPr>
          <p:cNvPr id="5" name="Rounded Rectangle 4"/>
          <p:cNvSpPr/>
          <p:nvPr/>
        </p:nvSpPr>
        <p:spPr>
          <a:xfrm>
            <a:off x="731520" y="1508760"/>
            <a:ext cx="2029968"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1847088" cy="3886200"/>
          </a:xfrm>
          <a:prstGeom prst="rect">
            <a:avLst/>
          </a:prstGeom>
          <a:noFill/>
        </p:spPr>
        <p:txBody>
          <a:bodyPr wrap="square">
            <a:spAutoFit/>
          </a:bodyPr>
          <a:lstStyle/>
          <a:p>
            <a:pPr>
              <a:defRPr sz="850" b="1">
                <a:solidFill>
                  <a:srgbClr val="0170B9"/>
                </a:solidFill>
              </a:defRPr>
            </a:pPr>
            <a:r>
              <a:t>STAGE 1: GATE-IN</a:t>
            </a:r>
          </a:p>
          <a:p>
            <a:pPr>
              <a:spcBef>
                <a:spcPts val="100"/>
              </a:spcBef>
              <a:defRPr sz="1100" b="1">
                <a:solidFill>
                  <a:srgbClr val="002F5E"/>
                </a:solidFill>
              </a:defRPr>
            </a:pPr>
            <a:r>
              <a:t>Truk Timbang &amp; OCR</a:t>
            </a:r>
          </a:p>
          <a:p>
            <a:pPr>
              <a:spcBef>
                <a:spcPts val="300"/>
              </a:spcBef>
              <a:defRPr sz="750">
                <a:solidFill>
                  <a:srgbClr val="1E293B"/>
                </a:solidFill>
              </a:defRPr>
            </a:pPr>
            <a:r>
              <a:t>• Decision Point:</a:t>
            </a:r>
            <a:br/>
            <a:r>
              <a:t>  Berat Total &lt;= 34t &amp; Check Digit ISO Sah?</a:t>
            </a:r>
            <a:br/>
            <a:br/>
            <a:r>
              <a:t>• [JIKA YA]:</a:t>
            </a:r>
            <a:br/>
            <a:r>
              <a:t>  Cetak e-Pass QR, palang buka, truk masuk ke zona tujuan.</a:t>
            </a:r>
            <a:br/>
            <a:br/>
            <a:r>
              <a:t>• [JIKA TIDAK]:</a:t>
            </a:r>
            <a:br/>
            <a:r>
              <a:t>  Palang terkunci, sirine bunyi, truk tolak belok Jalur U-Turn.</a:t>
            </a:r>
            <a:br/>
            <a:br/>
            <a:r>
              <a:t>• Menggunakan Apa:</a:t>
            </a:r>
            <a:br/>
            <a:r>
              <a:t>  Timbangan Pitless 80t Avery, Kamera ANPR 4K, Barrier Gate.</a:t>
            </a:r>
          </a:p>
        </p:txBody>
      </p:sp>
      <p:sp>
        <p:nvSpPr>
          <p:cNvPr id="7" name="Rounded Rectangle 6"/>
          <p:cNvSpPr/>
          <p:nvPr/>
        </p:nvSpPr>
        <p:spPr>
          <a:xfrm>
            <a:off x="2898648" y="1508760"/>
            <a:ext cx="2029968"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0088" y="1645920"/>
            <a:ext cx="1847088" cy="3886200"/>
          </a:xfrm>
          <a:prstGeom prst="rect">
            <a:avLst/>
          </a:prstGeom>
          <a:noFill/>
        </p:spPr>
        <p:txBody>
          <a:bodyPr wrap="square">
            <a:spAutoFit/>
          </a:bodyPr>
          <a:lstStyle/>
          <a:p>
            <a:pPr>
              <a:defRPr sz="850" b="1">
                <a:solidFill>
                  <a:srgbClr val="6366F1"/>
                </a:solidFill>
              </a:defRPr>
            </a:pPr>
            <a:r>
              <a:t>STAGE 2: YARD STACK</a:t>
            </a:r>
          </a:p>
          <a:p>
            <a:pPr>
              <a:spcBef>
                <a:spcPts val="100"/>
              </a:spcBef>
              <a:defRPr sz="1100" b="1">
                <a:solidFill>
                  <a:srgbClr val="002F5E"/>
                </a:solidFill>
              </a:defRPr>
            </a:pPr>
            <a:r>
              <a:t>Lift-Off &amp; Penataan 3D</a:t>
            </a:r>
          </a:p>
          <a:p>
            <a:pPr>
              <a:spcBef>
                <a:spcPts val="300"/>
              </a:spcBef>
              <a:defRPr sz="750">
                <a:solidFill>
                  <a:srgbClr val="1E293B"/>
                </a:solidFill>
              </a:defRPr>
            </a:pPr>
            <a:r>
              <a:t>• Decision Point:</a:t>
            </a:r>
            <a:br/>
            <a:r>
              <a:t>  Boks 20ft vs 40ft? Lolos Aturan Anti-Floating?</a:t>
            </a:r>
            <a:br/>
            <a:br/>
            <a:r>
              <a:t>• [JIKA YA]:</a:t>
            </a:r>
            <a:br/>
            <a:r>
              <a:t>  20ft ke Bay Ganjil; 40ft ke Bay Genap. Laden di Tier 1-2.</a:t>
            </a:r>
            <a:br/>
            <a:br/>
            <a:r>
              <a:t>• [JIKA TIDAK]:</a:t>
            </a:r>
            <a:br/>
            <a:r>
              <a:t>  YMS tolak putaway, alarm tablet operator bunyi, arahkan bin lain.</a:t>
            </a:r>
            <a:br/>
            <a:br/>
            <a:r>
              <a:t>• Menggunakan Apa:</a:t>
            </a:r>
            <a:br/>
            <a:r>
              <a:t>  3 RS 45t Kalmar (Spreader Telescopic), 1 RTG 40t, VMT.</a:t>
            </a:r>
          </a:p>
        </p:txBody>
      </p:sp>
      <p:sp>
        <p:nvSpPr>
          <p:cNvPr id="9" name="Rounded Rectangle 8"/>
          <p:cNvSpPr/>
          <p:nvPr/>
        </p:nvSpPr>
        <p:spPr>
          <a:xfrm>
            <a:off x="5065776" y="1508760"/>
            <a:ext cx="2029968"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6" y="1645920"/>
            <a:ext cx="1847088" cy="3886200"/>
          </a:xfrm>
          <a:prstGeom prst="rect">
            <a:avLst/>
          </a:prstGeom>
          <a:noFill/>
        </p:spPr>
        <p:txBody>
          <a:bodyPr wrap="square">
            <a:spAutoFit/>
          </a:bodyPr>
          <a:lstStyle/>
          <a:p>
            <a:pPr>
              <a:defRPr sz="850" b="1">
                <a:solidFill>
                  <a:srgbClr val="9333EA"/>
                </a:solidFill>
              </a:defRPr>
            </a:pPr>
            <a:r>
              <a:t>STAGE 3: FASILITAS</a:t>
            </a:r>
          </a:p>
          <a:p>
            <a:pPr>
              <a:spcBef>
                <a:spcPts val="100"/>
              </a:spcBef>
              <a:defRPr sz="1100" b="1">
                <a:solidFill>
                  <a:srgbClr val="002F5E"/>
                </a:solidFill>
              </a:defRPr>
            </a:pPr>
            <a:r>
              <a:t>Reefer &amp; CFS Inbound</a:t>
            </a:r>
          </a:p>
          <a:p>
            <a:pPr>
              <a:spcBef>
                <a:spcPts val="300"/>
              </a:spcBef>
              <a:defRPr sz="750">
                <a:solidFill>
                  <a:srgbClr val="1E293B"/>
                </a:solidFill>
              </a:defRPr>
            </a:pPr>
            <a:r>
              <a:t>• Decision Point:</a:t>
            </a:r>
            <a:br/>
            <a:r>
              <a:t>  Suhu -18C s/d -25C? Barcode GS1 SSCC Valid?</a:t>
            </a:r>
            <a:br/>
            <a:br/>
            <a:r>
              <a:t>• [JIKA YA]:</a:t>
            </a:r>
            <a:br/>
            <a:r>
              <a:t>  Colok steker 380V; Forklift susun palet ke rak bin CFS.</a:t>
            </a:r>
            <a:br/>
            <a:br/>
            <a:r>
              <a:t>• [JIKA TIDAK]:</a:t>
            </a:r>
            <a:br/>
            <a:r>
              <a:t>  Alarm Reefer + failover Genset; Barcode cacat cetak ulang (BLOCKED).</a:t>
            </a:r>
            <a:br/>
            <a:br/>
            <a:r>
              <a:t>• Menggunakan Apa:</a:t>
            </a:r>
            <a:br/>
            <a:r>
              <a:t>  300 Soket CEE 380V, Genset 1.250kVA, Forklift 3t, PDA Zebra.</a:t>
            </a:r>
          </a:p>
        </p:txBody>
      </p:sp>
      <p:sp>
        <p:nvSpPr>
          <p:cNvPr id="11" name="Rounded Rectangle 10"/>
          <p:cNvSpPr/>
          <p:nvPr/>
        </p:nvSpPr>
        <p:spPr>
          <a:xfrm>
            <a:off x="7232904" y="1508760"/>
            <a:ext cx="2029968"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24344" y="1645920"/>
            <a:ext cx="1847088" cy="3886200"/>
          </a:xfrm>
          <a:prstGeom prst="rect">
            <a:avLst/>
          </a:prstGeom>
          <a:noFill/>
        </p:spPr>
        <p:txBody>
          <a:bodyPr wrap="square">
            <a:spAutoFit/>
          </a:bodyPr>
          <a:lstStyle/>
          <a:p>
            <a:pPr>
              <a:defRPr sz="850" b="1">
                <a:solidFill>
                  <a:srgbClr val="0170B9"/>
                </a:solidFill>
              </a:defRPr>
            </a:pPr>
            <a:r>
              <a:t>STAGE 4: KEPABEANAN</a:t>
            </a:r>
          </a:p>
          <a:p>
            <a:pPr>
              <a:spcBef>
                <a:spcPts val="100"/>
              </a:spcBef>
              <a:defRPr sz="1100" b="1">
                <a:solidFill>
                  <a:srgbClr val="002F5E"/>
                </a:solidFill>
              </a:defRPr>
            </a:pPr>
            <a:r>
              <a:t>CEISA 4.0 &amp; Rel Kereta</a:t>
            </a:r>
          </a:p>
          <a:p>
            <a:pPr>
              <a:spcBef>
                <a:spcPts val="300"/>
              </a:spcBef>
              <a:defRPr sz="750">
                <a:solidFill>
                  <a:srgbClr val="1E293B"/>
                </a:solidFill>
              </a:defRPr>
            </a:pPr>
            <a:r>
              <a:t>• Decision Point:</a:t>
            </a:r>
            <a:br/>
            <a:r>
              <a:t>  Profil Hijau vs Merah? Smart E-Seal Rel Utuh?</a:t>
            </a:r>
            <a:br/>
            <a:br/>
            <a:r>
              <a:t>• [JIKA YA]:</a:t>
            </a:r>
            <a:br/>
            <a:r>
              <a:t>  SPPB rilis &lt;5 mnt; Muat 30 GD KA (60 TEU) jalan 90 mnt.</a:t>
            </a:r>
            <a:br/>
            <a:br/>
            <a:r>
              <a:t>• [JIKA TIDAK]:</a:t>
            </a:r>
            <a:br/>
            <a:r>
              <a:t>  Jalur Merah ke Behandle X-Ray; Kawat putus picu Tamper Alert.</a:t>
            </a:r>
            <a:br/>
            <a:br/>
            <a:r>
              <a:t>• Menggunakan Apa:</a:t>
            </a:r>
            <a:br/>
            <a:r>
              <a:t>  Webhook CEISA, Gantry X-Ray 6 MeV, Lok CC206, E-Seal Satelit.</a:t>
            </a:r>
          </a:p>
        </p:txBody>
      </p:sp>
      <p:sp>
        <p:nvSpPr>
          <p:cNvPr id="13" name="Rounded Rectangle 12"/>
          <p:cNvSpPr/>
          <p:nvPr/>
        </p:nvSpPr>
        <p:spPr>
          <a:xfrm>
            <a:off x="9400032" y="1508760"/>
            <a:ext cx="2029968"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1645920"/>
            <a:ext cx="1847088" cy="3886200"/>
          </a:xfrm>
          <a:prstGeom prst="rect">
            <a:avLst/>
          </a:prstGeom>
          <a:noFill/>
        </p:spPr>
        <p:txBody>
          <a:bodyPr wrap="square">
            <a:spAutoFit/>
          </a:bodyPr>
          <a:lstStyle/>
          <a:p>
            <a:pPr>
              <a:defRPr sz="850" b="1">
                <a:solidFill>
                  <a:srgbClr val="10B981"/>
                </a:solidFill>
              </a:defRPr>
            </a:pPr>
            <a:r>
              <a:t>STAGE 5: GATE-OUT</a:t>
            </a:r>
          </a:p>
          <a:p>
            <a:pPr>
              <a:spcBef>
                <a:spcPts val="100"/>
              </a:spcBef>
              <a:defRPr sz="1100" b="1">
                <a:solidFill>
                  <a:srgbClr val="002F5E"/>
                </a:solidFill>
              </a:defRPr>
            </a:pPr>
            <a:r>
              <a:t>Billing Zero Leakage</a:t>
            </a:r>
          </a:p>
          <a:p>
            <a:pPr>
              <a:spcBef>
                <a:spcPts val="300"/>
              </a:spcBef>
              <a:defRPr sz="750">
                <a:solidFill>
                  <a:srgbClr val="1E293B"/>
                </a:solidFill>
              </a:defRPr>
            </a:pPr>
            <a:r>
              <a:t>• Decision Point:</a:t>
            </a:r>
            <a:br/>
            <a:r>
              <a:t>  Invoice Odoo PAID &amp; Dokumen SPPB Cleared?</a:t>
            </a:r>
            <a:br/>
            <a:br/>
            <a:r>
              <a:t>• [JIKA YA]:</a:t>
            </a:r>
            <a:br/>
            <a:r>
              <a:t>  Palang terbuka, foto ANPR e-Exit Pass, kargo rilis.</a:t>
            </a:r>
            <a:br/>
            <a:br/>
            <a:r>
              <a:t>• [JIKA TIDAK]:</a:t>
            </a:r>
            <a:br/>
            <a:r>
              <a:t>  Palang KUNCI PERMANEN, VMS suruh ke kasir, truk ke Holding Lane.</a:t>
            </a:r>
            <a:br/>
            <a:br/>
            <a:r>
              <a:t>• Menggunakan Apa:</a:t>
            </a:r>
            <a:br/>
            <a:r>
              <a:t>  ERP Odoo Finance Webhook, Barrier Gate, Display LED VMS.</a:t>
            </a:r>
          </a:p>
        </p:txBody>
      </p:sp>
      <p:sp>
        <p:nvSpPr>
          <p:cNvPr id="15" name="Rounded Rectangle 14"/>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ARSITEKTUR KEPUTUSAN TERPADU: 5 Gatepoints Menjamin Kepatuhan Regulasi &amp; Zero Revenue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Flow 1: Gerbang Masuk &amp; Timbangan Dinamis (WCS + YMS)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pages/gate.php</a:t>
            </a:r>
          </a:p>
          <a:p>
            <a:pPr>
              <a:spcBef>
                <a:spcPts val="100"/>
              </a:spcBef>
              <a:defRPr sz="700" i="1">
                <a:solidFill>
                  <a:srgbClr val="64748B"/>
                </a:solidFill>
              </a:defRPr>
            </a:pPr>
            <a:r>
              <a:t>http://localhost/.../pages/gate.php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4 of 12</a:t>
            </a:r>
          </a:p>
        </p:txBody>
      </p:sp>
      <p:sp>
        <p:nvSpPr>
          <p:cNvPr id="5" name="Rounded Rectangle 4"/>
          <p:cNvSpPr/>
          <p:nvPr/>
        </p:nvSpPr>
        <p:spPr>
          <a:xfrm>
            <a:off x="731520" y="1508760"/>
            <a:ext cx="5212080" cy="292608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2651760"/>
          </a:xfrm>
          <a:prstGeom prst="rect">
            <a:avLst/>
          </a:prstGeom>
          <a:noFill/>
        </p:spPr>
        <p:txBody>
          <a:bodyPr wrap="square">
            <a:spAutoFit/>
          </a:bodyPr>
          <a:lstStyle/>
          <a:p>
            <a:pPr>
              <a:defRPr sz="900" b="1">
                <a:solidFill>
                  <a:srgbClr val="0170B9"/>
                </a:solidFill>
              </a:defRPr>
            </a:pPr>
            <a:r>
              <a:t>[DECISION POINT]: Berat &lt;= 34.000 kg &amp; ISO Modulo 11 Sah?</a:t>
            </a:r>
          </a:p>
          <a:p>
            <a:pPr>
              <a:spcBef>
                <a:spcPts val="100"/>
              </a:spcBef>
              <a:defRPr sz="1200" b="1">
                <a:solidFill>
                  <a:srgbClr val="10B981"/>
                </a:solidFill>
              </a:defRPr>
            </a:pPr>
            <a:r>
              <a:t>JIKA YA (PASS / APPROVED) -&gt; TRUK MASUK KE ZONA</a:t>
            </a:r>
          </a:p>
          <a:p>
            <a:pPr>
              <a:spcBef>
                <a:spcPts val="300"/>
              </a:spcBef>
              <a:defRPr sz="819">
                <a:solidFill>
                  <a:srgbClr val="1E293B"/>
                </a:solidFill>
              </a:defRPr>
            </a:pPr>
            <a:r>
              <a:t>• Aksi Sistem: Tiket e-Pass (Kode QR) tercetak &lt;90 detik, palang barrier terbuka otomatis.</a:t>
            </a:r>
            <a:br/>
            <a:r>
              <a:t>• Status Database: GATE_IN_APPROVED</a:t>
            </a:r>
            <a:br/>
            <a:r>
              <a:t>• Ke Mana Truk Pergi Sesuai Manifes?</a:t>
            </a:r>
            <a:br/>
            <a:r>
              <a:t>  - FCL Kering -&gt; Masuk ke Lapangan Yard Blok A/B/C/D.</a:t>
            </a:r>
            <a:br/>
            <a:r>
              <a:t>  - Reefer Dingin -&gt; Masuk ke Blok E (Area 300 Steker Listrik).</a:t>
            </a:r>
            <a:br/>
            <a:r>
              <a:t>  - Kargo LCL -&gt; Menuju Rampa Dock Gudang CFS (D1-D5).</a:t>
            </a:r>
            <a:br/>
            <a:r>
              <a:t>  - Pabean Jalur Merah -&gt; Menuju Hanggar Behandle Bea Cukai.</a:t>
            </a:r>
          </a:p>
        </p:txBody>
      </p:sp>
      <p:sp>
        <p:nvSpPr>
          <p:cNvPr id="7" name="Rounded Rectangle 6"/>
          <p:cNvSpPr/>
          <p:nvPr/>
        </p:nvSpPr>
        <p:spPr>
          <a:xfrm>
            <a:off x="6217920" y="1508760"/>
            <a:ext cx="5212080" cy="292608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2651760"/>
          </a:xfrm>
          <a:prstGeom prst="rect">
            <a:avLst/>
          </a:prstGeom>
          <a:noFill/>
        </p:spPr>
        <p:txBody>
          <a:bodyPr wrap="square">
            <a:spAutoFit/>
          </a:bodyPr>
          <a:lstStyle/>
          <a:p>
            <a:pPr>
              <a:defRPr sz="900" b="1">
                <a:solidFill>
                  <a:srgbClr val="EF4444"/>
                </a:solidFill>
              </a:defRPr>
            </a:pPr>
            <a:r>
              <a:t>[DECISION POINT]: Berat &gt; 34.000 kg ATAU ISO Check Digit Salah?</a:t>
            </a:r>
          </a:p>
          <a:p>
            <a:pPr>
              <a:spcBef>
                <a:spcPts val="100"/>
              </a:spcBef>
              <a:defRPr sz="1200" b="1">
                <a:solidFill>
                  <a:srgbClr val="EF4444"/>
                </a:solidFill>
              </a:defRPr>
            </a:pPr>
            <a:r>
              <a:t>JIKA TIDAK (REJECTED) -&gt; TOLAK &amp; RUTE U-TURN</a:t>
            </a:r>
          </a:p>
          <a:p>
            <a:pPr>
              <a:spcBef>
                <a:spcPts val="300"/>
              </a:spcBef>
              <a:defRPr sz="819">
                <a:solidFill>
                  <a:srgbClr val="1E293B"/>
                </a:solidFill>
              </a:defRPr>
            </a:pPr>
            <a:r>
              <a:t>• Aksi Sistem: Palang Barrier TETAP TERKUNCI PERMANEN, sirine alarm 105 dB berbunyi, lampu LED merah menyala.</a:t>
            </a:r>
            <a:br/>
            <a:r>
              <a:t>• Status Database: OVERLOAD_REJECTED / INVALID_CHECK_DIGIT</a:t>
            </a:r>
            <a:br/>
            <a:r>
              <a:t>• Ke Mana Truk Pergi?</a:t>
            </a:r>
            <a:br/>
            <a:r>
              <a:t>  - Dilarang keras masuk ke pelataran terminal penumpukan!</a:t>
            </a:r>
            <a:br/>
            <a:r>
              <a:t>  - Sistem mengarahkan supir belok kiri ke Jalur U-Turn (Putar Balik) untuk keluar terminal atau ke Redress Area.</a:t>
            </a:r>
            <a:br/>
            <a:r>
              <a:t>  - Menyelamatkan jalan beton K-450 dari keretakan dini.</a:t>
            </a:r>
          </a:p>
        </p:txBody>
      </p:sp>
      <p:sp>
        <p:nvSpPr>
          <p:cNvPr id="9" name="Rounded Rectangle 8"/>
          <p:cNvSpPr/>
          <p:nvPr/>
        </p:nvSpPr>
        <p:spPr>
          <a:xfrm>
            <a:off x="731520" y="4553712"/>
            <a:ext cx="10698480" cy="1143000"/>
          </a:xfrm>
          <a:prstGeom prst="roundRect">
            <a:avLst/>
          </a:prstGeom>
          <a:solidFill>
            <a:srgbClr val="FFFF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960120"/>
          </a:xfrm>
          <a:prstGeom prst="rect">
            <a:avLst/>
          </a:prstGeom>
          <a:noFill/>
        </p:spPr>
        <p:txBody>
          <a:bodyPr wrap="square">
            <a:spAutoFit/>
          </a:bodyPr>
          <a:lstStyle/>
          <a:p>
            <a:pPr>
              <a:defRPr sz="900" b="1">
                <a:solidFill>
                  <a:srgbClr val="002F5E"/>
                </a:solidFill>
              </a:defRPr>
            </a:pPr>
            <a:r>
              <a:t>MENGGUNAKAN APA (ASET FISIK, SENSOR HARDWARE &amp; SOFTWARE MODUL):</a:t>
            </a:r>
          </a:p>
          <a:p>
            <a:pPr>
              <a:spcBef>
                <a:spcPts val="200"/>
              </a:spcBef>
              <a:defRPr sz="800">
                <a:solidFill>
                  <a:srgbClr val="1E293B"/>
                </a:solidFill>
              </a:defRPr>
            </a:pPr>
            <a:r>
              <a:t>• Sensor &amp; Timbangan: Jembatan Timbang Pitless 80 Ton (Load Cell Avery Weigh-Tronix) + Inductive Ground Loop Detektor WCS.</a:t>
            </a:r>
            <a:br/>
            <a:r>
              <a:t>• Kamera &amp; Vision AI: Kamera ANPR Hikvision 4K (Plat Nomor Truk) + Kamera OCR Boks Kontainer (Standar ISO 6346:2022).</a:t>
            </a:r>
            <a:br/>
            <a:r>
              <a:t>• Otomasi Gerbang: Automatic Systems Barrier Gate Magnetic Control + Kiosk Cetak Tiket Thermal Zebra Kiosk KRD.</a:t>
            </a:r>
            <a:br/>
            <a:r>
              <a:t>• Perangkat Lunak: Modul WCS Gate Controller (Event Listener IoT) &amp; YMS Gate Inbound Engine.</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'pages/gate.php' -&gt; Jalankan Simulasi Kamera OCR, ANPR, &amp; Uji Truk Overload SOLAS (&gt;34t)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Flow 2: Pengangkatan Kontainer &amp; Stacking 3D Bay-Row-Tier (YMS + WCS)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pages/yard.php</a:t>
            </a:r>
          </a:p>
          <a:p>
            <a:pPr>
              <a:spcBef>
                <a:spcPts val="100"/>
              </a:spcBef>
              <a:defRPr sz="700" i="1">
                <a:solidFill>
                  <a:srgbClr val="64748B"/>
                </a:solidFill>
              </a:defRPr>
            </a:pPr>
            <a:r>
              <a:t>http://localhost/.../pages/yard.php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5 of 12</a:t>
            </a:r>
          </a:p>
        </p:txBody>
      </p:sp>
      <p:sp>
        <p:nvSpPr>
          <p:cNvPr id="5" name="Rounded Rectangle 4"/>
          <p:cNvSpPr/>
          <p:nvPr/>
        </p:nvSpPr>
        <p:spPr>
          <a:xfrm>
            <a:off x="731520" y="150876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2651760"/>
          </a:xfrm>
          <a:prstGeom prst="rect">
            <a:avLst/>
          </a:prstGeom>
          <a:noFill/>
        </p:spPr>
        <p:txBody>
          <a:bodyPr wrap="square">
            <a:spAutoFit/>
          </a:bodyPr>
          <a:lstStyle/>
          <a:p>
            <a:pPr>
              <a:defRPr sz="900" b="1">
                <a:solidFill>
                  <a:srgbClr val="0170B9"/>
                </a:solidFill>
              </a:defRPr>
            </a:pPr>
            <a:r>
              <a:t>SIAPA YANG MENGANGKAT &amp; DECISION UKURAN BOKS</a:t>
            </a:r>
          </a:p>
          <a:p>
            <a:pPr>
              <a:spcBef>
                <a:spcPts val="100"/>
              </a:spcBef>
              <a:defRPr sz="1200" b="1">
                <a:solidFill>
                  <a:srgbClr val="002F5E"/>
                </a:solidFill>
              </a:defRPr>
            </a:pPr>
            <a:r>
              <a:t>Reach Stacker 45t Telescopic Spreader vs RTG vs Forklift</a:t>
            </a:r>
          </a:p>
          <a:p>
            <a:pPr>
              <a:spcBef>
                <a:spcPts val="300"/>
              </a:spcBef>
              <a:defRPr sz="819">
                <a:solidFill>
                  <a:srgbClr val="1E293B"/>
                </a:solidFill>
              </a:defRPr>
            </a:pPr>
            <a:r>
              <a:t>• Decision 1: Kontainer 20ft vs 40ft?</a:t>
            </a:r>
            <a:br/>
            <a:r>
              <a:t>  - [JIKA 20 FT]: Reach Stacker 45t gunakan posisi Spreader 20ft -&gt; Menaruh di Bay Ganjil (01, 03, 05, 07).</a:t>
            </a:r>
            <a:br/>
            <a:r>
              <a:t>  - [JIKA 40 FT]: Spreader Telescopic hidrolik memanjang otomatis ke 40ft -&gt; Menaruh di Bay Genap (02, 06, 10).</a:t>
            </a:r>
            <a:br/>
            <a:r>
              <a:t>• Penumpukan Intensif (Blok A/B): Diangkat RTG Crane 40t 16-Roda.</a:t>
            </a:r>
            <a:br/>
            <a:r>
              <a:t>• Palet di Gudang CFS: Diangkat Forklift Heavy Duty 3-5 Ton.</a:t>
            </a:r>
            <a:br/>
            <a:r>
              <a:t>• Rangkaian Kereta Api: Diangkat Reach Stacker di Siding Rel 600m.</a:t>
            </a:r>
          </a:p>
        </p:txBody>
      </p:sp>
      <p:sp>
        <p:nvSpPr>
          <p:cNvPr id="7" name="Rounded Rectangle 6"/>
          <p:cNvSpPr/>
          <p:nvPr/>
        </p:nvSpPr>
        <p:spPr>
          <a:xfrm>
            <a:off x="6217920" y="1508760"/>
            <a:ext cx="5212080" cy="2926080"/>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2651760"/>
          </a:xfrm>
          <a:prstGeom prst="rect">
            <a:avLst/>
          </a:prstGeom>
          <a:noFill/>
        </p:spPr>
        <p:txBody>
          <a:bodyPr wrap="square">
            <a:spAutoFit/>
          </a:bodyPr>
          <a:lstStyle/>
          <a:p>
            <a:pPr>
              <a:defRPr sz="900" b="1">
                <a:solidFill>
                  <a:srgbClr val="0170B9"/>
                </a:solidFill>
              </a:defRPr>
            </a:pPr>
            <a:r>
              <a:t>DECISION ATURAN PENEMPATAN 3D BAY-ROW-TIER</a:t>
            </a:r>
          </a:p>
          <a:p>
            <a:pPr>
              <a:spcBef>
                <a:spcPts val="100"/>
              </a:spcBef>
              <a:defRPr sz="1200" b="1">
                <a:solidFill>
                  <a:srgbClr val="002F5E"/>
                </a:solidFill>
              </a:defRPr>
            </a:pPr>
            <a:r>
              <a:t>Logika Keputusan Penempatan Slot Lapangan</a:t>
            </a:r>
          </a:p>
          <a:p>
            <a:pPr>
              <a:spcBef>
                <a:spcPts val="300"/>
              </a:spcBef>
              <a:defRPr sz="819">
                <a:solidFill>
                  <a:srgbClr val="1E293B"/>
                </a:solidFill>
              </a:defRPr>
            </a:pPr>
            <a:r>
              <a:t>• Decision 2: Apakah Penempatan Memenuhi Aturan Stacking?</a:t>
            </a:r>
            <a:br/>
            <a:r>
              <a:t>  - [JIKA YA]: Boks diletakkan di koordinat 3D Bay-Row-Tier yang ditugaskan -&gt; Status STACK_CONFIRMED. Rasio gerak derek optimal 1.1 moves/box (hemat solar HSD Rp 1,06 M/thn).</a:t>
            </a:r>
            <a:br/>
            <a:r>
              <a:t>  - [JIKA TIDAK]: Larangan Corner Casting (20ft di atas 40ft) atau Anti-Floating (Tier n saat n-1 kosong) -&gt; Sistem YMS tolak perintah putaway! Alarm tablet kabin berbunyi, operator dialihkan ke bin lain.</a:t>
            </a:r>
          </a:p>
        </p:txBody>
      </p:sp>
      <p:sp>
        <p:nvSpPr>
          <p:cNvPr id="9" name="Rounded Rectangle 8"/>
          <p:cNvSpPr/>
          <p:nvPr/>
        </p:nvSpPr>
        <p:spPr>
          <a:xfrm>
            <a:off x="731520" y="4553712"/>
            <a:ext cx="10698480" cy="1143000"/>
          </a:xfrm>
          <a:prstGeom prst="roundRect">
            <a:avLst/>
          </a:prstGeom>
          <a:solidFill>
            <a:srgbClr val="FFFF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960120"/>
          </a:xfrm>
          <a:prstGeom prst="rect">
            <a:avLst/>
          </a:prstGeom>
          <a:noFill/>
        </p:spPr>
        <p:txBody>
          <a:bodyPr wrap="square">
            <a:spAutoFit/>
          </a:bodyPr>
          <a:lstStyle/>
          <a:p>
            <a:pPr>
              <a:defRPr sz="900" b="1">
                <a:solidFill>
                  <a:srgbClr val="002F5E"/>
                </a:solidFill>
              </a:defRPr>
            </a:pPr>
            <a:r>
              <a:t>MENGGUNAKAN APA (ARMADA ALAT BERAT, HARDWARE &amp; SOFTWARE YMS):</a:t>
            </a:r>
          </a:p>
          <a:p>
            <a:pPr>
              <a:spcBef>
                <a:spcPts val="200"/>
              </a:spcBef>
              <a:defRPr sz="800">
                <a:solidFill>
                  <a:srgbClr val="1E293B"/>
                </a:solidFill>
              </a:defRPr>
            </a:pPr>
            <a:r>
              <a:t>• Armada Derek: 3 Unit Reach Stacker 45 Ton Kalmar DRG450-65S5M (Telescopic Spreader Bromma) + 1 Unit RTG Crane 40 Ton Konecranes.</a:t>
            </a:r>
            <a:br/>
            <a:r>
              <a:t>• Armada CFS: Forklift Elektrik Linde 3-5 Ton + Rampa Loading Dock Leveler Hidrolik.</a:t>
            </a:r>
            <a:br/>
            <a:r>
              <a:t>• Komunikasi Kabin: Komputer Kabin VMT (Vehicle Mounted Terminal) Advantech DLT-V72 terhubung Industrial Wireless Mesh.</a:t>
            </a:r>
            <a:br/>
            <a:r>
              <a:t>• Perangkat Lunak: Modul YMS 3D Yard Allocation Engine, WCS Equipment Dispatcher &amp; Driver Mobile Job Order.</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'pages/yard.php' &amp; 'pages/simulator.php' -&gt; Uji Coba Telescopic Spreader &amp; Alokasi Slot 3D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Flow 3 &amp; 4: Rantai Dingin Reefer &amp; Gudang CFS Inbound Stripping (WMS + WCS)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pages/reefer.php &amp; pages/cfs.php</a:t>
            </a:r>
          </a:p>
          <a:p>
            <a:pPr>
              <a:spcBef>
                <a:spcPts val="100"/>
              </a:spcBef>
              <a:defRPr sz="700" i="1">
                <a:solidFill>
                  <a:srgbClr val="64748B"/>
                </a:solidFill>
              </a:defRPr>
            </a:pPr>
            <a:r>
              <a:t>http://localhost/.../pages/reefer.php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6 of 12</a:t>
            </a:r>
          </a:p>
        </p:txBody>
      </p:sp>
      <p:sp>
        <p:nvSpPr>
          <p:cNvPr id="5" name="Rounded Rectangle 4"/>
          <p:cNvSpPr/>
          <p:nvPr/>
        </p:nvSpPr>
        <p:spPr>
          <a:xfrm>
            <a:off x="731520" y="150876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2651760"/>
          </a:xfrm>
          <a:prstGeom prst="rect">
            <a:avLst/>
          </a:prstGeom>
          <a:noFill/>
        </p:spPr>
        <p:txBody>
          <a:bodyPr wrap="square">
            <a:spAutoFit/>
          </a:bodyPr>
          <a:lstStyle/>
          <a:p>
            <a:pPr>
              <a:defRPr sz="900" b="1">
                <a:solidFill>
                  <a:srgbClr val="0170B9"/>
                </a:solidFill>
              </a:defRPr>
            </a:pPr>
            <a:r>
              <a:t>FLOW 3: COLD CHAIN REEFER (BLOK E - 300 PLUGS)</a:t>
            </a:r>
          </a:p>
          <a:p>
            <a:pPr>
              <a:spcBef>
                <a:spcPts val="100"/>
              </a:spcBef>
              <a:defRPr sz="1200" b="1">
                <a:solidFill>
                  <a:srgbClr val="002F5E"/>
                </a:solidFill>
              </a:defRPr>
            </a:pPr>
            <a:r>
              <a:t>Decision Suhu Dingin &amp; Penanganan Daya</a:t>
            </a:r>
          </a:p>
          <a:p>
            <a:pPr>
              <a:spcBef>
                <a:spcPts val="300"/>
              </a:spcBef>
              <a:defRPr sz="819">
                <a:solidFill>
                  <a:srgbClr val="1E293B"/>
                </a:solidFill>
              </a:defRPr>
            </a:pPr>
            <a:r>
              <a:t>• Decision Point: Suhu -18C s/d -25C &amp; Daya Listrik &lt; 30 Menit?</a:t>
            </a:r>
            <a:br/>
            <a:r>
              <a:t>  - [JIKA YA]: Colok steker CEE 380V/32A, status REEFER_PLUGGED_ACTIVE, telemetri IoT merekam suhu tiap 60s, tarif listrik Rp 250rb/shift tercatat otomatis.</a:t>
            </a:r>
            <a:br/>
            <a:r>
              <a:t>  - [JIKA TIDAK (Suhu &gt; -15C / Listrik Padam)]: WCS picu REEFER_BREACH_ALERT, sirine bunyi, Automatic Transfer Switch menyalakan Genset cadangan 1.250 kVA, teknisi reefer cek unit. Hindari klaim kargo $100.000+.</a:t>
            </a:r>
          </a:p>
        </p:txBody>
      </p:sp>
      <p:sp>
        <p:nvSpPr>
          <p:cNvPr id="7" name="Rounded Rectangle 6"/>
          <p:cNvSpPr/>
          <p:nvPr/>
        </p:nvSpPr>
        <p:spPr>
          <a:xfrm>
            <a:off x="6217920" y="1508760"/>
            <a:ext cx="5212080" cy="292608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2651760"/>
          </a:xfrm>
          <a:prstGeom prst="rect">
            <a:avLst/>
          </a:prstGeom>
          <a:noFill/>
        </p:spPr>
        <p:txBody>
          <a:bodyPr wrap="square">
            <a:spAutoFit/>
          </a:bodyPr>
          <a:lstStyle/>
          <a:p>
            <a:pPr>
              <a:spcBef>
                <a:spcPts val="0"/>
              </a:spcBef>
              <a:defRPr sz="900" b="1">
                <a:solidFill>
                  <a:srgbClr val="10B981"/>
                </a:solidFill>
              </a:defRPr>
            </a:pPr>
            <a:r>
              <a:t>FLOW 4: GUDANG CFS INBOUND STRIPPING LCL</a:t>
            </a:r>
          </a:p>
          <a:p>
            <a:pPr>
              <a:spcBef>
                <a:spcPts val="100"/>
              </a:spcBef>
              <a:defRPr sz="1200" b="1">
                <a:solidFill>
                  <a:srgbClr val="002F5E"/>
                </a:solidFill>
              </a:defRPr>
            </a:pPr>
            <a:r>
              <a:t>Decision Barcode GS1 SSCC-18 &amp; ASN Matching</a:t>
            </a:r>
          </a:p>
          <a:p>
            <a:pPr>
              <a:spcBef>
                <a:spcPts val="300"/>
              </a:spcBef>
              <a:defRPr sz="819">
                <a:solidFill>
                  <a:srgbClr val="1E293B"/>
                </a:solidFill>
              </a:defRPr>
            </a:pPr>
            <a:r>
              <a:t>• Decision Point: Barcode GS1 SSCC-18 Valid &amp; Kuantitas ASN Sesuai?</a:t>
            </a:r>
            <a:br/>
            <a:r>
              <a:t>  - [JIKA YA]: Blind count tally lolos, Forklift bawa palet ke rak bin terarah (Directed Putaway), status PALLET_QC_PASSED.</a:t>
            </a:r>
            <a:br/>
            <a:r>
              <a:t>  - [JIKA TIDAK (Cacat / Selisih)]: Barcode rusak -&gt; Cetak ulang label GS1 baru via printer barcode; Kargo selisih/cacat -&gt; Status diubah menjadi BLOCKED (Karantina QC) agar tidak keluar gudang sebelum diinvestigasi.</a:t>
            </a:r>
          </a:p>
        </p:txBody>
      </p:sp>
      <p:sp>
        <p:nvSpPr>
          <p:cNvPr id="9" name="Rounded Rectangle 8"/>
          <p:cNvSpPr/>
          <p:nvPr/>
        </p:nvSpPr>
        <p:spPr>
          <a:xfrm>
            <a:off x="731520" y="4553712"/>
            <a:ext cx="10698480" cy="1143000"/>
          </a:xfrm>
          <a:prstGeom prst="roundRect">
            <a:avLst/>
          </a:prstGeom>
          <a:solidFill>
            <a:srgbClr val="FFFF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960120"/>
          </a:xfrm>
          <a:prstGeom prst="rect">
            <a:avLst/>
          </a:prstGeom>
          <a:noFill/>
        </p:spPr>
        <p:txBody>
          <a:bodyPr wrap="square">
            <a:spAutoFit/>
          </a:bodyPr>
          <a:lstStyle/>
          <a:p>
            <a:pPr>
              <a:defRPr sz="900" b="1">
                <a:solidFill>
                  <a:srgbClr val="002F5E"/>
                </a:solidFill>
              </a:defRPr>
            </a:pPr>
            <a:r>
              <a:t>MENGGUNAKAN APA (ASET LISTRIK, SENSOR IOT, PDA SCANNER &amp; WMS MODUL):</a:t>
            </a:r>
          </a:p>
          <a:p>
            <a:pPr>
              <a:spcBef>
                <a:spcPts val="200"/>
              </a:spcBef>
              <a:defRPr sz="800">
                <a:solidFill>
                  <a:srgbClr val="1E293B"/>
                </a:solidFill>
              </a:defRPr>
            </a:pPr>
            <a:r>
              <a:t>• Fasilitas Reefer: 300 Soket CEE Mennekes 380V/32A IP67, Trafo PLN 1.250 kVA, Genset Cummins 1.250 kVA + Sensor IoT LoRaWAN Dragino LHT65N.</a:t>
            </a:r>
            <a:br/>
            <a:r>
              <a:t>• Fasilitas CFS: 5 Dock Leveler Hidrolik Rite-Hite (D1-D5), Handheld PDA Zebra TC26 Android (2D Imager), Printer Barcode Zebra ZT411.</a:t>
            </a:r>
            <a:br/>
            <a:r>
              <a:t>• Armada Angkut CFS: Forklift Elektrik 3 Ton Linde E30.</a:t>
            </a:r>
            <a:br/>
            <a:r>
              <a:t>• Perangkat Lunak: Modul WMS Cold Chain Monitoring, WMS Inbound Stripping &amp; Directed Putaway Engine.</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'pages/reefer.php' (Monitoring Suhu 300 Plugs) &amp; 'pages/cfs.php' (Scan Barcode GS1 SSCC-18)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Flow 5 &amp; 6: Kepatuhan Bea Cukai CEISA 4.0 &amp; Kereta Api Rel Siding 600m (ERP + TMS)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pages/customs.php &amp; pages/yard.php</a:t>
            </a:r>
          </a:p>
          <a:p>
            <a:pPr>
              <a:spcBef>
                <a:spcPts val="100"/>
              </a:spcBef>
              <a:defRPr sz="700" i="1">
                <a:solidFill>
                  <a:srgbClr val="64748B"/>
                </a:solidFill>
              </a:defRPr>
            </a:pPr>
            <a:r>
              <a:t>http://localhost/.../pages/customs.php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7 of 12</a:t>
            </a:r>
          </a:p>
        </p:txBody>
      </p:sp>
      <p:sp>
        <p:nvSpPr>
          <p:cNvPr id="5" name="Rounded Rectangle 4"/>
          <p:cNvSpPr/>
          <p:nvPr/>
        </p:nvSpPr>
        <p:spPr>
          <a:xfrm>
            <a:off x="731520" y="150876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2651760"/>
          </a:xfrm>
          <a:prstGeom prst="rect">
            <a:avLst/>
          </a:prstGeom>
          <a:noFill/>
        </p:spPr>
        <p:txBody>
          <a:bodyPr wrap="square">
            <a:spAutoFit/>
          </a:bodyPr>
          <a:lstStyle/>
          <a:p>
            <a:pPr>
              <a:defRPr sz="900" b="1">
                <a:solidFill>
                  <a:srgbClr val="0170B9"/>
                </a:solidFill>
              </a:defRPr>
            </a:pPr>
            <a:r>
              <a:t>FLOW 5: KEPATUHAN PABEAN CEISA 4.0 DJBC (PMK 190/2022)</a:t>
            </a:r>
          </a:p>
          <a:p>
            <a:pPr>
              <a:spcBef>
                <a:spcPts val="100"/>
              </a:spcBef>
              <a:defRPr sz="1200" b="1">
                <a:solidFill>
                  <a:srgbClr val="002F5E"/>
                </a:solidFill>
              </a:defRPr>
            </a:pPr>
            <a:r>
              <a:t>Decision Profil Risiko: Jalur Hijau vs Jalur Merah</a:t>
            </a:r>
          </a:p>
          <a:p>
            <a:pPr>
              <a:spcBef>
                <a:spcPts val="300"/>
              </a:spcBef>
              <a:defRPr sz="819">
                <a:solidFill>
                  <a:srgbClr val="1E293B"/>
                </a:solidFill>
              </a:defRPr>
            </a:pPr>
            <a:r>
              <a:t>• Decision Point: Profil Risiko Manifes Hijau atau Merah?</a:t>
            </a:r>
            <a:br/>
            <a:r>
              <a:t>  - [JIKA HIJAU (94,2%)]: Webhook CEISA terbitkan SPPB digital &lt;5 menit -&gt; Status SPPB_CLEARED, kontainer langsung siap rilis.</a:t>
            </a:r>
            <a:br/>
            <a:r>
              <a:t>  - [JIKA MERAH (5,8%)]: Status dikunci CUSTOMS_HOLD -&gt; Reach Stacker otomatis bawa boks ke Hanggar Behandle Bea Cukai untuk dipindai Portal Gantry X-Ray 6 MeV. Dilarang Gate-Out sebelum inspektur pabean setujui SPPB manual.</a:t>
            </a:r>
          </a:p>
        </p:txBody>
      </p:sp>
      <p:sp>
        <p:nvSpPr>
          <p:cNvPr id="7" name="Rounded Rectangle 6"/>
          <p:cNvSpPr/>
          <p:nvPr/>
        </p:nvSpPr>
        <p:spPr>
          <a:xfrm>
            <a:off x="6217920" y="1508760"/>
            <a:ext cx="5212080" cy="2926080"/>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2651760"/>
          </a:xfrm>
          <a:prstGeom prst="rect">
            <a:avLst/>
          </a:prstGeom>
          <a:noFill/>
        </p:spPr>
        <p:txBody>
          <a:bodyPr wrap="square">
            <a:spAutoFit/>
          </a:bodyPr>
          <a:lstStyle/>
          <a:p>
            <a:pPr>
              <a:defRPr sz="900" b="1">
                <a:solidFill>
                  <a:srgbClr val="0170B9"/>
                </a:solidFill>
              </a:defRPr>
            </a:pPr>
            <a:r>
              <a:t>FLOW 6: INTERMODAL KERETA API REL SIDING 600M</a:t>
            </a:r>
          </a:p>
          <a:p>
            <a:pPr>
              <a:spcBef>
                <a:spcPts val="100"/>
              </a:spcBef>
              <a:defRPr sz="1200" b="1">
                <a:solidFill>
                  <a:srgbClr val="002F5E"/>
                </a:solidFill>
              </a:defRPr>
            </a:pPr>
            <a:r>
              <a:t>Decision Integritas Segel Smart GPS E-Seal KA</a:t>
            </a:r>
          </a:p>
          <a:p>
            <a:pPr>
              <a:spcBef>
                <a:spcPts val="300"/>
              </a:spcBef>
              <a:defRPr sz="819">
                <a:solidFill>
                  <a:srgbClr val="1E293B"/>
                </a:solidFill>
              </a:defRPr>
            </a:pPr>
            <a:r>
              <a:t>• Decision Point: Beban Gandar &lt;= 18t &amp; Smart E-Seal Utuh?</a:t>
            </a:r>
            <a:br/>
            <a:r>
              <a:t>  - [JIKA YA]: RS muat 30 Gerbong Datar (60 TEU), berangkat tepat waktu 90 mnt ke Tanjung Priok, status TRAIN_DISPATCHED_ON_TIME.</a:t>
            </a:r>
            <a:br/>
            <a:r>
              <a:t>  - [JIKA TIDAK (Kawat Segel Putus / Tamper)]: Satelit GPS kirim peringatan darurat PABEAN_TAMPER_ALERT ke CIDP, boks langsung diisolasi saat tiba, Polsuska &amp; Bea Cukai lakukan penyegelan ulang.</a:t>
            </a:r>
          </a:p>
        </p:txBody>
      </p:sp>
      <p:sp>
        <p:nvSpPr>
          <p:cNvPr id="9" name="Rounded Rectangle 8"/>
          <p:cNvSpPr/>
          <p:nvPr/>
        </p:nvSpPr>
        <p:spPr>
          <a:xfrm>
            <a:off x="731520" y="4553712"/>
            <a:ext cx="10698480" cy="1143000"/>
          </a:xfrm>
          <a:prstGeom prst="roundRect">
            <a:avLst/>
          </a:prstGeom>
          <a:solidFill>
            <a:srgbClr val="FFFF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960120"/>
          </a:xfrm>
          <a:prstGeom prst="rect">
            <a:avLst/>
          </a:prstGeom>
          <a:noFill/>
        </p:spPr>
        <p:txBody>
          <a:bodyPr wrap="square">
            <a:spAutoFit/>
          </a:bodyPr>
          <a:lstStyle/>
          <a:p>
            <a:pPr>
              <a:defRPr sz="900" b="1">
                <a:solidFill>
                  <a:srgbClr val="002F5E"/>
                </a:solidFill>
              </a:defRPr>
            </a:pPr>
            <a:r>
              <a:t>MENGGUNAKAN APA (PORTAL X-RAY, INFRASTRUKTUR REL, E-SEAL &amp; TMS MODUL):</a:t>
            </a:r>
          </a:p>
          <a:p>
            <a:pPr>
              <a:spcBef>
                <a:spcPts val="200"/>
              </a:spcBef>
              <a:defRPr sz="800">
                <a:solidFill>
                  <a:srgbClr val="1E293B"/>
                </a:solidFill>
              </a:defRPr>
            </a:pPr>
            <a:r>
              <a:t>• Mesin Pemindai Pabean: Nuctech FG9056 Portal Gantry X-Ray 6 MeV (Daya tembus 300 mm baja) + Hanggar Behandle Tertutup 1.500 m².</a:t>
            </a:r>
            <a:br/>
            <a:r>
              <a:t>• Kereta Api: 2 Sepur Simpan Rel R54 600m, Lokomotif CC206 KAI, 30 Gerbong Datar PPCW (Kapasitas 60 TEU).</a:t>
            </a:r>
            <a:br/>
            <a:r>
              <a:t>• Perangkat Keamanan: Smart GPS E-Seal Satelit LoRa/GSM dengan sensor pemutus kawat kargo.</a:t>
            </a:r>
            <a:br/>
            <a:r>
              <a:t>• Perangkat Lunak: Modul TMS Rail Freight Dispatcher, 3D Train Load Planner &amp; Webhook REST API Gateway CEISA 4.0 DJBC.</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'pages/customs.php' (Webhook SPPB) &amp; 'dashboard.php' (Simulasi Rangkaian Rel Kereta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Flow 7: Model Pendapatan &amp; Penguncian Gate-Out Zero Revenue Leakage (ERP + YMS)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pages/billing.php</a:t>
            </a:r>
          </a:p>
          <a:p>
            <a:pPr>
              <a:spcBef>
                <a:spcPts val="100"/>
              </a:spcBef>
              <a:defRPr sz="700" i="1">
                <a:solidFill>
                  <a:srgbClr val="64748B"/>
                </a:solidFill>
              </a:defRPr>
            </a:pPr>
            <a:r>
              <a:t>http://localhost/.../pages/billing.php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8 of 12</a:t>
            </a:r>
          </a:p>
        </p:txBody>
      </p:sp>
      <p:sp>
        <p:nvSpPr>
          <p:cNvPr id="5" name="Rounded Rectangle 4"/>
          <p:cNvSpPr/>
          <p:nvPr/>
        </p:nvSpPr>
        <p:spPr>
          <a:xfrm>
            <a:off x="731520" y="150876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2651760"/>
          </a:xfrm>
          <a:prstGeom prst="rect">
            <a:avLst/>
          </a:prstGeom>
          <a:noFill/>
        </p:spPr>
        <p:txBody>
          <a:bodyPr wrap="square">
            <a:spAutoFit/>
          </a:bodyPr>
          <a:lstStyle/>
          <a:p>
            <a:pPr>
              <a:defRPr sz="900" b="1">
                <a:solidFill>
                  <a:srgbClr val="0170B9"/>
                </a:solidFill>
              </a:defRPr>
            </a:pPr>
            <a:r>
              <a:t>7 ALIRAN PENDAPATAN KOMERSIAL (GROSS REVENUE)</a:t>
            </a:r>
          </a:p>
          <a:p>
            <a:pPr>
              <a:spcBef>
                <a:spcPts val="100"/>
              </a:spcBef>
              <a:defRPr sz="1200" b="1">
                <a:solidFill>
                  <a:srgbClr val="002F5E"/>
                </a:solidFill>
              </a:defRPr>
            </a:pPr>
            <a:r>
              <a:t>Target Throughput 150.000 TEU: Rp 76.025.000.000 / Tahun</a:t>
            </a:r>
          </a:p>
          <a:p>
            <a:pPr>
              <a:spcBef>
                <a:spcPts val="300"/>
              </a:spcBef>
              <a:defRPr sz="819">
                <a:solidFill>
                  <a:srgbClr val="1E293B"/>
                </a:solidFill>
              </a:defRPr>
            </a:pPr>
            <a:r>
              <a:t>1. Lift-On / Lift-Off (Lo-Lo): Rp 33,75 M (44,4% - 150rb gerakan boks)</a:t>
            </a:r>
            <a:br/>
            <a:r>
              <a:t>2. Penumpukan Progresif: Rp 10,80 M (14,2% - Denda Inap Hari 4+)</a:t>
            </a:r>
            <a:br/>
            <a:r>
              <a:t>   - Masa I (1-3 hari) = Rp 0 | Masa II = Rp 45rb | Masa III = Rp 90rb/hari</a:t>
            </a:r>
            <a:br/>
            <a:r>
              <a:t>3. Bagi Hasil Kereta Api Logistik: Rp 9,00 M (11,8% - 6.000 GD)</a:t>
            </a:r>
            <a:br/>
            <a:r>
              <a:t>4. Gudang CFS Stuffing/Stripping: Rp 8,10 M (10,7%)</a:t>
            </a:r>
            <a:br/>
            <a:r>
              <a:t>5. Steker Pendingin Reefer Yard: Rp 6,25 M (8,2%)</a:t>
            </a:r>
            <a:br/>
            <a:r>
              <a:t>6. Jembatan Timbang VGM SOLAS: Rp 5,50 M (7,2%)</a:t>
            </a:r>
            <a:br/>
            <a:r>
              <a:t>7. Behandle Karantina Bea Cukai: Rp 2,62 M (3,5%)</a:t>
            </a:r>
          </a:p>
        </p:txBody>
      </p:sp>
      <p:sp>
        <p:nvSpPr>
          <p:cNvPr id="7" name="Rounded Rectangle 6"/>
          <p:cNvSpPr/>
          <p:nvPr/>
        </p:nvSpPr>
        <p:spPr>
          <a:xfrm>
            <a:off x="6217920" y="1508760"/>
            <a:ext cx="5212080" cy="292608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2651760"/>
          </a:xfrm>
          <a:prstGeom prst="rect">
            <a:avLst/>
          </a:prstGeom>
          <a:noFill/>
        </p:spPr>
        <p:txBody>
          <a:bodyPr wrap="square">
            <a:spAutoFit/>
          </a:bodyPr>
          <a:lstStyle/>
          <a:p>
            <a:pPr>
              <a:spcBef>
                <a:spcPts val="0"/>
              </a:spcBef>
              <a:defRPr sz="900" b="1">
                <a:solidFill>
                  <a:srgbClr val="10B981"/>
                </a:solidFill>
              </a:defRPr>
            </a:pPr>
            <a:r>
              <a:t>DECISION INTERLOCK GATE-OUT: ZERO REVENUE LEAKAGE</a:t>
            </a:r>
          </a:p>
          <a:p>
            <a:pPr>
              <a:spcBef>
                <a:spcPts val="100"/>
              </a:spcBef>
              <a:defRPr sz="1200" b="1">
                <a:solidFill>
                  <a:srgbClr val="002F5E"/>
                </a:solidFill>
              </a:defRPr>
            </a:pPr>
            <a:r>
              <a:t>Penguncian Palang Gerbang Keluar Otomatis</a:t>
            </a:r>
          </a:p>
          <a:p>
            <a:pPr>
              <a:spcBef>
                <a:spcPts val="300"/>
              </a:spcBef>
              <a:defRPr sz="819">
                <a:solidFill>
                  <a:srgbClr val="1E293B"/>
                </a:solidFill>
              </a:defRPr>
            </a:pPr>
            <a:r>
              <a:t>• Decision Point: Faktur ERP Odoo LUNAS (PAID) &amp; Dokumen SPPB Cleared?</a:t>
            </a:r>
            <a:br/>
            <a:r>
              <a:t>  - [JIKA YA]: Palang barrier terbuka, kamera ANPR ambil foto e-Exit Pass, status GATE_OUT_COMPLETED, Zero Revenue Leakage terwujud!</a:t>
            </a:r>
            <a:br/>
            <a:r>
              <a:t>  - [JIKA TIDAK]: Palang TETAP TERKUNCI PERMANEN, Layar VMS tampilkan 'TAGIHAN BELUM LUNAS / TAHAN BEA CUKAI', truk diarahkan ke Holding Lane agar tidak menghambat lalu lintas.</a:t>
            </a:r>
          </a:p>
        </p:txBody>
      </p:sp>
      <p:sp>
        <p:nvSpPr>
          <p:cNvPr id="9" name="Rounded Rectangle 8"/>
          <p:cNvSpPr/>
          <p:nvPr/>
        </p:nvSpPr>
        <p:spPr>
          <a:xfrm>
            <a:off x="731520" y="4553712"/>
            <a:ext cx="10698480" cy="1143000"/>
          </a:xfrm>
          <a:prstGeom prst="roundRect">
            <a:avLst/>
          </a:prstGeom>
          <a:solidFill>
            <a:srgbClr val="FFFF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45152"/>
            <a:ext cx="10332720" cy="960120"/>
          </a:xfrm>
          <a:prstGeom prst="rect">
            <a:avLst/>
          </a:prstGeom>
          <a:noFill/>
        </p:spPr>
        <p:txBody>
          <a:bodyPr wrap="square">
            <a:spAutoFit/>
          </a:bodyPr>
          <a:lstStyle/>
          <a:p>
            <a:pPr>
              <a:defRPr sz="900" b="1">
                <a:solidFill>
                  <a:srgbClr val="002F5E"/>
                </a:solidFill>
              </a:defRPr>
            </a:pPr>
            <a:r>
              <a:t>MENGGUNAKAN APA (PALANG GATE-OUT, SISTEM BILLING &amp; KASIR ODOO):</a:t>
            </a:r>
          </a:p>
          <a:p>
            <a:pPr>
              <a:spcBef>
                <a:spcPts val="200"/>
              </a:spcBef>
              <a:defRPr sz="800">
                <a:solidFill>
                  <a:srgbClr val="1E293B"/>
                </a:solidFill>
              </a:defRPr>
            </a:pPr>
            <a:r>
              <a:t>• Perangkat Keras Gerbang Keluar: Automatic Magnetic Barrier Gate Outbound + Layar Digital VMS (Variable Message Sign) 3-Warna.</a:t>
            </a:r>
            <a:br/>
            <a:r>
              <a:t>• Vision AI: Kamera ANPR Gate-Out Hikvision + RFID Card Reader.</a:t>
            </a:r>
            <a:br/>
            <a:r>
              <a:t>• Sistem Akuntansi: ERP Odoo Finance v17 Community Edition (Modul Invoicing, Journal Entries, Bank Reconciliation &amp; Payment Gateway).</a:t>
            </a:r>
            <a:br/>
            <a:r>
              <a:t>• Integrasi Middleware: Event-Driven Webhook Tariff Engine yang mengunci palang gerbang secara otomatis.</a:t>
            </a:r>
          </a:p>
        </p:txBody>
      </p:sp>
      <p:sp>
        <p:nvSpPr>
          <p:cNvPr id="11" name="Rounded Rectangle 10"/>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'pages/billing.php' -&gt; Simulasi Auto-Invoice Odoo &amp; Penguncian Palang Gate-Out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Evaluasi Kelayakan Investasi Finansial: PBP, NPV, IRR &amp; ROI</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MODEL_FINANSIAL_CIDP.xlsx</a:t>
            </a:r>
          </a:p>
          <a:p>
            <a:pPr>
              <a:spcBef>
                <a:spcPts val="100"/>
              </a:spcBef>
              <a:defRPr sz="700" i="1">
                <a:solidFill>
                  <a:srgbClr val="64748B"/>
                </a:solidFill>
              </a:defRPr>
            </a:pPr>
            <a:r>
              <a:t>Excel Financial Engine (Sheet Cash Flow 10 Thn)</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9 of 12</a:t>
            </a:r>
          </a:p>
        </p:txBody>
      </p:sp>
      <p:sp>
        <p:nvSpPr>
          <p:cNvPr id="5" name="Rounded Rectangle 4"/>
          <p:cNvSpPr/>
          <p:nvPr/>
        </p:nvSpPr>
        <p:spPr>
          <a:xfrm>
            <a:off x="731520" y="1508760"/>
            <a:ext cx="25146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2240280" cy="3749040"/>
          </a:xfrm>
          <a:prstGeom prst="rect">
            <a:avLst/>
          </a:prstGeom>
          <a:noFill/>
        </p:spPr>
        <p:txBody>
          <a:bodyPr wrap="square">
            <a:spAutoFit/>
          </a:bodyPr>
          <a:lstStyle/>
          <a:p>
            <a:pPr>
              <a:defRPr sz="950" b="1">
                <a:solidFill>
                  <a:srgbClr val="0170B9"/>
                </a:solidFill>
              </a:defRPr>
            </a:pPr>
            <a:r>
              <a:t>ARUS KAS &amp; EBITDA</a:t>
            </a:r>
          </a:p>
          <a:p>
            <a:pPr>
              <a:spcBef>
                <a:spcPts val="200"/>
              </a:spcBef>
              <a:defRPr sz="1200" b="1">
                <a:solidFill>
                  <a:srgbClr val="002F5E"/>
                </a:solidFill>
              </a:defRPr>
            </a:pPr>
            <a:r>
              <a:t>Laba Bersih &amp; Arus Kas</a:t>
            </a:r>
          </a:p>
          <a:p>
            <a:pPr>
              <a:spcBef>
                <a:spcPts val="600"/>
              </a:spcBef>
              <a:defRPr sz="850">
                <a:solidFill>
                  <a:srgbClr val="1E293B"/>
                </a:solidFill>
              </a:defRPr>
            </a:pPr>
            <a:r>
              <a:t>• Gross Revenue: Rp 76,02 M</a:t>
            </a:r>
            <a:br/>
            <a:r>
              <a:t>• Beban OPEX: Rp 24,79 M</a:t>
            </a:r>
            <a:br/>
            <a:r>
              <a:t>• EBITDA: Rp 51,23 Miliar</a:t>
            </a:r>
            <a:br/>
            <a:r>
              <a:t>  (Margin EBITDA: 67,4%)</a:t>
            </a:r>
            <a:br/>
            <a:br/>
            <a:r>
              <a:t>• Depresiasi (20 Thn): Rp 12,50 M</a:t>
            </a:r>
            <a:br/>
            <a:r>
              <a:t>• PPh Badan 22%: Rp 8,52 M</a:t>
            </a:r>
            <a:br/>
            <a:r>
              <a:t>• Laba Bersih EAT: Rp 30,21 M/thn</a:t>
            </a:r>
            <a:br/>
            <a:r>
              <a:t>• Net Cash Flow: Rp 42,71 M/thn</a:t>
            </a:r>
          </a:p>
        </p:txBody>
      </p:sp>
      <p:sp>
        <p:nvSpPr>
          <p:cNvPr id="7" name="Rounded Rectangle 6"/>
          <p:cNvSpPr/>
          <p:nvPr/>
        </p:nvSpPr>
        <p:spPr>
          <a:xfrm>
            <a:off x="3456432" y="1508760"/>
            <a:ext cx="2514600" cy="411480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91640"/>
            <a:ext cx="2240280" cy="3749040"/>
          </a:xfrm>
          <a:prstGeom prst="rect">
            <a:avLst/>
          </a:prstGeom>
          <a:noFill/>
        </p:spPr>
        <p:txBody>
          <a:bodyPr wrap="square">
            <a:spAutoFit/>
          </a:bodyPr>
          <a:lstStyle/>
          <a:p>
            <a:pPr>
              <a:defRPr sz="950" b="1">
                <a:solidFill>
                  <a:srgbClr val="10B981"/>
                </a:solidFill>
              </a:defRPr>
            </a:pPr>
            <a:r>
              <a:t>PAYBACK PERIOD (PBP)</a:t>
            </a:r>
          </a:p>
          <a:p>
            <a:pPr>
              <a:spcBef>
                <a:spcPts val="200"/>
              </a:spcBef>
              <a:defRPr sz="1200" b="1">
                <a:solidFill>
                  <a:srgbClr val="002F5E"/>
                </a:solidFill>
              </a:defRPr>
            </a:pPr>
            <a:r>
              <a:t>5.84 Tahun (~5 Thn 10 Bln)</a:t>
            </a:r>
          </a:p>
          <a:p>
            <a:pPr>
              <a:spcBef>
                <a:spcPts val="600"/>
              </a:spcBef>
              <a:defRPr sz="850">
                <a:solidFill>
                  <a:srgbClr val="1E293B"/>
                </a:solidFill>
              </a:defRPr>
            </a:pPr>
            <a:r>
              <a:t>Formula:</a:t>
            </a:r>
            <a:br/>
            <a:r>
              <a:t>PBP = CAPEX / Net Cash Flow</a:t>
            </a:r>
            <a:br/>
            <a:r>
              <a:t>PBP = Rp 249,5 M / Rp 42,71 M</a:t>
            </a:r>
            <a:br/>
            <a:r>
              <a:t>    = 5,84 Tahun</a:t>
            </a:r>
            <a:br/>
            <a:br/>
            <a:r>
              <a:t>Interpretasi Bisnis:</a:t>
            </a:r>
            <a:br/>
            <a:r>
              <a:t>Modal Rp 250 Miliar kembali lunas dalam waktu kurang dari 6 tahun.</a:t>
            </a:r>
            <a:br/>
            <a:br/>
            <a:r>
              <a:t>Batas Aman Pelabuhan:</a:t>
            </a:r>
            <a:br/>
            <a:r>
              <a:t>Standar industri pelabuhan 8 - 10 tahun. CIDP 2 tahun lebih cepat!</a:t>
            </a:r>
          </a:p>
        </p:txBody>
      </p:sp>
      <p:sp>
        <p:nvSpPr>
          <p:cNvPr id="9" name="Rounded Rectangle 8"/>
          <p:cNvSpPr/>
          <p:nvPr/>
        </p:nvSpPr>
        <p:spPr>
          <a:xfrm>
            <a:off x="6181344" y="1508760"/>
            <a:ext cx="2514600" cy="4114800"/>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691640"/>
            <a:ext cx="2240280" cy="3749040"/>
          </a:xfrm>
          <a:prstGeom prst="rect">
            <a:avLst/>
          </a:prstGeom>
          <a:noFill/>
        </p:spPr>
        <p:txBody>
          <a:bodyPr wrap="square">
            <a:spAutoFit/>
          </a:bodyPr>
          <a:lstStyle/>
          <a:p>
            <a:pPr>
              <a:defRPr sz="950" b="1">
                <a:solidFill>
                  <a:srgbClr val="0170B9"/>
                </a:solidFill>
              </a:defRPr>
            </a:pPr>
            <a:r>
              <a:t>NET PRESENT VALUE (NPV)</a:t>
            </a:r>
          </a:p>
          <a:p>
            <a:pPr>
              <a:spcBef>
                <a:spcPts val="200"/>
              </a:spcBef>
              <a:defRPr sz="1200" b="1">
                <a:solidFill>
                  <a:srgbClr val="002F5E"/>
                </a:solidFill>
              </a:defRPr>
            </a:pPr>
            <a:r>
              <a:t>+Rp 22.913.000.000</a:t>
            </a:r>
          </a:p>
          <a:p>
            <a:pPr>
              <a:spcBef>
                <a:spcPts val="600"/>
              </a:spcBef>
              <a:defRPr sz="850">
                <a:solidFill>
                  <a:srgbClr val="1E293B"/>
                </a:solidFill>
              </a:defRPr>
            </a:pPr>
            <a:r>
              <a:t>Parameter Analisis:</a:t>
            </a:r>
            <a:br/>
            <a:r>
              <a:t>• Horizon: 10 Tahun | WACC: 10%</a:t>
            </a:r>
            <a:br/>
            <a:r>
              <a:t>• Arus Kas Kumulatif: Rp 262,45 M</a:t>
            </a:r>
            <a:br/>
            <a:r>
              <a:t>• Nilai Investasi: Rp 249,50 M</a:t>
            </a:r>
            <a:br/>
            <a:br/>
            <a:r>
              <a:t>NPV = +Rp 22,91 Miliar (&gt; 0)</a:t>
            </a:r>
            <a:br/>
            <a:br/>
            <a:r>
              <a:t>Interpretasi Bisnis:</a:t>
            </a:r>
            <a:br/>
            <a:r>
              <a:t>Nilai NPV Positif membuktikan secara absolut bahwa proyek dry port FEASIBLE (Sangat Layak) dan memberi nilai tambah bersih.</a:t>
            </a:r>
          </a:p>
        </p:txBody>
      </p:sp>
      <p:sp>
        <p:nvSpPr>
          <p:cNvPr id="11" name="Rounded Rectangle 10"/>
          <p:cNvSpPr/>
          <p:nvPr/>
        </p:nvSpPr>
        <p:spPr>
          <a:xfrm>
            <a:off x="8906256" y="1508760"/>
            <a:ext cx="25146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691640"/>
            <a:ext cx="2240280" cy="3749040"/>
          </a:xfrm>
          <a:prstGeom prst="rect">
            <a:avLst/>
          </a:prstGeom>
          <a:noFill/>
        </p:spPr>
        <p:txBody>
          <a:bodyPr wrap="square">
            <a:spAutoFit/>
          </a:bodyPr>
          <a:lstStyle/>
          <a:p>
            <a:pPr>
              <a:defRPr sz="950" b="1">
                <a:solidFill>
                  <a:srgbClr val="6366F1"/>
                </a:solidFill>
              </a:defRPr>
            </a:pPr>
            <a:r>
              <a:t>IRR &amp; RETURN ON INVESTMENT</a:t>
            </a:r>
          </a:p>
          <a:p>
            <a:pPr>
              <a:spcBef>
                <a:spcPts val="200"/>
              </a:spcBef>
              <a:defRPr sz="1200" b="1">
                <a:solidFill>
                  <a:srgbClr val="002F5E"/>
                </a:solidFill>
              </a:defRPr>
            </a:pPr>
            <a:r>
              <a:t>IRR: 11.90% | ROI: 140.6%</a:t>
            </a:r>
          </a:p>
          <a:p>
            <a:pPr>
              <a:spcBef>
                <a:spcPts val="600"/>
              </a:spcBef>
              <a:defRPr sz="850">
                <a:solidFill>
                  <a:srgbClr val="1E293B"/>
                </a:solidFill>
              </a:defRPr>
            </a:pPr>
            <a:r>
              <a:t>• Internal Rate of Return (IRR):</a:t>
            </a:r>
            <a:br/>
            <a:r>
              <a:t>  IRR 11,90% melampaui Hurdle Rate suku bunga kredit komersial bank (8,50%). Sangat bankable!</a:t>
            </a:r>
            <a:br/>
            <a:br/>
            <a:r>
              <a:t>• Return on Investment (10 Thn):</a:t>
            </a:r>
            <a:br/>
            <a:r>
              <a:t>  Total laba bersih 10 tahun (Rp 350,9 M) / CAPEX (Rp 249,5 M) = 140,6%.</a:t>
            </a:r>
            <a:br/>
            <a:br/>
            <a:r>
              <a:t>• Kesimpulan Investor:</a:t>
            </a:r>
            <a:br/>
            <a:r>
              <a:t>  Kombinasi PBP &lt;6 tahun dan IRR &gt;11% sangat aman bagi perbankan.</a:t>
            </a:r>
          </a:p>
        </p:txBody>
      </p:sp>
      <p:sp>
        <p:nvSpPr>
          <p:cNvPr id="13" name="Rounded Rectangle 12"/>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[MODEL FINANSIAL EXCEL]: Buka Sheet 'Cash Flow 10 Thn' di MODEL_FINANSIAL_DAN_BLUEPRINT_CIDP.xlsx -&gt; Formula NPV &amp; IRR Asli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Dashboard Intelligence: Executive Command Center (C-Level DSS)</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dashboard.php?page=beranda</a:t>
            </a:r>
          </a:p>
          <a:p>
            <a:pPr>
              <a:spcBef>
                <a:spcPts val="100"/>
              </a:spcBef>
              <a:defRPr sz="700" i="1">
                <a:solidFill>
                  <a:srgbClr val="64748B"/>
                </a:solidFill>
              </a:defRPr>
            </a:pPr>
            <a:r>
              <a:t>http://localhost/.../dashboard.php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10 of 12</a:t>
            </a:r>
          </a:p>
        </p:txBody>
      </p:sp>
      <p:sp>
        <p:nvSpPr>
          <p:cNvPr id="5" name="Rounded Rectangle 4"/>
          <p:cNvSpPr/>
          <p:nvPr/>
        </p:nvSpPr>
        <p:spPr>
          <a:xfrm>
            <a:off x="731520" y="150876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46320" cy="2560320"/>
          </a:xfrm>
          <a:prstGeom prst="rect">
            <a:avLst/>
          </a:prstGeom>
          <a:noFill/>
        </p:spPr>
        <p:txBody>
          <a:bodyPr wrap="square">
            <a:spAutoFit/>
          </a:bodyPr>
          <a:lstStyle/>
          <a:p>
            <a:pPr>
              <a:defRPr sz="950" b="1">
                <a:solidFill>
                  <a:srgbClr val="0170B9"/>
                </a:solidFill>
              </a:defRPr>
            </a:pPr>
            <a:r>
              <a:t>4 METRIK KEPUTUSAN DIREKSI (C-LEVEL DSS)</a:t>
            </a:r>
          </a:p>
          <a:p>
            <a:pPr>
              <a:spcBef>
                <a:spcPts val="200"/>
              </a:spcBef>
              <a:defRPr sz="1300" b="1">
                <a:solidFill>
                  <a:srgbClr val="002F5E"/>
                </a:solidFill>
              </a:defRPr>
            </a:pPr>
            <a:r>
              <a:t>Visibilitas Waktu-Nyata Kinerja Terminal</a:t>
            </a:r>
          </a:p>
          <a:p>
            <a:pPr>
              <a:spcBef>
                <a:spcPts val="600"/>
              </a:spcBef>
              <a:defRPr sz="850">
                <a:solidFill>
                  <a:srgbClr val="1E293B"/>
                </a:solidFill>
              </a:defRPr>
            </a:pPr>
            <a:r>
              <a:t>1. Yard Occupancy Rate (YOR) — 68,4%:</a:t>
            </a:r>
            <a:br/>
            <a:r>
              <a:t>   Ambang batas aman (&lt;80%). Mencegah kemacetan penumpukan dan denda port congestion surcharge ($50/TEU).</a:t>
            </a:r>
            <a:br/>
            <a:br/>
            <a:r>
              <a:t>2. Throughput Harian — 482 TEU:</a:t>
            </a:r>
            <a:br/>
            <a:r>
              <a:t>   Mencapai 96,4% dari target harian (500 TEU). Mengukur kecepatan intermodal gate truk dan rail siding KA.</a:t>
            </a:r>
            <a:br/>
            <a:br/>
            <a:r>
              <a:t>3. Average Dwell Time — 2,3 Hari:</a:t>
            </a:r>
            <a:br/>
            <a:r>
              <a:t>   Sangat produktif dibanding rata-rata nasional pelabuhan laut (4 - 5 hari), mempercepat perputaran kargo.</a:t>
            </a:r>
            <a:br/>
            <a:br/>
            <a:r>
              <a:t>4. Gross Daily Revenue — Rp 184,5 Juta:</a:t>
            </a:r>
            <a:br/>
            <a:r>
              <a:t>   Arus kas harian tertagih real-time dengan Collection Rate 98,2%.</a:t>
            </a:r>
          </a:p>
        </p:txBody>
      </p:sp>
      <p:sp>
        <p:nvSpPr>
          <p:cNvPr id="7" name="Rounded Rectangle 6"/>
          <p:cNvSpPr/>
          <p:nvPr/>
        </p:nvSpPr>
        <p:spPr>
          <a:xfrm>
            <a:off x="6217920" y="1508760"/>
            <a:ext cx="5212080" cy="292608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2560320"/>
          </a:xfrm>
          <a:prstGeom prst="rect">
            <a:avLst/>
          </a:prstGeom>
          <a:noFill/>
        </p:spPr>
        <p:txBody>
          <a:bodyPr wrap="square">
            <a:spAutoFit/>
          </a:bodyPr>
          <a:lstStyle/>
          <a:p>
            <a:pPr>
              <a:defRPr sz="950" b="1">
                <a:solidFill>
                  <a:srgbClr val="10B981"/>
                </a:solidFill>
              </a:defRPr>
            </a:pPr>
            <a:r>
              <a:t>BUSINESS INTELLIGENCE &amp; ANALITIK DATA</a:t>
            </a:r>
          </a:p>
          <a:p>
            <a:pPr>
              <a:spcBef>
                <a:spcPts val="200"/>
              </a:spcBef>
              <a:defRPr sz="1300" b="1">
                <a:solidFill>
                  <a:srgbClr val="002F5E"/>
                </a:solidFill>
              </a:defRPr>
            </a:pPr>
            <a:r>
              <a:t>Visualisasi Chart.js &amp; Heatmap Dwell Time</a:t>
            </a:r>
          </a:p>
          <a:p>
            <a:pPr>
              <a:spcBef>
                <a:spcPts val="600"/>
              </a:spcBef>
              <a:defRPr sz="850">
                <a:solidFill>
                  <a:srgbClr val="1E293B"/>
                </a:solidFill>
              </a:defRPr>
            </a:pPr>
            <a:r>
              <a:t>• Hourly Traffic Flow Chart:</a:t>
            </a:r>
            <a:br/>
            <a:r>
              <a:t>  Grafik fluktuasi arus truk per jam untuk perencanaan penugasan operator gate &amp; Reach Stacker (peak hour 10:00 - 15:00).</a:t>
            </a:r>
            <a:br/>
            <a:br/>
            <a:r>
              <a:t>• Dwell Time Heatmap Blok Yard:</a:t>
            </a:r>
            <a:br/>
            <a:r>
              <a:t>  Peta warna mendeteksi kontainer yang menginap kritis (&gt;7 hari) di Blok A-E untuk pemicu denda Masa III otomatis.</a:t>
            </a:r>
            <a:br/>
            <a:br/>
            <a:r>
              <a:t>• Live Event Stream &amp; Consignment Tracking:</a:t>
            </a:r>
            <a:br/>
            <a:r>
              <a:t>  Memonitor 5 event operasional terakhir (gate-in, timbang, lift-off, rilis SPPB) secara detik-per-detik untuk transparansi audit.</a:t>
            </a:r>
          </a:p>
        </p:txBody>
      </p:sp>
      <p:sp>
        <p:nvSpPr>
          <p:cNvPr id="9" name="Rounded Rectangle 8"/>
          <p:cNvSpPr/>
          <p:nvPr/>
        </p:nvSpPr>
        <p:spPr>
          <a:xfrm>
            <a:off x="731520" y="5779008"/>
            <a:ext cx="10698480" cy="438912"/>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950" b="1">
                <a:solidFill>
                  <a:srgbClr val="B45309"/>
                </a:solidFill>
              </a:defRPr>
            </a:pPr>
            <a:r>
              <a:t>👉  [LIVE DEMO]: Buka Halaman 'Dashboard' (dashboard.php?page=beranda) -&gt; Gauge YOR 68.4%, Chart.js, &amp; Heatmap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Matriks Penanganan Anomali &amp; QA Testing Matrix (PASS 100%)</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pages/simulator.php</a:t>
            </a:r>
          </a:p>
          <a:p>
            <a:pPr>
              <a:spcBef>
                <a:spcPts val="100"/>
              </a:spcBef>
              <a:defRPr sz="700" i="1">
                <a:solidFill>
                  <a:srgbClr val="64748B"/>
                </a:solidFill>
              </a:defRPr>
            </a:pPr>
            <a:r>
              <a:t>http://localhost/.../pages/simulator.php</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11 of 12</a:t>
            </a:r>
          </a:p>
        </p:txBody>
      </p:sp>
      <p:graphicFrame>
        <p:nvGraphicFramePr>
          <p:cNvPr id="5" name="Table 4"/>
          <p:cNvGraphicFramePr>
            <a:graphicFrameLocks noGrp="1"/>
          </p:cNvGraphicFramePr>
          <p:nvPr/>
        </p:nvGraphicFramePr>
        <p:xfrm>
          <a:off x="731520" y="1508760"/>
          <a:ext cx="10698480" cy="3931920"/>
        </p:xfrm>
        <a:graphic>
          <a:graphicData uri="http://schemas.openxmlformats.org/drawingml/2006/table">
            <a:tbl>
              <a:tblPr firstRow="1" bandRow="1">
                <a:tableStyleId>{5C22544A-7EE6-4342-B048-85BDC9FD1C3A}</a:tableStyleId>
              </a:tblPr>
              <a:tblGrid>
                <a:gridCol w="1645920"/>
                <a:gridCol w="2011680"/>
                <a:gridCol w="5486400"/>
                <a:gridCol w="1554480"/>
              </a:tblGrid>
              <a:tr h="491490">
                <a:tc>
                  <a:txBody>
                    <a:bodyPr/>
                    <a:lstStyle/>
                    <a:p>
                      <a:pPr>
                        <a:defRPr sz="900" b="1">
                          <a:solidFill>
                            <a:srgbClr val="FFFFFF"/>
                          </a:solidFill>
                        </a:defRPr>
                      </a:pPr>
                      <a:r>
                        <a:t>Kondisi Uji / Anomali</a:t>
                      </a:r>
                    </a:p>
                  </a:txBody>
                  <a:tcPr>
                    <a:solidFill>
                      <a:srgbClr val="002F5E"/>
                    </a:solidFill>
                  </a:tcPr>
                </a:tc>
                <a:tc>
                  <a:txBody>
                    <a:bodyPr/>
                    <a:lstStyle/>
                    <a:p>
                      <a:pPr>
                        <a:defRPr sz="900" b="1">
                          <a:solidFill>
                            <a:srgbClr val="FFFFFF"/>
                          </a:solidFill>
                        </a:defRPr>
                      </a:pPr>
                      <a:r>
                        <a:t>Decision Logika BA</a:t>
                      </a:r>
                    </a:p>
                  </a:txBody>
                  <a:tcPr>
                    <a:solidFill>
                      <a:srgbClr val="002F5E"/>
                    </a:solidFill>
                  </a:tcPr>
                </a:tc>
                <a:tc>
                  <a:txBody>
                    <a:bodyPr/>
                    <a:lstStyle/>
                    <a:p>
                      <a:pPr>
                        <a:defRPr sz="900" b="1">
                          <a:solidFill>
                            <a:srgbClr val="FFFFFF"/>
                          </a:solidFill>
                        </a:defRPr>
                      </a:pPr>
                      <a:r>
                        <a:t>Perilaku Sistem yang Diharapkan &amp; Penanganan Sistem</a:t>
                      </a:r>
                    </a:p>
                  </a:txBody>
                  <a:tcPr>
                    <a:solidFill>
                      <a:srgbClr val="002F5E"/>
                    </a:solidFill>
                  </a:tcPr>
                </a:tc>
                <a:tc>
                  <a:txBody>
                    <a:bodyPr/>
                    <a:lstStyle/>
                    <a:p>
                      <a:pPr>
                        <a:defRPr sz="900" b="1">
                          <a:solidFill>
                            <a:srgbClr val="FFFFFF"/>
                          </a:solidFill>
                        </a:defRPr>
                      </a:pPr>
                      <a:r>
                        <a:t>Status Hasil</a:t>
                      </a:r>
                    </a:p>
                  </a:txBody>
                  <a:tcPr>
                    <a:solidFill>
                      <a:srgbClr val="002F5E"/>
                    </a:solidFill>
                  </a:tcPr>
                </a:tc>
              </a:tr>
              <a:tr h="491490">
                <a:tc>
                  <a:txBody>
                    <a:bodyPr/>
                    <a:lstStyle/>
                    <a:p>
                      <a:pPr>
                        <a:defRPr sz="819">
                          <a:solidFill>
                            <a:srgbClr val="1E293B"/>
                          </a:solidFill>
                        </a:defRPr>
                      </a:pPr>
                      <a:r>
                        <a:t>Truk Gate-In Normal (&lt;34t)</a:t>
                      </a:r>
                    </a:p>
                  </a:txBody>
                  <a:tcPr>
                    <a:solidFill>
                      <a:srgbClr val="FFFFFF"/>
                    </a:solidFill>
                  </a:tcPr>
                </a:tc>
                <a:tc>
                  <a:txBody>
                    <a:bodyPr/>
                    <a:lstStyle/>
                    <a:p>
                      <a:pPr>
                        <a:defRPr sz="819">
                          <a:solidFill>
                            <a:srgbClr val="1E293B"/>
                          </a:solidFill>
                        </a:defRPr>
                      </a:pPr>
                      <a:r>
                        <a:t>Berat &lt;= 34t &amp; ISO Sah</a:t>
                      </a:r>
                    </a:p>
                  </a:txBody>
                  <a:tcPr>
                    <a:solidFill>
                      <a:srgbClr val="FFFFFF"/>
                    </a:solidFill>
                  </a:tcPr>
                </a:tc>
                <a:tc>
                  <a:txBody>
                    <a:bodyPr/>
                    <a:lstStyle/>
                    <a:p>
                      <a:pPr>
                        <a:defRPr sz="819">
                          <a:solidFill>
                            <a:srgbClr val="1E293B"/>
                          </a:solidFill>
                        </a:defRPr>
                      </a:pPr>
                      <a:r>
                        <a:t>Palang buka &lt;30s, e-Pass cetak, arahkan truk ke blok yard/reefer/CFS</a:t>
                      </a:r>
                    </a:p>
                  </a:txBody>
                  <a:tcPr>
                    <a:solidFill>
                      <a:srgbClr val="FFFFFF"/>
                    </a:solidFill>
                  </a:tcPr>
                </a:tc>
                <a:tc>
                  <a:txBody>
                    <a:bodyPr/>
                    <a:lstStyle/>
                    <a:p>
                      <a:pPr>
                        <a:defRPr sz="819" b="1">
                          <a:solidFill>
                            <a:srgbClr val="10B981"/>
                          </a:solidFill>
                        </a:defRPr>
                      </a:pPr>
                      <a:r>
                        <a:t>PASS (100%)</a:t>
                      </a:r>
                    </a:p>
                  </a:txBody>
                  <a:tcPr>
                    <a:solidFill>
                      <a:srgbClr val="FFFFFF"/>
                    </a:solidFill>
                  </a:tcPr>
                </a:tc>
              </a:tr>
              <a:tr h="491490">
                <a:tc>
                  <a:txBody>
                    <a:bodyPr/>
                    <a:lstStyle/>
                    <a:p>
                      <a:pPr>
                        <a:defRPr sz="819">
                          <a:solidFill>
                            <a:srgbClr val="1E293B"/>
                          </a:solidFill>
                        </a:defRPr>
                      </a:pPr>
                      <a:r>
                        <a:t>Truk Overload SOLAS (&gt;34t)</a:t>
                      </a:r>
                    </a:p>
                  </a:txBody>
                  <a:tcPr>
                    <a:solidFill>
                      <a:srgbClr val="F8FAFC"/>
                    </a:solidFill>
                  </a:tcPr>
                </a:tc>
                <a:tc>
                  <a:txBody>
                    <a:bodyPr/>
                    <a:lstStyle/>
                    <a:p>
                      <a:pPr>
                        <a:defRPr sz="819">
                          <a:solidFill>
                            <a:srgbClr val="1E293B"/>
                          </a:solidFill>
                        </a:defRPr>
                      </a:pPr>
                      <a:r>
                        <a:t>Berat &gt; 34.000 kg</a:t>
                      </a:r>
                    </a:p>
                  </a:txBody>
                  <a:tcPr>
                    <a:solidFill>
                      <a:srgbClr val="F8FAFC"/>
                    </a:solidFill>
                  </a:tcPr>
                </a:tc>
                <a:tc>
                  <a:txBody>
                    <a:bodyPr/>
                    <a:lstStyle/>
                    <a:p>
                      <a:pPr>
                        <a:defRPr sz="819">
                          <a:solidFill>
                            <a:srgbClr val="1E293B"/>
                          </a:solidFill>
                        </a:defRPr>
                      </a:pPr>
                      <a:r>
                        <a:t>Palang kunci permanen, sirine bunyi, tolak masuk &amp; arahkan ke Jalur U-Turn</a:t>
                      </a:r>
                    </a:p>
                  </a:txBody>
                  <a:tcPr>
                    <a:solidFill>
                      <a:srgbClr val="F8FAFC"/>
                    </a:solidFill>
                  </a:tcPr>
                </a:tc>
                <a:tc>
                  <a:txBody>
                    <a:bodyPr/>
                    <a:lstStyle/>
                    <a:p>
                      <a:pPr>
                        <a:defRPr sz="819" b="1">
                          <a:solidFill>
                            <a:srgbClr val="10B981"/>
                          </a:solidFill>
                        </a:defRPr>
                      </a:pPr>
                      <a:r>
                        <a:t>PASS (100%)</a:t>
                      </a:r>
                    </a:p>
                  </a:txBody>
                  <a:tcPr>
                    <a:solidFill>
                      <a:srgbClr val="F8FAFC"/>
                    </a:solidFill>
                  </a:tcPr>
                </a:tc>
              </a:tr>
              <a:tr h="491490">
                <a:tc>
                  <a:txBody>
                    <a:bodyPr/>
                    <a:lstStyle/>
                    <a:p>
                      <a:pPr>
                        <a:defRPr sz="819">
                          <a:solidFill>
                            <a:srgbClr val="1E293B"/>
                          </a:solidFill>
                        </a:defRPr>
                      </a:pPr>
                      <a:r>
                        <a:t>Check Digit ISO Salah</a:t>
                      </a:r>
                    </a:p>
                  </a:txBody>
                  <a:tcPr>
                    <a:solidFill>
                      <a:srgbClr val="FFFFFF"/>
                    </a:solidFill>
                  </a:tcPr>
                </a:tc>
                <a:tc>
                  <a:txBody>
                    <a:bodyPr/>
                    <a:lstStyle/>
                    <a:p>
                      <a:pPr>
                        <a:defRPr sz="819">
                          <a:solidFill>
                            <a:srgbClr val="1E293B"/>
                          </a:solidFill>
                        </a:defRPr>
                      </a:pPr>
                      <a:r>
                        <a:t>Modulo 11 Gagal</a:t>
                      </a:r>
                    </a:p>
                  </a:txBody>
                  <a:tcPr>
                    <a:solidFill>
                      <a:srgbClr val="FFFFFF"/>
                    </a:solidFill>
                  </a:tcPr>
                </a:tc>
                <a:tc>
                  <a:txBody>
                    <a:bodyPr/>
                    <a:lstStyle/>
                    <a:p>
                      <a:pPr>
                        <a:defRPr sz="819">
                          <a:solidFill>
                            <a:srgbClr val="1E293B"/>
                          </a:solidFill>
                        </a:defRPr>
                      </a:pPr>
                      <a:r>
                        <a:t>Operator salah ketik digit kontainer; pendaftaran diblokir otomatis oleh sistem</a:t>
                      </a:r>
                    </a:p>
                  </a:txBody>
                  <a:tcPr>
                    <a:solidFill>
                      <a:srgbClr val="FFFFFF"/>
                    </a:solidFill>
                  </a:tcPr>
                </a:tc>
                <a:tc>
                  <a:txBody>
                    <a:bodyPr/>
                    <a:lstStyle/>
                    <a:p>
                      <a:pPr>
                        <a:defRPr sz="819" b="1">
                          <a:solidFill>
                            <a:srgbClr val="10B981"/>
                          </a:solidFill>
                        </a:defRPr>
                      </a:pPr>
                      <a:r>
                        <a:t>PASS (100%)</a:t>
                      </a:r>
                    </a:p>
                  </a:txBody>
                  <a:tcPr>
                    <a:solidFill>
                      <a:srgbClr val="FFFFFF"/>
                    </a:solidFill>
                  </a:tcPr>
                </a:tc>
              </a:tr>
              <a:tr h="491490">
                <a:tc>
                  <a:txBody>
                    <a:bodyPr/>
                    <a:lstStyle/>
                    <a:p>
                      <a:pPr>
                        <a:defRPr sz="819">
                          <a:solidFill>
                            <a:srgbClr val="1E293B"/>
                          </a:solidFill>
                        </a:defRPr>
                      </a:pPr>
                      <a:r>
                        <a:t>Barcode Palet Cacat di CFS</a:t>
                      </a:r>
                    </a:p>
                  </a:txBody>
                  <a:tcPr>
                    <a:solidFill>
                      <a:srgbClr val="F8FAFC"/>
                    </a:solidFill>
                  </a:tcPr>
                </a:tc>
                <a:tc>
                  <a:txBody>
                    <a:bodyPr/>
                    <a:lstStyle/>
                    <a:p>
                      <a:pPr>
                        <a:defRPr sz="819">
                          <a:solidFill>
                            <a:srgbClr val="1E293B"/>
                          </a:solidFill>
                        </a:defRPr>
                      </a:pPr>
                      <a:r>
                        <a:t>GS1 SSCC Gagal Baca</a:t>
                      </a:r>
                    </a:p>
                  </a:txBody>
                  <a:tcPr>
                    <a:solidFill>
                      <a:srgbClr val="F8FAFC"/>
                    </a:solidFill>
                  </a:tcPr>
                </a:tc>
                <a:tc>
                  <a:txBody>
                    <a:bodyPr/>
                    <a:lstStyle/>
                    <a:p>
                      <a:pPr>
                        <a:defRPr sz="819">
                          <a:solidFill>
                            <a:srgbClr val="1E293B"/>
                          </a:solidFill>
                        </a:defRPr>
                      </a:pPr>
                      <a:r>
                        <a:t>Scanner gagal -&gt; Trigger tombol Emergency Relabeling &amp; cetak barcode baru</a:t>
                      </a:r>
                    </a:p>
                  </a:txBody>
                  <a:tcPr>
                    <a:solidFill>
                      <a:srgbClr val="F8FAFC"/>
                    </a:solidFill>
                  </a:tcPr>
                </a:tc>
                <a:tc>
                  <a:txBody>
                    <a:bodyPr/>
                    <a:lstStyle/>
                    <a:p>
                      <a:pPr>
                        <a:defRPr sz="819" b="1">
                          <a:solidFill>
                            <a:srgbClr val="10B981"/>
                          </a:solidFill>
                        </a:defRPr>
                      </a:pPr>
                      <a:r>
                        <a:t>PASS (100%)</a:t>
                      </a:r>
                    </a:p>
                  </a:txBody>
                  <a:tcPr>
                    <a:solidFill>
                      <a:srgbClr val="F8FAFC"/>
                    </a:solidFill>
                  </a:tcPr>
                </a:tc>
              </a:tr>
              <a:tr h="491490">
                <a:tc>
                  <a:txBody>
                    <a:bodyPr/>
                    <a:lstStyle/>
                    <a:p>
                      <a:pPr>
                        <a:defRPr sz="819">
                          <a:solidFill>
                            <a:srgbClr val="1E293B"/>
                          </a:solidFill>
                        </a:defRPr>
                      </a:pPr>
                      <a:r>
                        <a:t>Pencegahan Tabrakan Yard</a:t>
                      </a:r>
                    </a:p>
                  </a:txBody>
                  <a:tcPr>
                    <a:solidFill>
                      <a:srgbClr val="FFFFFF"/>
                    </a:solidFill>
                  </a:tcPr>
                </a:tc>
                <a:tc>
                  <a:txBody>
                    <a:bodyPr/>
                    <a:lstStyle/>
                    <a:p>
                      <a:pPr>
                        <a:defRPr sz="819">
                          <a:solidFill>
                            <a:srgbClr val="1E293B"/>
                          </a:solidFill>
                        </a:defRPr>
                      </a:pPr>
                      <a:r>
                        <a:t>Anti-Floating Violation</a:t>
                      </a:r>
                    </a:p>
                  </a:txBody>
                  <a:tcPr>
                    <a:solidFill>
                      <a:srgbClr val="FFFFFF"/>
                    </a:solidFill>
                  </a:tcPr>
                </a:tc>
                <a:tc>
                  <a:txBody>
                    <a:bodyPr/>
                    <a:lstStyle/>
                    <a:p>
                      <a:pPr>
                        <a:defRPr sz="819">
                          <a:solidFill>
                            <a:srgbClr val="1E293B"/>
                          </a:solidFill>
                        </a:defRPr>
                      </a:pPr>
                      <a:r>
                        <a:t>Sistem tolak perintah taruh boks di Tier 3 tanpa adanya Tier 2 di bawahnya</a:t>
                      </a:r>
                    </a:p>
                  </a:txBody>
                  <a:tcPr>
                    <a:solidFill>
                      <a:srgbClr val="FFFFFF"/>
                    </a:solidFill>
                  </a:tcPr>
                </a:tc>
                <a:tc>
                  <a:txBody>
                    <a:bodyPr/>
                    <a:lstStyle/>
                    <a:p>
                      <a:pPr>
                        <a:defRPr sz="819" b="1">
                          <a:solidFill>
                            <a:srgbClr val="10B981"/>
                          </a:solidFill>
                        </a:defRPr>
                      </a:pPr>
                      <a:r>
                        <a:t>PASS (100%)</a:t>
                      </a:r>
                    </a:p>
                  </a:txBody>
                  <a:tcPr>
                    <a:solidFill>
                      <a:srgbClr val="FFFFFF"/>
                    </a:solidFill>
                  </a:tcPr>
                </a:tc>
              </a:tr>
              <a:tr h="491490">
                <a:tc>
                  <a:txBody>
                    <a:bodyPr/>
                    <a:lstStyle/>
                    <a:p>
                      <a:pPr>
                        <a:defRPr sz="819">
                          <a:solidFill>
                            <a:srgbClr val="1E293B"/>
                          </a:solidFill>
                        </a:defRPr>
                      </a:pPr>
                      <a:r>
                        <a:t>Kontainer Jalur Merah</a:t>
                      </a:r>
                    </a:p>
                  </a:txBody>
                  <a:tcPr>
                    <a:solidFill>
                      <a:srgbClr val="F8FAFC"/>
                    </a:solidFill>
                  </a:tcPr>
                </a:tc>
                <a:tc>
                  <a:txBody>
                    <a:bodyPr/>
                    <a:lstStyle/>
                    <a:p>
                      <a:pPr>
                        <a:defRPr sz="819">
                          <a:solidFill>
                            <a:srgbClr val="1E293B"/>
                          </a:solidFill>
                        </a:defRPr>
                      </a:pPr>
                      <a:r>
                        <a:t>Customs Hold Active</a:t>
                      </a:r>
                    </a:p>
                  </a:txBody>
                  <a:tcPr>
                    <a:solidFill>
                      <a:srgbClr val="F8FAFC"/>
                    </a:solidFill>
                  </a:tcPr>
                </a:tc>
                <a:tc>
                  <a:txBody>
                    <a:bodyPr/>
                    <a:lstStyle/>
                    <a:p>
                      <a:pPr>
                        <a:defRPr sz="819">
                          <a:solidFill>
                            <a:srgbClr val="1E293B"/>
                          </a:solidFill>
                        </a:defRPr>
                      </a:pPr>
                      <a:r>
                        <a:t>Kontainer dilarang keras Gate-Out sebelum ada rilis resmi SPPB Bea Cukai</a:t>
                      </a:r>
                    </a:p>
                  </a:txBody>
                  <a:tcPr>
                    <a:solidFill>
                      <a:srgbClr val="F8FAFC"/>
                    </a:solidFill>
                  </a:tcPr>
                </a:tc>
                <a:tc>
                  <a:txBody>
                    <a:bodyPr/>
                    <a:lstStyle/>
                    <a:p>
                      <a:pPr>
                        <a:defRPr sz="819" b="1">
                          <a:solidFill>
                            <a:srgbClr val="10B981"/>
                          </a:solidFill>
                        </a:defRPr>
                      </a:pPr>
                      <a:r>
                        <a:t>PASS (100%)</a:t>
                      </a:r>
                    </a:p>
                  </a:txBody>
                  <a:tcPr>
                    <a:solidFill>
                      <a:srgbClr val="F8FAFC"/>
                    </a:solidFill>
                  </a:tcPr>
                </a:tc>
              </a:tr>
              <a:tr h="491490">
                <a:tc>
                  <a:txBody>
                    <a:bodyPr/>
                    <a:lstStyle/>
                    <a:p>
                      <a:pPr>
                        <a:defRPr sz="819">
                          <a:solidFill>
                            <a:srgbClr val="1E293B"/>
                          </a:solidFill>
                        </a:defRPr>
                      </a:pPr>
                      <a:r>
                        <a:t>Kalkulasi Denda Inap</a:t>
                      </a:r>
                    </a:p>
                  </a:txBody>
                  <a:tcPr>
                    <a:solidFill>
                      <a:srgbClr val="FFFFFF"/>
                    </a:solidFill>
                  </a:tcPr>
                </a:tc>
                <a:tc>
                  <a:txBody>
                    <a:bodyPr/>
                    <a:lstStyle/>
                    <a:p>
                      <a:pPr>
                        <a:defRPr sz="819">
                          <a:solidFill>
                            <a:srgbClr val="1E293B"/>
                          </a:solidFill>
                        </a:defRPr>
                      </a:pPr>
                      <a:r>
                        <a:t>Event-Driven Billing</a:t>
                      </a:r>
                    </a:p>
                  </a:txBody>
                  <a:tcPr>
                    <a:solidFill>
                      <a:srgbClr val="FFFFFF"/>
                    </a:solidFill>
                  </a:tcPr>
                </a:tc>
                <a:tc>
                  <a:txBody>
                    <a:bodyPr/>
                    <a:lstStyle/>
                    <a:p>
                      <a:pPr>
                        <a:defRPr sz="819">
                          <a:solidFill>
                            <a:srgbClr val="1E293B"/>
                          </a:solidFill>
                        </a:defRPr>
                      </a:pPr>
                      <a:r>
                        <a:t>Masa I (Rp 0), Masa II (Rp 45rb), Masa III (Rp 90rb) tertagih tanpa kebocoran</a:t>
                      </a:r>
                    </a:p>
                  </a:txBody>
                  <a:tcPr>
                    <a:solidFill>
                      <a:srgbClr val="FFFFFF"/>
                    </a:solidFill>
                  </a:tcPr>
                </a:tc>
                <a:tc>
                  <a:txBody>
                    <a:bodyPr/>
                    <a:lstStyle/>
                    <a:p>
                      <a:pPr>
                        <a:defRPr sz="819" b="1">
                          <a:solidFill>
                            <a:srgbClr val="10B981"/>
                          </a:solidFill>
                        </a:defRPr>
                      </a:pPr>
                      <a:r>
                        <a:t>PASS (100%)</a:t>
                      </a:r>
                    </a:p>
                  </a:txBody>
                  <a:tcPr>
                    <a:solidFill>
                      <a:srgbClr val="FFFFFF"/>
                    </a:solidFill>
                  </a:tcPr>
                </a:tc>
              </a:tr>
            </a:tbl>
          </a:graphicData>
        </a:graphic>
      </p:graphicFrame>
      <p:sp>
        <p:nvSpPr>
          <p:cNvPr id="6" name="Rounded Rectangle 5"/>
          <p:cNvSpPr/>
          <p:nvPr/>
        </p:nvSpPr>
        <p:spPr>
          <a:xfrm>
            <a:off x="731520" y="5596128"/>
            <a:ext cx="10698480" cy="621792"/>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65F46"/>
                </a:solidFill>
              </a:defRPr>
            </a:pPr>
            <a:r>
              <a:t>PENJAMINAN MUTU NON-FUNGSIONAL: Respon API 85 ms (&lt;150 ms)  •  Siklus Gate 90s (&lt;120s)  •  Zero Revenue Leakage (0% Bocor)  •  QA PASS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
            <a:ext cx="7498079" cy="1051560"/>
          </a:xfrm>
          <a:prstGeom prst="rect">
            <a:avLst/>
          </a:prstGeom>
          <a:noFill/>
        </p:spPr>
        <p:txBody>
          <a:bodyPr wrap="square" lIns="0" tIns="0" rIns="0" bIns="0">
            <a:spAutoFit/>
          </a:bodyPr>
          <a:lstStyle/>
          <a:p>
            <a:pPr>
              <a:defRPr sz="850" b="1">
                <a:solidFill>
                  <a:srgbClr val="0170B9"/>
                </a:solidFill>
              </a:defRPr>
            </a:pPr>
            <a:r>
              <a:t>CONCLUSION SUPPLY CHAIN CONSULTANT — STRATEGIC BUSINESS BLUEPRINT</a:t>
            </a:r>
          </a:p>
          <a:p>
            <a:pPr>
              <a:spcBef>
                <a:spcPts val="200"/>
              </a:spcBef>
              <a:defRPr sz="1650" b="1">
                <a:solidFill>
                  <a:srgbClr val="002F5E"/>
                </a:solidFill>
              </a:defRPr>
            </a:pPr>
            <a:r>
              <a:t>Kesimpulan Eksekutif Business Analyst &amp; Rekomendasi Konsultan</a:t>
            </a:r>
          </a:p>
        </p:txBody>
      </p:sp>
      <p:sp>
        <p:nvSpPr>
          <p:cNvPr id="3" name="Rounded Rectangle 2"/>
          <p:cNvSpPr/>
          <p:nvPr/>
        </p:nvSpPr>
        <p:spPr>
          <a:xfrm>
            <a:off x="8321040" y="237744"/>
            <a:ext cx="3108960" cy="932688"/>
          </a:xfrm>
          <a:prstGeom prst="roundRect">
            <a:avLst/>
          </a:prstGeom>
          <a:solidFill>
            <a:srgbClr val="EFF6FF"/>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50" b="1">
                <a:solidFill>
                  <a:srgbClr val="0170B9"/>
                </a:solidFill>
              </a:defRPr>
            </a:pPr>
            <a:r>
              <a:t>🌐 HALAMAN WEB / LIVE DEMO</a:t>
            </a:r>
          </a:p>
          <a:p>
            <a:pPr>
              <a:spcBef>
                <a:spcPts val="100"/>
              </a:spcBef>
              <a:defRPr sz="950" b="1">
                <a:solidFill>
                  <a:srgbClr val="002F5E"/>
                </a:solidFill>
              </a:defRPr>
            </a:pPr>
            <a:r>
              <a:t>dashboard.php (Integrated Portal)</a:t>
            </a:r>
          </a:p>
          <a:p>
            <a:pPr>
              <a:spcBef>
                <a:spcPts val="100"/>
              </a:spcBef>
              <a:defRPr sz="700" i="1">
                <a:solidFill>
                  <a:srgbClr val="64748B"/>
                </a:solidFill>
              </a:defRPr>
            </a:pPr>
            <a:r>
              <a:t>http://localhost/Conclusion_Intermodal_Dry_Port/</a:t>
            </a:r>
          </a:p>
        </p:txBody>
      </p:sp>
      <p:sp>
        <p:nvSpPr>
          <p:cNvPr id="4" name="TextBox 3"/>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defRPr>
            </a:pPr>
            <a:r>
              <a:t>Conclusion Supply Chain Consultant  •  Naufal Andika Heditya &amp; Zulfikar J. Fatah  •  Topik 7: CIDP 35 Ha                    Slide 12 of 12</a:t>
            </a:r>
          </a:p>
        </p:txBody>
      </p:sp>
      <p:sp>
        <p:nvSpPr>
          <p:cNvPr id="5" name="Rounded Rectangle 4"/>
          <p:cNvSpPr/>
          <p:nvPr/>
        </p:nvSpPr>
        <p:spPr>
          <a:xfrm>
            <a:off x="731520" y="1508760"/>
            <a:ext cx="25146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691640"/>
            <a:ext cx="2295144" cy="2743200"/>
          </a:xfrm>
          <a:prstGeom prst="rect">
            <a:avLst/>
          </a:prstGeom>
          <a:noFill/>
        </p:spPr>
        <p:txBody>
          <a:bodyPr wrap="square">
            <a:spAutoFit/>
          </a:bodyPr>
          <a:lstStyle/>
          <a:p>
            <a:pPr>
              <a:defRPr sz="850" b="1">
                <a:solidFill>
                  <a:srgbClr val="0170B9"/>
                </a:solidFill>
              </a:defRPr>
            </a:pPr>
            <a:r>
              <a:t>1. KELAYAKAN FINANSIAL</a:t>
            </a:r>
          </a:p>
          <a:p>
            <a:pPr>
              <a:spcBef>
                <a:spcPts val="200"/>
              </a:spcBef>
              <a:defRPr sz="1300" b="1">
                <a:solidFill>
                  <a:srgbClr val="002F5E"/>
                </a:solidFill>
              </a:defRPr>
            </a:pPr>
            <a:r>
              <a:t>Balik Modal 5.8 Tahun</a:t>
            </a:r>
          </a:p>
          <a:p>
            <a:pPr>
              <a:spcBef>
                <a:spcPts val="400"/>
              </a:spcBef>
              <a:defRPr sz="800">
                <a:solidFill>
                  <a:srgbClr val="1E293B"/>
                </a:solidFill>
              </a:defRPr>
            </a:pPr>
            <a:r>
              <a:t>• CAPEX Rp 250 M lunas dalam 5,84 tahun.</a:t>
            </a:r>
            <a:br/>
            <a:r>
              <a:t>• Net Profit Rp 30,2 M/thn.</a:t>
            </a:r>
            <a:br/>
            <a:r>
              <a:t>• NPV Positif +Rp 22,9 Miliar.</a:t>
            </a:r>
            <a:br/>
            <a:r>
              <a:t>• IRR 11,90% di atas bunga bank 8,5%.</a:t>
            </a:r>
          </a:p>
        </p:txBody>
      </p:sp>
      <p:sp>
        <p:nvSpPr>
          <p:cNvPr id="7" name="Rounded Rectangle 6"/>
          <p:cNvSpPr/>
          <p:nvPr/>
        </p:nvSpPr>
        <p:spPr>
          <a:xfrm>
            <a:off x="3456432" y="1508760"/>
            <a:ext cx="25146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691640"/>
            <a:ext cx="2295144" cy="2743200"/>
          </a:xfrm>
          <a:prstGeom prst="rect">
            <a:avLst/>
          </a:prstGeom>
          <a:noFill/>
        </p:spPr>
        <p:txBody>
          <a:bodyPr wrap="square">
            <a:spAutoFit/>
          </a:bodyPr>
          <a:lstStyle/>
          <a:p>
            <a:pPr>
              <a:defRPr sz="850" b="1">
                <a:solidFill>
                  <a:srgbClr val="6366F1"/>
                </a:solidFill>
              </a:defRPr>
            </a:pPr>
            <a:r>
              <a:t>2. EFISIENSI PROSES (BPR)</a:t>
            </a:r>
          </a:p>
          <a:p>
            <a:pPr>
              <a:spcBef>
                <a:spcPts val="200"/>
              </a:spcBef>
              <a:defRPr sz="1300" b="1">
                <a:solidFill>
                  <a:srgbClr val="002F5E"/>
                </a:solidFill>
              </a:defRPr>
            </a:pPr>
            <a:r>
              <a:t>Dwell Time Pangkas 66%</a:t>
            </a:r>
          </a:p>
          <a:p>
            <a:pPr>
              <a:spcBef>
                <a:spcPts val="400"/>
              </a:spcBef>
              <a:defRPr sz="800">
                <a:solidFill>
                  <a:srgbClr val="1E293B"/>
                </a:solidFill>
              </a:defRPr>
            </a:pPr>
            <a:r>
              <a:t>• Waktu gate turun 15 mnt -&gt; 90 detik.</a:t>
            </a:r>
            <a:br/>
            <a:r>
              <a:t>• Dwell time turun 6,8 -&gt; 2,3 hari.</a:t>
            </a:r>
            <a:br/>
            <a:r>
              <a:t>• Eliminasi 100% box terselip via alokasi 3D Bay-Row-Tier.</a:t>
            </a:r>
          </a:p>
        </p:txBody>
      </p:sp>
      <p:sp>
        <p:nvSpPr>
          <p:cNvPr id="9" name="Rounded Rectangle 8"/>
          <p:cNvSpPr/>
          <p:nvPr/>
        </p:nvSpPr>
        <p:spPr>
          <a:xfrm>
            <a:off x="6181344" y="1508760"/>
            <a:ext cx="25146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1691640"/>
            <a:ext cx="2295144" cy="2743200"/>
          </a:xfrm>
          <a:prstGeom prst="rect">
            <a:avLst/>
          </a:prstGeom>
          <a:noFill/>
        </p:spPr>
        <p:txBody>
          <a:bodyPr wrap="square">
            <a:spAutoFit/>
          </a:bodyPr>
          <a:lstStyle/>
          <a:p>
            <a:pPr>
              <a:defRPr sz="850" b="1">
                <a:solidFill>
                  <a:srgbClr val="9333EA"/>
                </a:solidFill>
              </a:defRPr>
            </a:pPr>
            <a:r>
              <a:t>3. STANDAR &amp; KEPATUHAN</a:t>
            </a:r>
          </a:p>
          <a:p>
            <a:pPr>
              <a:spcBef>
                <a:spcPts val="200"/>
              </a:spcBef>
              <a:defRPr sz="1300" b="1">
                <a:solidFill>
                  <a:srgbClr val="002F5E"/>
                </a:solidFill>
              </a:defRPr>
            </a:pPr>
            <a:r>
              <a:t>GS1 SSCC &amp; CEISA 4.0</a:t>
            </a:r>
          </a:p>
          <a:p>
            <a:pPr>
              <a:spcBef>
                <a:spcPts val="400"/>
              </a:spcBef>
              <a:defRPr sz="800">
                <a:solidFill>
                  <a:srgbClr val="1E293B"/>
                </a:solidFill>
              </a:defRPr>
            </a:pPr>
            <a:r>
              <a:t>• Standar global GS1 AI (00) &amp; ISO 6346.</a:t>
            </a:r>
            <a:br/>
            <a:r>
              <a:t>• Kepatuhan PMK 190/2022 DJBC.</a:t>
            </a:r>
            <a:br/>
            <a:r>
              <a:t>• Otomasi SPPB 94,2% &amp; Smart E-Seal transit KA.</a:t>
            </a:r>
          </a:p>
        </p:txBody>
      </p:sp>
      <p:sp>
        <p:nvSpPr>
          <p:cNvPr id="11" name="Rounded Rectangle 10"/>
          <p:cNvSpPr/>
          <p:nvPr/>
        </p:nvSpPr>
        <p:spPr>
          <a:xfrm>
            <a:off x="8906256" y="1508760"/>
            <a:ext cx="25146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15984" y="1691640"/>
            <a:ext cx="2295144" cy="2743200"/>
          </a:xfrm>
          <a:prstGeom prst="rect">
            <a:avLst/>
          </a:prstGeom>
          <a:noFill/>
        </p:spPr>
        <p:txBody>
          <a:bodyPr wrap="square">
            <a:spAutoFit/>
          </a:bodyPr>
          <a:lstStyle/>
          <a:p>
            <a:pPr>
              <a:defRPr sz="850" b="1">
                <a:solidFill>
                  <a:srgbClr val="10B981"/>
                </a:solidFill>
              </a:defRPr>
            </a:pPr>
            <a:r>
              <a:t>4. PENJAMINAN MUTU (QA)</a:t>
            </a:r>
          </a:p>
          <a:p>
            <a:pPr>
              <a:spcBef>
                <a:spcPts val="200"/>
              </a:spcBef>
              <a:defRPr sz="1300" b="1">
                <a:solidFill>
                  <a:srgbClr val="002F5E"/>
                </a:solidFill>
              </a:defRPr>
            </a:pPr>
            <a:r>
              <a:t>Zero Revenue Leakage</a:t>
            </a:r>
          </a:p>
          <a:p>
            <a:pPr>
              <a:spcBef>
                <a:spcPts val="400"/>
              </a:spcBef>
              <a:defRPr sz="800">
                <a:solidFill>
                  <a:srgbClr val="1E293B"/>
                </a:solidFill>
              </a:defRPr>
            </a:pPr>
            <a:r>
              <a:t>• 100% kasus ekstrem tertangani (SOLAS overload &amp; cek digit).</a:t>
            </a:r>
            <a:br/>
            <a:r>
              <a:t>• Palang Gate-Out kunci tagihan belum lunas.</a:t>
            </a:r>
          </a:p>
        </p:txBody>
      </p:sp>
      <p:sp>
        <p:nvSpPr>
          <p:cNvPr id="13" name="Rounded Rectangle 12"/>
          <p:cNvSpPr/>
          <p:nvPr/>
        </p:nvSpPr>
        <p:spPr>
          <a:xfrm>
            <a:off x="731520" y="4800600"/>
            <a:ext cx="10698480" cy="1417320"/>
          </a:xfrm>
          <a:prstGeom prst="roundRect">
            <a:avLst/>
          </a:prstGeom>
          <a:solidFill>
            <a:srgbClr val="002F5E"/>
          </a:solidFill>
          <a:ln w="12700">
            <a:solidFill>
              <a:srgbClr val="0170B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REKOMENDASI FINAL STRATEGIS CONCLUSION SUPPLY CHAIN CONSULTANT</a:t>
            </a:r>
          </a:p>
          <a:p>
            <a:pPr>
              <a:spcBef>
                <a:spcPts val="300"/>
              </a:spcBef>
              <a:defRPr sz="850">
                <a:solidFill>
                  <a:srgbClr val="E2E8F0"/>
                </a:solidFill>
              </a:defRPr>
            </a:pPr>
            <a:r>
              <a:t>Sistem CIDP YMS terbukti secara empiris dan kuantitatif SANGAT LAYAK (FEASIBLE) untuk dilanjutkan ke tahap implementasi komersial. Solusi ini menyelesaikan inefisiensi pelabuhan konvensional, menjamin keuntungan finansial pemodal, dan memenuhi seluruh standar regulasi logistik nasional maupun internasional.</a:t>
            </a:r>
          </a:p>
          <a:p>
            <a:pPr algn="ctr">
              <a:spcBef>
                <a:spcPts val="400"/>
              </a:spcBef>
              <a:defRPr sz="950" b="1">
                <a:solidFill>
                  <a:srgbClr val="F59E0B"/>
                </a:solidFill>
              </a:defRPr>
            </a:pPr>
            <a:r>
              <a:t>🌐 LIVE PORTAL: http://localhost/Conclusion_Intermodal_Dry_Port/  •  SESI TANYA JAWAB (Q&amp;A)  •  DR. TIGOR FRANKY, S.T., M.T.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