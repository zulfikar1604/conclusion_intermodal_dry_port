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69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22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6A34A"/>
              </a:solidFill>
            </c:spPr>
            <c:extLst>
              <c:ext xmlns:c16="http://schemas.microsoft.com/office/drawing/2014/chart" uri="{C3380CC4-5D6E-409C-BE32-E72D297353CC}">
                <c16:uniqueId val="{00000001-9F1E-425A-B159-89408EE363A9}"/>
              </c:ext>
            </c:extLst>
          </c:dPt>
          <c:dPt>
            <c:idx val="1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3-9F1E-425A-B159-89408EE363A9}"/>
              </c:ext>
            </c:extLst>
          </c:dPt>
          <c:dPt>
            <c:idx val="2"/>
            <c:invertIfNegative val="1"/>
            <c:bubble3D val="0"/>
            <c:spPr>
              <a:solidFill>
                <a:srgbClr val="DC2626"/>
              </a:solidFill>
            </c:spPr>
            <c:extLst>
              <c:ext xmlns:c16="http://schemas.microsoft.com/office/drawing/2014/chart" uri="{C3380CC4-5D6E-409C-BE32-E72D297353CC}">
                <c16:uniqueId val="{00000005-9F1E-425A-B159-89408EE363A9}"/>
              </c:ext>
            </c:extLst>
          </c:dPt>
          <c:dLbls>
            <c:numFmt formatCode="&quot;Rp &quot;#,##0;;&quot;Grati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0B2A5B"/>
                    </a:solidFill>
                  </a:defRPr>
                </a:pPr>
                <a:endParaRPr lang="id-I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Hari 1–3 (free time)</c:v>
                </c:pt>
                <c:pt idx="1">
                  <c:v>Hari 4–7</c:v>
                </c:pt>
                <c:pt idx="2">
                  <c:v>Hari ≥ 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250000</c:v>
                </c:pt>
                <c:pt idx="2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1E-425A-B159-89408EE363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D7F5"/>
            </a:solidFill>
          </a:ln>
        </c:spPr>
        <c:txPr>
          <a:bodyPr/>
          <a:lstStyle/>
          <a:p>
            <a:pPr>
              <a:defRPr sz="1200"/>
            </a:pPr>
            <a:endParaRPr lang="id-ID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00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1E293B"/>
          </a:solidFill>
        </a:defRPr>
      </a:pPr>
      <a:endParaRPr lang="id-ID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1-AA90-4D48-9470-58E33CD477BC}"/>
              </c:ext>
            </c:extLst>
          </c:dPt>
          <c:dPt>
            <c:idx val="1"/>
            <c:invertIfNegative val="1"/>
            <c:bubble3D val="0"/>
            <c:spPr>
              <a:solidFill>
                <a:srgbClr val="16A34A"/>
              </a:solidFill>
            </c:spPr>
            <c:extLst>
              <c:ext xmlns:c16="http://schemas.microsoft.com/office/drawing/2014/chart" uri="{C3380CC4-5D6E-409C-BE32-E72D297353CC}">
                <c16:uniqueId val="{00000003-AA90-4D48-9470-58E33CD477BC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0B2A5B"/>
                    </a:solidFill>
                  </a:defRPr>
                </a:pPr>
                <a:endParaRPr lang="id-I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Sebelum (manual)</c:v>
                </c:pt>
                <c:pt idx="1">
                  <c:v>Sesudah (otomasi ANPR + OCR)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90-4D48-9470-58E33CD477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D7F5"/>
            </a:solidFill>
          </a:ln>
        </c:spPr>
        <c:txPr>
          <a:bodyPr/>
          <a:lstStyle/>
          <a:p>
            <a:pPr>
              <a:defRPr sz="1200"/>
            </a:pPr>
            <a:endParaRPr lang="id-ID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1E293B"/>
          </a:solidFill>
        </a:defRPr>
      </a:pPr>
      <a:endParaRPr lang="id-ID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90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 dari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Agenda Pembahasan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Business Analysis &amp; alur proses bisnis end-to-end — CIDP 35 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2075688"/>
            <a:ext cx="566928" cy="566928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82" y="2211750"/>
            <a:ext cx="294802" cy="294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203911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01 · Paradigma 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04872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Developer vs BA dan rumus 3 langkah analisis fitur (Bab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540" y="1874519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03420" y="2075688"/>
            <a:ext cx="566928" cy="566928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WeightHang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482" y="2211750"/>
            <a:ext cx="294802" cy="294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34940" y="203911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02 · Alokasi Alat &amp; Gate-In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4940" y="2404872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Siapa menimbang &amp; mengangkat, flowchart, dan business rule timbangan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75319" y="2075688"/>
            <a:ext cx="566928" cy="566928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1382" y="2211750"/>
            <a:ext cx="294802" cy="2948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06840" y="203911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03 · Stacking Rules 3D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404872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Hierarki Bay–Row–Tier, distribusi berat, dan zonasi kargo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37560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3538728"/>
            <a:ext cx="566928" cy="566928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Wareho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582" y="3674790"/>
            <a:ext cx="294802" cy="2948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63040" y="350215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04 · WMS &amp; WCS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867911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Inbound, inventory, outbound, dan kontrol hardware otomasi (Bab 2–5)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540" y="3337560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03420" y="3538728"/>
            <a:ext cx="566928" cy="566928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aTru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9482" y="3674790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34940" y="350215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05 · YMS, TMS &amp; Rel Siding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4940" y="3867911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Dock scheduling, demurrage, rute armada, dan kereta api 600 m (Bab 6–8)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337560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75319" y="3538728"/>
            <a:ext cx="566928" cy="566928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ProjectDiagra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1382" y="3674790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06840" y="350215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06 · Integrasi, Anomali &amp; FSD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867911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Integrasi 5 modul, exception handling, kesimpulan &amp; roadmap (Bab 9–14)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" y="4846320"/>
            <a:ext cx="10469880" cy="685800"/>
          </a:xfrm>
          <a:prstGeom prst="roundRect">
            <a:avLst>
              <a:gd name="adj" fmla="val 16000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4846320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9E0B"/>
                </a:solidFill>
              </a:rPr>
              <a:t>35 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846320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FFFFFF"/>
                </a:solidFill>
              </a:rPr>
              <a:t>Luas terminal CIDP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4684" y="4846320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F59E0B"/>
                </a:solidFill>
              </a:rPr>
              <a:t>14 Bab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0503" y="4864608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FFFFFF"/>
                </a:solidFill>
              </a:rPr>
              <a:t>Silabus</a:t>
            </a:r>
            <a:r>
              <a:rPr sz="1050" b="0" i="0" dirty="0">
                <a:solidFill>
                  <a:srgbClr val="FFFFFF"/>
                </a:solidFill>
              </a:rPr>
              <a:t> </a:t>
            </a:r>
            <a:r>
              <a:rPr sz="1050" b="0" i="0" dirty="0" err="1">
                <a:solidFill>
                  <a:srgbClr val="FFFFFF"/>
                </a:solidFill>
              </a:rPr>
              <a:t>pemetaan</a:t>
            </a:r>
            <a:r>
              <a:rPr sz="1050" b="0" i="0" dirty="0">
                <a:solidFill>
                  <a:srgbClr val="FFFFFF"/>
                </a:solidFill>
              </a:rPr>
              <a:t> </a:t>
            </a:r>
            <a:r>
              <a:rPr sz="1050" b="0" i="0" dirty="0" err="1">
                <a:solidFill>
                  <a:srgbClr val="FFFFFF"/>
                </a:solidFill>
              </a:rPr>
              <a:t>fitur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51431" y="4833411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F59E0B"/>
                </a:solidFill>
              </a:rPr>
              <a:t>5 Modul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1551" y="4858034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FFFFFF"/>
                </a:solidFill>
              </a:rPr>
              <a:t>WMS·TMS·WCS·YMS·ERP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2357" y="4846320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F59E0B"/>
                </a:solidFill>
              </a:rPr>
              <a:t>4 Flowchart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59" y="4846320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</a:rPr>
              <a:t>Alur resmi end-to-end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Paradigma Business Analyst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Developer vs BA — fokus pada logika bisnis, bukan sekadar tombol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dashboard.php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120640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Laptop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200046"/>
            <a:ext cx="309067" cy="3090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0574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2A5B"/>
                </a:solidFill>
              </a:rPr>
              <a:t>Pendekatan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77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Teknis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64748B"/>
              </a:buClr>
              <a:buFont typeface="Arial"/>
              <a:buChar char="•"/>
            </a:pPr>
            <a:r>
              <a:rPr sz="1400" b="0" i="0">
                <a:solidFill>
                  <a:srgbClr val="1E293B"/>
                </a:solidFill>
              </a:rPr>
              <a:t>Fokus struktur koding &amp; query database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64748B"/>
              </a:buClr>
              <a:buFont typeface="Arial"/>
              <a:buChar char="•"/>
            </a:pPr>
            <a:r>
              <a:rPr sz="1400" b="0" i="0">
                <a:solidFill>
                  <a:srgbClr val="1E293B"/>
                </a:solidFill>
              </a:rPr>
              <a:t>Implementasi tombol antarmuka (UI)</a:t>
            </a:r>
          </a:p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Font typeface="Arial"/>
              <a:buChar char="•"/>
            </a:pPr>
            <a:r>
              <a:rPr sz="1400" b="0" i="0">
                <a:solidFill>
                  <a:srgbClr val="1E293B"/>
                </a:solidFill>
              </a:rPr>
              <a:t>Integrasi teknis endpoint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74519"/>
            <a:ext cx="5120640" cy="2514600"/>
          </a:xfrm>
          <a:prstGeom prst="roundRect">
            <a:avLst>
              <a:gd name="adj" fmla="val 4363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766560" y="205740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UserT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206" y="2200046"/>
            <a:ext cx="309067" cy="3090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79" y="20574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</a:rPr>
              <a:t>Pendekatan Business 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377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D7F5"/>
                </a:solidFill>
              </a:rPr>
              <a:t>Logika bisnis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88036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F59E0B"/>
              </a:buClr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</a:rPr>
              <a:t>Fokus logika bisnis &amp; parameter input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F59E0B"/>
              </a:buClr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</a:rPr>
              <a:t>Validasi aturan, regulasi &amp; batas toleransi</a:t>
            </a:r>
          </a:p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</a:rPr>
              <a:t>Analisis dampak ke operasional riil</a:t>
            </a:r>
          </a:p>
        </p:txBody>
      </p:sp>
      <p:sp>
        <p:nvSpPr>
          <p:cNvPr id="17" name="Oval 16"/>
          <p:cNvSpPr/>
          <p:nvPr/>
        </p:nvSpPr>
        <p:spPr>
          <a:xfrm>
            <a:off x="5737860" y="2834640"/>
            <a:ext cx="731520" cy="731520"/>
          </a:xfrm>
          <a:prstGeom prst="ellipse">
            <a:avLst/>
          </a:prstGeom>
          <a:solidFill>
            <a:srgbClr val="F59E0B"/>
          </a:solidFill>
          <a:ln w="31750">
            <a:solidFill>
              <a:srgbClr val="FFFFFF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109960" cy="896112"/>
          </a:xfrm>
          <a:prstGeom prst="roundRect">
            <a:avLst>
              <a:gd name="adj" fmla="val 1224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645594"/>
            <a:ext cx="10698480" cy="7489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b="1" i="0" dirty="0" err="1">
                <a:solidFill>
                  <a:srgbClr val="0B2A5B"/>
                </a:solidFill>
              </a:rPr>
              <a:t>Contoh</a:t>
            </a:r>
            <a:r>
              <a:rPr lang="en-US" sz="1400" b="1" i="0" dirty="0">
                <a:solidFill>
                  <a:srgbClr val="0B2A5B"/>
                </a:solidFill>
              </a:rPr>
              <a:t> 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B2A5B"/>
                </a:solidFill>
              </a:rPr>
              <a:t>Developer:</a:t>
            </a:r>
            <a:r>
              <a:rPr sz="1400" b="0" i="0" dirty="0">
                <a:solidFill>
                  <a:srgbClr val="64748B"/>
                </a:solidFill>
              </a:rPr>
              <a:t>  “</a:t>
            </a:r>
            <a:r>
              <a:rPr sz="1400" b="0" i="0" dirty="0" err="1">
                <a:solidFill>
                  <a:srgbClr val="64748B"/>
                </a:solidFill>
              </a:rPr>
              <a:t>Membuat</a:t>
            </a:r>
            <a:r>
              <a:rPr sz="1400" b="0" i="0" dirty="0">
                <a:solidFill>
                  <a:srgbClr val="64748B"/>
                </a:solidFill>
              </a:rPr>
              <a:t> </a:t>
            </a:r>
            <a:r>
              <a:rPr sz="1400" b="0" i="0" dirty="0" err="1">
                <a:solidFill>
                  <a:srgbClr val="64748B"/>
                </a:solidFill>
              </a:rPr>
              <a:t>tombol</a:t>
            </a:r>
            <a:r>
              <a:rPr sz="1400" b="0" i="0" dirty="0">
                <a:solidFill>
                  <a:srgbClr val="64748B"/>
                </a:solidFill>
              </a:rPr>
              <a:t> Confirm </a:t>
            </a:r>
            <a:r>
              <a:rPr sz="1400" b="0" i="0" dirty="0" err="1">
                <a:solidFill>
                  <a:srgbClr val="64748B"/>
                </a:solidFill>
              </a:rPr>
              <a:t>Putaway</a:t>
            </a:r>
            <a:r>
              <a:rPr sz="1400" b="0" i="0" dirty="0">
                <a:solidFill>
                  <a:srgbClr val="64748B"/>
                </a:solidFill>
              </a:rPr>
              <a:t>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B2A5B"/>
                </a:solidFill>
              </a:rPr>
              <a:t>BA:</a:t>
            </a:r>
            <a:r>
              <a:rPr sz="1400" b="0" i="0" dirty="0">
                <a:solidFill>
                  <a:srgbClr val="1E293B"/>
                </a:solidFill>
              </a:rPr>
              <a:t>  “</a:t>
            </a:r>
            <a:r>
              <a:rPr sz="1400" b="0" i="0" dirty="0" err="1">
                <a:solidFill>
                  <a:srgbClr val="1E293B"/>
                </a:solidFill>
              </a:rPr>
              <a:t>Sistem</a:t>
            </a:r>
            <a:r>
              <a:rPr sz="1400" b="0" i="0" dirty="0">
                <a:solidFill>
                  <a:srgbClr val="1E293B"/>
                </a:solidFill>
              </a:rPr>
              <a:t> </a:t>
            </a:r>
            <a:r>
              <a:rPr sz="1400" b="0" i="0" dirty="0" err="1">
                <a:solidFill>
                  <a:srgbClr val="1E293B"/>
                </a:solidFill>
              </a:rPr>
              <a:t>wajib</a:t>
            </a:r>
            <a:r>
              <a:rPr sz="1400" b="0" i="0" dirty="0">
                <a:solidFill>
                  <a:srgbClr val="1E293B"/>
                </a:solidFill>
              </a:rPr>
              <a:t> </a:t>
            </a:r>
            <a:r>
              <a:rPr sz="1400" b="0" i="0" dirty="0" err="1">
                <a:solidFill>
                  <a:srgbClr val="1E293B"/>
                </a:solidFill>
              </a:rPr>
              <a:t>memverifikasi</a:t>
            </a:r>
            <a:r>
              <a:rPr sz="1400" b="0" i="0" dirty="0">
                <a:solidFill>
                  <a:srgbClr val="1E293B"/>
                </a:solidFill>
              </a:rPr>
              <a:t> </a:t>
            </a:r>
            <a:r>
              <a:rPr sz="1400" b="0" i="0" dirty="0" err="1">
                <a:solidFill>
                  <a:srgbClr val="1E293B"/>
                </a:solidFill>
              </a:rPr>
              <a:t>berat</a:t>
            </a:r>
            <a:r>
              <a:rPr sz="1400" b="0" i="0" dirty="0">
                <a:solidFill>
                  <a:srgbClr val="1E293B"/>
                </a:solidFill>
              </a:rPr>
              <a:t> </a:t>
            </a:r>
            <a:r>
              <a:rPr sz="1400" b="0" i="0" dirty="0" err="1">
                <a:solidFill>
                  <a:srgbClr val="1E293B"/>
                </a:solidFill>
              </a:rPr>
              <a:t>barang</a:t>
            </a:r>
            <a:r>
              <a:rPr sz="1400" b="0" i="0" dirty="0">
                <a:solidFill>
                  <a:srgbClr val="1E293B"/>
                </a:solidFill>
              </a:rPr>
              <a:t> ≤ </a:t>
            </a:r>
            <a:r>
              <a:rPr sz="1400" b="0" i="0" dirty="0" err="1">
                <a:solidFill>
                  <a:srgbClr val="1E293B"/>
                </a:solidFill>
              </a:rPr>
              <a:t>kapasitas</a:t>
            </a:r>
            <a:r>
              <a:rPr sz="1400" b="0" i="0" dirty="0">
                <a:solidFill>
                  <a:srgbClr val="1E293B"/>
                </a:solidFill>
              </a:rPr>
              <a:t> </a:t>
            </a:r>
            <a:r>
              <a:rPr sz="1400" b="0" i="0" dirty="0" err="1">
                <a:solidFill>
                  <a:srgbClr val="1E293B"/>
                </a:solidFill>
              </a:rPr>
              <a:t>maksimum</a:t>
            </a:r>
            <a:r>
              <a:rPr sz="1400" b="0" i="0" dirty="0">
                <a:solidFill>
                  <a:srgbClr val="1E293B"/>
                </a:solidFill>
              </a:rPr>
              <a:t> </a:t>
            </a:r>
            <a:r>
              <a:rPr sz="1400" b="0" i="0" dirty="0" err="1">
                <a:solidFill>
                  <a:srgbClr val="1E293B"/>
                </a:solidFill>
              </a:rPr>
              <a:t>rak</a:t>
            </a:r>
            <a:r>
              <a:rPr sz="1400" b="0" i="0" dirty="0">
                <a:solidFill>
                  <a:srgbClr val="1E293B"/>
                </a:solidFill>
              </a:rPr>
              <a:t> </a:t>
            </a:r>
            <a:r>
              <a:rPr sz="1400" b="0" i="0" dirty="0" err="1">
                <a:solidFill>
                  <a:srgbClr val="1E293B"/>
                </a:solidFill>
              </a:rPr>
              <a:t>sebelum</a:t>
            </a:r>
            <a:r>
              <a:rPr sz="1400" b="0" i="0" dirty="0">
                <a:solidFill>
                  <a:srgbClr val="1E293B"/>
                </a:solidFill>
              </a:rPr>
              <a:t> status </a:t>
            </a:r>
            <a:r>
              <a:rPr sz="1400" b="0" i="0" dirty="0" err="1">
                <a:solidFill>
                  <a:srgbClr val="1E293B"/>
                </a:solidFill>
              </a:rPr>
              <a:t>lokasi</a:t>
            </a:r>
            <a:r>
              <a:rPr sz="1400" b="0" i="0" dirty="0">
                <a:solidFill>
                  <a:srgbClr val="1E293B"/>
                </a:solidFill>
              </a:rPr>
              <a:t> </a:t>
            </a:r>
            <a:r>
              <a:rPr sz="1400" b="0" i="0" dirty="0" err="1">
                <a:solidFill>
                  <a:srgbClr val="1E293B"/>
                </a:solidFill>
              </a:rPr>
              <a:t>diperbarui</a:t>
            </a:r>
            <a:r>
              <a:rPr sz="1400" b="0" i="0" dirty="0">
                <a:solidFill>
                  <a:srgbClr val="1E293B"/>
                </a:solidFill>
              </a:rPr>
              <a:t> di database.”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Rumus 3 Langkah Analisis 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Setiap fitur diubah menjadi spesifikasi bisnis secara berurutan</a:t>
            </a:r>
          </a:p>
        </p:txBody>
      </p:sp>
      <p:sp>
        <p:nvSpPr>
          <p:cNvPr id="4" name="Pentagon 3"/>
          <p:cNvSpPr/>
          <p:nvPr/>
        </p:nvSpPr>
        <p:spPr>
          <a:xfrm>
            <a:off x="2103120" y="1874519"/>
            <a:ext cx="3246120" cy="640080"/>
          </a:xfrm>
          <a:prstGeom prst="homePlate">
            <a:avLst/>
          </a:prstGeom>
          <a:solidFill>
            <a:srgbClr val="1B6FD8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1  FITUR / EVENT 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78608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64748B"/>
                </a:solidFill>
              </a:rPr>
              <a:t>Tombol</a:t>
            </a:r>
            <a:r>
              <a:rPr sz="1200" b="0" i="0" dirty="0">
                <a:solidFill>
                  <a:srgbClr val="64748B"/>
                </a:solidFill>
              </a:rPr>
              <a:t> UI, </a:t>
            </a:r>
            <a:r>
              <a:rPr sz="1200" b="0" i="0" dirty="0" err="1">
                <a:solidFill>
                  <a:srgbClr val="64748B"/>
                </a:solidFill>
              </a:rPr>
              <a:t>pindaian</a:t>
            </a:r>
            <a:r>
              <a:rPr sz="1200" b="0" i="0" dirty="0">
                <a:solidFill>
                  <a:srgbClr val="64748B"/>
                </a:solidFill>
              </a:rPr>
              <a:t> sensor RFID, </a:t>
            </a:r>
            <a:r>
              <a:rPr sz="1200" b="0" i="0" dirty="0" err="1">
                <a:solidFill>
                  <a:srgbClr val="64748B"/>
                </a:solidFill>
              </a:rPr>
              <a:t>atau</a:t>
            </a:r>
            <a:r>
              <a:rPr sz="1200" b="0" i="0" dirty="0">
                <a:solidFill>
                  <a:srgbClr val="64748B"/>
                </a:solidFill>
              </a:rPr>
              <a:t> trigger </a:t>
            </a:r>
            <a:r>
              <a:rPr sz="1200" b="0" i="0" dirty="0" err="1">
                <a:solidFill>
                  <a:srgbClr val="64748B"/>
                </a:solidFill>
              </a:rPr>
              <a:t>waktu</a:t>
            </a:r>
            <a:r>
              <a:rPr sz="1200" b="0" i="0" dirty="0">
                <a:solidFill>
                  <a:srgbClr val="64748B"/>
                </a:solidFill>
              </a:rPr>
              <a:t> </a:t>
            </a:r>
            <a:r>
              <a:rPr sz="1200" b="0" i="0" dirty="0" err="1">
                <a:solidFill>
                  <a:srgbClr val="64748B"/>
                </a:solidFill>
              </a:rPr>
              <a:t>terjadwal</a:t>
            </a:r>
            <a:endParaRPr sz="1200" b="0" i="0" dirty="0">
              <a:solidFill>
                <a:srgbClr val="64748B"/>
              </a:solidFill>
            </a:endParaRPr>
          </a:p>
        </p:txBody>
      </p:sp>
      <p:sp>
        <p:nvSpPr>
          <p:cNvPr id="6" name="Chevron 5"/>
          <p:cNvSpPr/>
          <p:nvPr/>
        </p:nvSpPr>
        <p:spPr>
          <a:xfrm>
            <a:off x="5303520" y="1874519"/>
            <a:ext cx="3246120" cy="640080"/>
          </a:xfrm>
          <a:prstGeom prst="chevron">
            <a:avLst/>
          </a:prstGeom>
          <a:solidFill>
            <a:srgbClr val="0B2A5B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2  VALIDASI BUSINESS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2578608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Logika matematis, batas hukum (SOLAS VGM, UU LLAJ), ambang toleransi, IF-THEN-ELSE</a:t>
            </a:r>
          </a:p>
        </p:txBody>
      </p:sp>
      <p:sp>
        <p:nvSpPr>
          <p:cNvPr id="8" name="Chevron 7"/>
          <p:cNvSpPr/>
          <p:nvPr/>
        </p:nvSpPr>
        <p:spPr>
          <a:xfrm>
            <a:off x="8503920" y="1874519"/>
            <a:ext cx="3246120" cy="640080"/>
          </a:xfrm>
          <a:prstGeom prst="chevron">
            <a:avLst/>
          </a:prstGeom>
          <a:solidFill>
            <a:srgbClr val="0E8A9A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3  DAMPAK &amp; PEMBARUAN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578608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Status database, aksi hardware (palang buka/kunci), dan cetak dokumen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8328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Kasus 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Putaway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33832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79" y="342900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Tombol </a:t>
            </a:r>
            <a:r>
              <a:rPr sz="1200" b="1" i="0">
                <a:solidFill>
                  <a:srgbClr val="1B6FD8"/>
                </a:solidFill>
              </a:rPr>
              <a:t>‘Confirm Putaway’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33832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40680" y="342900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Berat palet </a:t>
            </a:r>
            <a:r>
              <a:rPr sz="1200" b="1" i="0">
                <a:solidFill>
                  <a:srgbClr val="1B6FD8"/>
                </a:solidFill>
              </a:rPr>
              <a:t>≤ 1.500 kg/level</a:t>
            </a:r>
            <a:r>
              <a:rPr sz="1200" b="0" i="0">
                <a:solidFill>
                  <a:srgbClr val="1E293B"/>
                </a:solidFill>
              </a:rPr>
              <a:t> dan tinggi palet </a:t>
            </a:r>
            <a:r>
              <a:rPr sz="1200" b="1" i="0">
                <a:solidFill>
                  <a:srgbClr val="1B6FD8"/>
                </a:solidFill>
              </a:rPr>
              <a:t>≤ 1,6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3832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342900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Lolos → rak </a:t>
            </a:r>
            <a:r>
              <a:rPr sz="1200" b="1" i="0">
                <a:solidFill>
                  <a:srgbClr val="1B6FD8"/>
                </a:solidFill>
              </a:rPr>
              <a:t>OCCUPIED</a:t>
            </a:r>
            <a:r>
              <a:rPr sz="1200" b="0" i="0">
                <a:solidFill>
                  <a:srgbClr val="1E293B"/>
                </a:solidFill>
              </a:rPr>
              <a:t>. Gagal → rak ditolak, dicarikan bin alternatif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8056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Kasus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Timbangan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448056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40279" y="452628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Sensor loop </a:t>
            </a:r>
            <a:r>
              <a:rPr sz="1200" b="1" i="0">
                <a:solidFill>
                  <a:srgbClr val="1B6FD8"/>
                </a:solidFill>
              </a:rPr>
              <a:t>jembatan timbang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448056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452628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Gross weight </a:t>
            </a:r>
            <a:r>
              <a:rPr sz="1200" b="1" i="0">
                <a:solidFill>
                  <a:srgbClr val="1B6FD8"/>
                </a:solidFill>
              </a:rPr>
              <a:t>≤ 34.000 kg</a:t>
            </a:r>
            <a:r>
              <a:rPr sz="1200" b="0" i="0">
                <a:solidFill>
                  <a:srgbClr val="1E293B"/>
                </a:solidFill>
              </a:rPr>
              <a:t> dan toleransi </a:t>
            </a:r>
            <a:r>
              <a:rPr sz="1200" b="1" i="0">
                <a:solidFill>
                  <a:srgbClr val="1B6FD8"/>
                </a:solidFill>
              </a:rPr>
              <a:t>±2%</a:t>
            </a:r>
            <a:r>
              <a:rPr sz="1200" b="0" i="0">
                <a:solidFill>
                  <a:srgbClr val="1E293B"/>
                </a:solidFill>
              </a:rPr>
              <a:t> vs VGM SOLAS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48056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452628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Lolos → palang buka, </a:t>
            </a:r>
            <a:r>
              <a:rPr sz="1200" b="1" i="0">
                <a:solidFill>
                  <a:srgbClr val="1B6FD8"/>
                </a:solidFill>
              </a:rPr>
              <a:t>APPROVED</a:t>
            </a:r>
            <a:r>
              <a:rPr sz="1200" b="0" i="0">
                <a:solidFill>
                  <a:srgbClr val="1E293B"/>
                </a:solidFill>
              </a:rPr>
              <a:t>. Gagal → palang lock, </a:t>
            </a:r>
            <a:r>
              <a:rPr sz="1200" b="1" i="0">
                <a:solidFill>
                  <a:srgbClr val="1B6FD8"/>
                </a:solidFill>
              </a:rPr>
              <a:t>REJECTED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Matriks Alokasi Alat per Tahapan Operasi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Siapa yang menimbang, siapa yang mengangkat, dan barangnya apa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pages/alat.php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103120" cy="3657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2039112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11679"/>
            <a:ext cx="1325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5B"/>
                </a:solidFill>
              </a:rPr>
              <a:t>Gerbang Masuk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7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BARANG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Semua muatan truk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290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TIMBANG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6118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Pitless 80 T · &lt; 3 detik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ANGKAT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3434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Belum diangkat (di trailer)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965192"/>
            <a:ext cx="1773936" cy="36576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WCS + YMS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0350" y="1874519"/>
            <a:ext cx="2103120" cy="3657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37510" y="2039112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6150" y="2011679"/>
            <a:ext cx="1325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5B"/>
                </a:solidFill>
              </a:rPr>
              <a:t>Yard Stacking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4942" y="269747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BARANG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4942" y="28803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Kontainer 40ft laden (20–32 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4942" y="34290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TIMBANG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4942" y="36118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Data gate + VGM SOLAS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4942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ANGKAT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4942" y="43434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RTG / Reach Stacker 45 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64942" y="4965192"/>
            <a:ext cx="1773936" cy="36576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YMS + WCS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52059" y="1874519"/>
            <a:ext cx="2103120" cy="3657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189220" y="2039112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7859" y="2011679"/>
            <a:ext cx="1325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5B"/>
                </a:solidFill>
              </a:rPr>
              <a:t>Empty Stacking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6651" y="269747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BARANG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6651" y="28803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20/40ft kosong (2,2–3,8 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6651" y="34290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TIMBANG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6651" y="36118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Tare verification di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6651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ANGKAT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6651" y="43434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ECH 10 T · tier 6–8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6651" y="4965192"/>
            <a:ext cx="1773936" cy="36576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YMS + WCS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03769" y="1874519"/>
            <a:ext cx="2103120" cy="3657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440929" y="2039112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9569" y="2011679"/>
            <a:ext cx="1325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5B"/>
                </a:solidFill>
              </a:rPr>
              <a:t>Gudang CFS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8361" y="269747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BARANG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68361" y="28803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LCL, palet, kargo curah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8361" y="34290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TIMBANG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8361" y="36118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Timbangan palet &amp; DWS ±2%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68361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ANGKAT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68361" y="43434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Forklift 3–5 T / Reach Truck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68361" y="4965192"/>
            <a:ext cx="1773936" cy="36576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WMS + WCS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55480" y="1874519"/>
            <a:ext cx="2103120" cy="3657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692640" y="2039112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2011679"/>
            <a:ext cx="1325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5B"/>
                </a:solidFill>
              </a:rPr>
              <a:t>Rel Siding 600 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20072" y="269747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BARANG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20072" y="28803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Kontainer 20ft &amp; 40ft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0072" y="34290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TIMBANG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20072" y="36118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Rail WIM · maks 15 T/gandar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20072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ANGKAT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0072" y="43434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RMG 45 T / Reach Stacker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20072" y="4965192"/>
            <a:ext cx="1773936" cy="36576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TMS + YMS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Flowchart 1: Master End-to-End Terminal CIDP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pages/simulator.php</a:t>
            </a:r>
          </a:p>
        </p:txBody>
      </p:sp>
      <p:sp>
        <p:nvSpPr>
          <p:cNvPr id="5" name="Terminator 4"/>
          <p:cNvSpPr/>
          <p:nvPr/>
        </p:nvSpPr>
        <p:spPr>
          <a:xfrm>
            <a:off x="548640" y="2532888"/>
            <a:ext cx="1371600" cy="685800"/>
          </a:xfrm>
          <a:prstGeom prst="flowChartTerminator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START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</a:rPr>
              <a:t>Truk tiba di gate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2875788"/>
            <a:ext cx="32004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2240280" y="242316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246888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Sensor WCS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Gross, tare, VGM, ANPR &amp; OCR ISO 6346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2875788"/>
            <a:ext cx="36576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10" name="Decision 9"/>
          <p:cNvSpPr/>
          <p:nvPr/>
        </p:nvSpPr>
        <p:spPr>
          <a:xfrm>
            <a:off x="4434840" y="2194560"/>
            <a:ext cx="2286000" cy="137160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Lulus validasi timbang?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0840" y="2875788"/>
            <a:ext cx="68580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6766560" y="260604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A34A"/>
                </a:solidFill>
              </a:rPr>
              <a:t>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2316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Gate-in APPROVED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Palang buka, cetak CMS ber-QR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0" y="2875788"/>
            <a:ext cx="32004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9464040" y="178308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RUTE SESUAI JENIS MUATAN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2011680"/>
            <a:ext cx="2194560" cy="384048"/>
          </a:xfrm>
          <a:prstGeom prst="roundRect">
            <a:avLst>
              <a:gd name="adj" fmla="val 45454"/>
            </a:avLst>
          </a:prstGeom>
          <a:solidFill>
            <a:srgbClr val="1B6FD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FCL Kering → Blok A/B/C/D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2468880"/>
            <a:ext cx="2194560" cy="384048"/>
          </a:xfrm>
          <a:prstGeom prst="roundRect">
            <a:avLst>
              <a:gd name="adj" fmla="val 45454"/>
            </a:avLst>
          </a:prstGeom>
          <a:solidFill>
            <a:srgbClr val="0E8A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Reefer → Blok E (380 V)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926080"/>
            <a:ext cx="2194560" cy="384048"/>
          </a:xfrm>
          <a:prstGeom prst="roundRect">
            <a:avLst>
              <a:gd name="adj" fmla="val 45454"/>
            </a:avLst>
          </a:prstGeom>
          <a:solidFill>
            <a:srgbClr val="0B2A5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LCL → Gudang CFS D1–D5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3383280"/>
            <a:ext cx="2194560" cy="384048"/>
          </a:xfrm>
          <a:prstGeom prst="roundRect">
            <a:avLst>
              <a:gd name="adj" fmla="val 45454"/>
            </a:avLst>
          </a:prstGeom>
          <a:solidFill>
            <a:srgbClr val="D97706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HazMat B3 → Blok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840480"/>
            <a:ext cx="2194560" cy="384048"/>
          </a:xfrm>
          <a:prstGeom prst="roundRect">
            <a:avLst>
              <a:gd name="adj" fmla="val 45454"/>
            </a:avLst>
          </a:prstGeom>
          <a:solidFill>
            <a:srgbClr val="DC2626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Jalur merah → Behandle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77840" y="3566160"/>
            <a:ext cx="0" cy="77724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5669280" y="3749039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</a:rPr>
              <a:t>TIDAK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34340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5875">
            <a:solidFill>
              <a:srgbClr val="DC2626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Reject Lane / Holding Bay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Palang terkunci, alarm, OVERLOAD_REJECTED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20840" y="4777740"/>
            <a:ext cx="411480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7132320" y="4343400"/>
            <a:ext cx="201168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0" y="43891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Investigasi Supervisor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Rekoreksi dokumen atau U-turn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0" y="4777740"/>
            <a:ext cx="320040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8" name="Terminator 27"/>
          <p:cNvSpPr/>
          <p:nvPr/>
        </p:nvSpPr>
        <p:spPr>
          <a:xfrm>
            <a:off x="9464040" y="4507992"/>
            <a:ext cx="2194560" cy="548640"/>
          </a:xfrm>
          <a:prstGeom prst="flowChartTerminator">
            <a:avLst/>
          </a:prstGeom>
          <a:solidFill>
            <a:srgbClr val="DC2626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</a:rPr>
              <a:t>END · Truk keluar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34340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25880" y="4389120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LEGENDA</a:t>
            </a:r>
          </a:p>
        </p:txBody>
      </p:sp>
      <p:sp>
        <p:nvSpPr>
          <p:cNvPr id="31" name="Terminator 30"/>
          <p:cNvSpPr/>
          <p:nvPr/>
        </p:nvSpPr>
        <p:spPr>
          <a:xfrm>
            <a:off x="1325880" y="4663440"/>
            <a:ext cx="457200" cy="228600"/>
          </a:xfrm>
          <a:prstGeom prst="flowChartTerminator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74519" y="46451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</a:rPr>
              <a:t>Terminator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4663440"/>
            <a:ext cx="4572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B6F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37560" y="46451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</a:rPr>
              <a:t>Proses</a:t>
            </a:r>
          </a:p>
        </p:txBody>
      </p:sp>
      <p:sp>
        <p:nvSpPr>
          <p:cNvPr id="35" name="Decision 34"/>
          <p:cNvSpPr/>
          <p:nvPr/>
        </p:nvSpPr>
        <p:spPr>
          <a:xfrm>
            <a:off x="1325880" y="5029200"/>
            <a:ext cx="457200" cy="274320"/>
          </a:xfrm>
          <a:prstGeom prst="flowChartDecision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74519" y="5029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</a:rPr>
              <a:t>Keputusan</a:t>
            </a:r>
          </a:p>
        </p:txBody>
      </p:sp>
      <p:sp>
        <p:nvSpPr>
          <p:cNvPr id="37" name="Oval 36"/>
          <p:cNvSpPr/>
          <p:nvPr/>
        </p:nvSpPr>
        <p:spPr>
          <a:xfrm>
            <a:off x="2788920" y="5074920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017520" y="5074920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5029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</a:rPr>
              <a:t>Ya / Tidak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Flowchart 2: Keputusan Timbangan Gate-In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pages/gate.php</a:t>
            </a:r>
          </a:p>
        </p:txBody>
      </p:sp>
      <p:sp>
        <p:nvSpPr>
          <p:cNvPr id="5" name="Terminator 4"/>
          <p:cNvSpPr/>
          <p:nvPr/>
        </p:nvSpPr>
        <p:spPr>
          <a:xfrm>
            <a:off x="548640" y="2468879"/>
            <a:ext cx="1097280" cy="640080"/>
          </a:xfrm>
          <a:prstGeom prst="flowChartTerminator">
            <a:avLst/>
          </a:prstGeom>
          <a:solidFill>
            <a:srgbClr val="0B2A5B"/>
          </a:solidFill>
          <a:ln>
            <a:noFill/>
          </a:ln>
        </p:spPr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</a:rPr>
              <a:t>START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</a:rPr>
              <a:t>Truk naik timbangan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0" y="2788920"/>
            <a:ext cx="27432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1920240" y="233172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2377439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Sensor WCS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Baca gross, tare &amp; VGM (&lt; 3 dtk)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2788920"/>
            <a:ext cx="274319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3749039" y="1783080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ATURAN 1 · BERAT</a:t>
            </a:r>
          </a:p>
        </p:txBody>
      </p:sp>
      <p:sp>
        <p:nvSpPr>
          <p:cNvPr id="11" name="Decision 10"/>
          <p:cNvSpPr/>
          <p:nvPr/>
        </p:nvSpPr>
        <p:spPr>
          <a:xfrm>
            <a:off x="3749039" y="2011680"/>
            <a:ext cx="1691640" cy="155448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Gross ≤ 34.000 kg?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94859" y="3566160"/>
            <a:ext cx="0" cy="50292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4668012" y="368503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2626"/>
                </a:solidFill>
              </a:rPr>
              <a:t>Tidak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40679" y="2788920"/>
            <a:ext cx="274321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5440679" y="251460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</a:rPr>
              <a:t>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1783080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ATURAN 2 · TOLERANSI</a:t>
            </a:r>
          </a:p>
        </p:txBody>
      </p:sp>
      <p:sp>
        <p:nvSpPr>
          <p:cNvPr id="17" name="Decision 16"/>
          <p:cNvSpPr/>
          <p:nvPr/>
        </p:nvSpPr>
        <p:spPr>
          <a:xfrm>
            <a:off x="5715000" y="2011680"/>
            <a:ext cx="1691640" cy="155448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Selisih ≤ ±2% vs VGM?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60820" y="3566160"/>
            <a:ext cx="0" cy="50292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6633972" y="368503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2626"/>
                </a:solidFill>
              </a:rPr>
              <a:t>Tidak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06640" y="2788920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7406640" y="251460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</a:rPr>
              <a:t>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1783080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ATURAN 3 · ISO 6346</a:t>
            </a:r>
          </a:p>
        </p:txBody>
      </p:sp>
      <p:sp>
        <p:nvSpPr>
          <p:cNvPr id="23" name="Decision 22"/>
          <p:cNvSpPr/>
          <p:nvPr/>
        </p:nvSpPr>
        <p:spPr>
          <a:xfrm>
            <a:off x="7680960" y="2011680"/>
            <a:ext cx="1691640" cy="155448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Check digit ISO 6346 valid?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26780" y="3566160"/>
            <a:ext cx="0" cy="50292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8599932" y="368503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2626"/>
                </a:solidFill>
              </a:rPr>
              <a:t>Tidak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72600" y="2788920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9372600" y="251460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</a:rPr>
              <a:t>Ya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1874519"/>
            <a:ext cx="2011680" cy="3611880"/>
          </a:xfrm>
          <a:prstGeom prst="roundRect">
            <a:avLst>
              <a:gd name="adj" fmla="val 5454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84080" y="2011680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07" y="2121408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332720" y="201168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LULUS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60604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sz="1100" b="0" i="0">
                <a:solidFill>
                  <a:srgbClr val="1E293B"/>
                </a:solidFill>
              </a:rPr>
              <a:t>Palang buka, lampu hijau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sz="1100" b="0" i="0">
                <a:solidFill>
                  <a:srgbClr val="1E293B"/>
                </a:solidFill>
              </a:rPr>
              <a:t>Status GATE_IN_APPROVED</a:t>
            </a:r>
          </a:p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Font typeface="Arial"/>
              <a:buChar char="•"/>
            </a:pPr>
            <a:r>
              <a:rPr sz="1100" b="0" i="0">
                <a:solidFill>
                  <a:srgbClr val="1E293B"/>
                </a:solidFill>
              </a:rPr>
              <a:t>Cetak CMS ber-QR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65760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TUJUAN SESUAI MUATAN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886200"/>
            <a:ext cx="1783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</a:rPr>
              <a:t>FCL → Blok A–D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</a:rPr>
              <a:t>Reefer → Blok 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</a:rPr>
              <a:t>LCL → CFS D1–D5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</a:rPr>
              <a:t>HazMat → Blok 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</a:rPr>
              <a:t>Jalur merah → Behandle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4069080"/>
            <a:ext cx="5623560" cy="1417320"/>
          </a:xfrm>
          <a:prstGeom prst="roundRect">
            <a:avLst>
              <a:gd name="adj" fmla="val 7741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886200" y="4187952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FaTi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982" y="4275734"/>
            <a:ext cx="190195" cy="19019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389120" y="418795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JIKA TIDAK LULUS → REJECT LANE / HOLDING BAY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6200" y="4754880"/>
            <a:ext cx="1298448" cy="566928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</a:rPr>
              <a:t>Palang tetap terkunci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4754880"/>
            <a:ext cx="1298448" cy="566928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</a:rPr>
              <a:t>Alarm &amp; lampu merah aktif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29400" y="4754880"/>
            <a:ext cx="1298448" cy="566928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</a:rPr>
              <a:t>Status REJECTED / HOLD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01000" y="4754880"/>
            <a:ext cx="1298448" cy="566928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</a:rPr>
              <a:t>Supervisor: rekoreksi / U-turn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Business Rule 1: Validasi Timbangan Gate-In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Parameter masukan, formula validasi, dan keputusan Ya / Tidak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pages/gate.php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2194560"/>
            <a:ext cx="502920" cy="50292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WeightHang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" y="231526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201168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2A5B"/>
                </a:solidFill>
              </a:rPr>
              <a:t>34.000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8716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Batas berat kotor · UU No. 22/2009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009" y="1874519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32601" y="2194560"/>
            <a:ext cx="502920" cy="5029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Balance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302" y="2315260"/>
            <a:ext cx="261518" cy="2615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0969" y="201168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2A5B"/>
                </a:solidFill>
              </a:rPr>
              <a:t>± 2,0%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69" y="248716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Toleransi vs manifest VGM SOLAS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379" y="1874519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51971" y="2194560"/>
            <a:ext cx="502920" cy="50292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671" y="2315260"/>
            <a:ext cx="261518" cy="2615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10339" y="201168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2A5B"/>
                </a:solidFill>
              </a:rPr>
              <a:t>&lt; 3 detik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339" y="248716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Waktu baca timbangan 80 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748" y="1874519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71340" y="2194560"/>
            <a:ext cx="502920" cy="5029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Bar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2041" y="2315260"/>
            <a:ext cx="261518" cy="26151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29708" y="201168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2A5B"/>
                </a:solidFill>
              </a:rPr>
              <a:t>Modulo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708" y="248716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Check digit ISO 6346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Parameter Masukan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200" b="1" i="0">
                <a:solidFill>
                  <a:srgbClr val="1B6FD8"/>
                </a:solidFill>
              </a:rPr>
              <a:t>Gross Weight</a:t>
            </a:r>
            <a:r>
              <a:rPr sz="1200" b="0" i="0">
                <a:solidFill>
                  <a:srgbClr val="1E293B"/>
                </a:solidFill>
              </a:rPr>
              <a:t> — timbangan WCS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200" b="1" i="0">
                <a:solidFill>
                  <a:srgbClr val="1B6FD8"/>
                </a:solidFill>
              </a:rPr>
              <a:t>Tare Weight</a:t>
            </a:r>
            <a:r>
              <a:rPr sz="1200" b="0" i="0">
                <a:solidFill>
                  <a:srgbClr val="1E293B"/>
                </a:solidFill>
              </a:rPr>
              <a:t> — master data ERP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200" b="1" i="0">
                <a:solidFill>
                  <a:srgbClr val="1B6FD8"/>
                </a:solidFill>
              </a:rPr>
              <a:t>VGM SOLAS</a:t>
            </a:r>
            <a:r>
              <a:rPr sz="1200" b="0" i="0">
                <a:solidFill>
                  <a:srgbClr val="1E293B"/>
                </a:solidFill>
              </a:rPr>
              <a:t> — dokumen pengirim</a:t>
            </a:r>
          </a:p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1B6FD8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Hardware: load cell Avery, ANPR &amp; OCR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37760"/>
            <a:ext cx="3017520" cy="384048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Net Weight = Gross Weight − Tare Weight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3200400"/>
            <a:ext cx="3749039" cy="2286000"/>
          </a:xfrm>
          <a:prstGeom prst="roundRect">
            <a:avLst>
              <a:gd name="adj" fmla="val 48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251960" y="331012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0715" y="3408883"/>
            <a:ext cx="213969" cy="21396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54880" y="331012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A5B"/>
                </a:solidFill>
              </a:rPr>
              <a:t>Jika LULUS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840480"/>
            <a:ext cx="34290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Palang terbuka, lampu hijau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Status </a:t>
            </a:r>
            <a:r>
              <a:rPr sz="1200" b="1" i="0">
                <a:solidFill>
                  <a:srgbClr val="0B2A5B"/>
                </a:solidFill>
              </a:rPr>
              <a:t>GATE_IN_APPROVED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Kiosk cetak CMS ber-QR Code</a:t>
            </a:r>
          </a:p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FCL → Yard A–D · Reefer → E · LCL → CFS · HazMat → F · Jalur merah → Behandle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20040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83879" y="3310128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FaTim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2635" y="3408883"/>
            <a:ext cx="213969" cy="21396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86800" y="3310128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A5B"/>
                </a:solidFill>
              </a:rPr>
              <a:t>Jika TIDAK LULUS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840480"/>
            <a:ext cx="33375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DC2626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Palang terkunci, sirine &amp; lampu merah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DC2626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Status </a:t>
            </a:r>
            <a:r>
              <a:rPr sz="1200" b="1" i="0">
                <a:solidFill>
                  <a:srgbClr val="0B2A5B"/>
                </a:solidFill>
              </a:rPr>
              <a:t>OVERLOAD_REJECTED / HOLD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DC2626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Dilarang masuk yard (cegah jalan amblas)</a:t>
            </a:r>
          </a:p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Reject Lane → investigasi supervisor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Flowchart 3: Pengangkatan &amp; Stacking Kontainer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YMS + WCS — alat pengangkat dan penempatan sesuai jenis muatan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pages/yard.php</a:t>
            </a:r>
          </a:p>
        </p:txBody>
      </p:sp>
      <p:sp>
        <p:nvSpPr>
          <p:cNvPr id="5" name="Terminator 4"/>
          <p:cNvSpPr/>
          <p:nvPr/>
        </p:nvSpPr>
        <p:spPr>
          <a:xfrm>
            <a:off x="548640" y="3538728"/>
            <a:ext cx="1143000" cy="594360"/>
          </a:xfrm>
          <a:prstGeom prst="flowChartTerminator">
            <a:avLst/>
          </a:prstGeom>
          <a:solidFill>
            <a:srgbClr val="0B2A5B"/>
          </a:solidFill>
          <a:ln>
            <a:noFill/>
          </a:ln>
        </p:spPr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</a:rPr>
              <a:t>START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</a:rPr>
              <a:t>Peti kemas masuk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91640" y="3835908"/>
            <a:ext cx="32004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7" name="Decision 6"/>
          <p:cNvSpPr/>
          <p:nvPr/>
        </p:nvSpPr>
        <p:spPr>
          <a:xfrm>
            <a:off x="2011680" y="2944368"/>
            <a:ext cx="1828800" cy="178308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Jenis &amp; spesifikasi peti kemas?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3835908"/>
            <a:ext cx="228600" cy="0"/>
          </a:xfrm>
          <a:prstGeom prst="line">
            <a:avLst/>
          </a:prstGeom>
          <a:ln w="22225">
            <a:solidFill>
              <a:srgbClr val="1B6FD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4069080" y="2491739"/>
            <a:ext cx="0" cy="2688337"/>
          </a:xfrm>
          <a:prstGeom prst="line">
            <a:avLst/>
          </a:prstGeom>
          <a:ln w="22225">
            <a:solidFill>
              <a:srgbClr val="1B6FD8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297680" y="18288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JENIS MUATAN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8288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ALAT &amp;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8288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PENEMPATAN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491739"/>
            <a:ext cx="22860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4297680" y="2103120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40 ft laden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Muatan penuh 20–32 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37960" y="2491739"/>
            <a:ext cx="27432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6812280" y="2103120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76288" y="2130551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RTG 45 T / Reach Stacker 45 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Operator SIO Kemnaker via VMT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0" y="2491739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9418320" y="2103120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Bay genap · Tier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Berat &gt; 24 T di tier bawah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69080" y="3387851"/>
            <a:ext cx="22860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4297680" y="2999232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20/40 ft kosong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Tara 2,2–3,8 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37960" y="3387851"/>
            <a:ext cx="27432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6812280" y="2999232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76288" y="3026663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Empty Container Handler 10 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Operator ECH berlisensi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3387851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9418320" y="2999232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Tier atas (hingga 6–8)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Disusun cepat oleh ECH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69080" y="4283964"/>
            <a:ext cx="22860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4297680" y="3895344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Kargo curah / palet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CFS: LCL, karton, suku cadang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37960" y="4283964"/>
            <a:ext cx="27432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6812280" y="3895344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76288" y="3922776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Forklift 3–5 T &amp; Reach Truck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Forklift driver &amp; tallyman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0" y="4283964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9418320" y="3895344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Rak CFS · Dock D1–D5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Aisle-Rack-Shelf-Bin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69080" y="5180076"/>
            <a:ext cx="22860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4297680" y="4791456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Kontainer intermodal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Rel siding KA 600 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37960" y="5180076"/>
            <a:ext cx="27432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37" name="Rounded Rectangle 36"/>
          <p:cNvSpPr/>
          <p:nvPr/>
        </p:nvSpPr>
        <p:spPr>
          <a:xfrm>
            <a:off x="6812280" y="4791456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76288" y="4818888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RMG Crane 45 T / Reach Stacker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Operator crane intermodal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0" y="5180076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40" name="Rounded Rectangle 39"/>
          <p:cNvSpPr/>
          <p:nvPr/>
        </p:nvSpPr>
        <p:spPr>
          <a:xfrm>
            <a:off x="9418320" y="4791456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Rel siding 600 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Target &lt; 4 menit / peti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Stacking Rules 3D: Bay – Row –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Alamat hierarki [Blok]-[Bay]-[Row]-[Tier] dan distribusi berat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pages/yard.php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03520" cy="3611880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Distribusi berat per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731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</a:rPr>
              <a:t>Tier 5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37744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&lt; 15 T / kosong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37744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&lt; 15 T / kosong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37744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&lt; 15 T / kosong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731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</a:rPr>
              <a:t>Tier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92608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&lt; 15 T / kosong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92608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&lt; 15 T / kosong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92608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&lt; 15 T / kosong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731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</a:rPr>
              <a:t>Tier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474720"/>
            <a:ext cx="1325880" cy="475488"/>
          </a:xfrm>
          <a:prstGeom prst="rect">
            <a:avLst/>
          </a:prstGeom>
          <a:solidFill>
            <a:srgbClr val="5A9BE8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15–24 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474720"/>
            <a:ext cx="1325880" cy="475488"/>
          </a:xfrm>
          <a:prstGeom prst="rect">
            <a:avLst/>
          </a:prstGeom>
          <a:solidFill>
            <a:srgbClr val="5A9BE8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15–24 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474720"/>
            <a:ext cx="1325880" cy="475488"/>
          </a:xfrm>
          <a:prstGeom prst="rect">
            <a:avLst/>
          </a:prstGeom>
          <a:solidFill>
            <a:srgbClr val="5A9BE8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15–24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731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</a:rPr>
              <a:t>Tier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402336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Laden &gt; 24 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02336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Laden &gt; 24 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402336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Laden &gt; 24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731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</a:rPr>
              <a:t>Tier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457200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</a:rPr>
              <a:t>Laden &gt; 24 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457200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Laden &gt; 24 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57200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Laden &gt; 24 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206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</a:rPr>
              <a:t>Pusat gravitasi rendah — cegah keruntuhan akibat tiupan angin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1874519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193852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Struktur alamat lokasi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331720"/>
            <a:ext cx="1051560" cy="457200"/>
          </a:xfrm>
          <a:prstGeom prst="roundRect">
            <a:avLst>
              <a:gd name="adj" fmla="val 45454"/>
            </a:avLst>
          </a:prstGeom>
          <a:solidFill>
            <a:srgbClr val="1B6FD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Blok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3317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4748B"/>
                </a:solidFill>
              </a:rPr>
              <a:t>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2331720"/>
            <a:ext cx="1051560" cy="457200"/>
          </a:xfrm>
          <a:prstGeom prst="roundRect">
            <a:avLst>
              <a:gd name="adj" fmla="val 45454"/>
            </a:avLst>
          </a:prstGeom>
          <a:solidFill>
            <a:srgbClr val="0B2A5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Bay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3317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4748B"/>
                </a:solidFill>
              </a:rPr>
              <a:t>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2331720"/>
            <a:ext cx="1051560" cy="457200"/>
          </a:xfrm>
          <a:prstGeom prst="roundRect">
            <a:avLst>
              <a:gd name="adj" fmla="val 45454"/>
            </a:avLst>
          </a:prstGeom>
          <a:solidFill>
            <a:srgbClr val="1B6FD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Row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3317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4748B"/>
                </a:solidFill>
              </a:rPr>
              <a:t>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78440" y="2331720"/>
            <a:ext cx="1051560" cy="457200"/>
          </a:xfrm>
          <a:prstGeom prst="roundRect">
            <a:avLst>
              <a:gd name="adj" fmla="val 45454"/>
            </a:avLst>
          </a:prstGeom>
          <a:solidFill>
            <a:srgbClr val="0B2A5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60" y="3108960"/>
            <a:ext cx="55778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317296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Aturan ukuran: Bay ganjil vs Bay genap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611880"/>
            <a:ext cx="640080" cy="292608"/>
          </a:xfrm>
          <a:prstGeom prst="rect">
            <a:avLst/>
          </a:prstGeom>
          <a:solidFill>
            <a:srgbClr val="1B6FD8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95160" y="3611880"/>
            <a:ext cx="640080" cy="292608"/>
          </a:xfrm>
          <a:prstGeom prst="rect">
            <a:avLst/>
          </a:prstGeom>
          <a:solidFill>
            <a:srgbClr val="1B6FD8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39502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Ganjil</a:t>
            </a:r>
            <a:r>
              <a:rPr sz="1100" b="0" i="0">
                <a:solidFill>
                  <a:srgbClr val="1E293B"/>
                </a:solidFill>
              </a:rPr>
              <a:t> (01, 03, 05…) = 2 × 20 ft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3611880"/>
            <a:ext cx="1325880" cy="292608"/>
          </a:xfrm>
          <a:prstGeom prst="rect">
            <a:avLst/>
          </a:prstGeom>
          <a:solidFill>
            <a:srgbClr val="0B2A5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52560" y="39502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A5B"/>
                </a:solidFill>
              </a:rPr>
              <a:t>Genap</a:t>
            </a:r>
            <a:r>
              <a:rPr sz="1100" b="0" i="0">
                <a:solidFill>
                  <a:srgbClr val="1E293B"/>
                </a:solidFill>
              </a:rPr>
              <a:t> (02, 06, 10…) = 1 × 40 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25196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</a:rPr>
              <a:t>Dilarang: 40 ft di atas dua 20 ft tanpa posisi seimbang / twistlock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4709160"/>
            <a:ext cx="2697480" cy="777240"/>
          </a:xfrm>
          <a:prstGeom prst="roundRect">
            <a:avLst>
              <a:gd name="adj" fmla="val 14117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0" y="4736592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Reefer → Blok 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Dekat colokan 380 V · maks Tier 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4709160"/>
            <a:ext cx="2697480" cy="777240"/>
          </a:xfrm>
          <a:prstGeom prst="roundRect">
            <a:avLst>
              <a:gd name="adj" fmla="val 14117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8280" y="4736592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HazMat B3 → Blok 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Jarak aman ≥ 50 m · tanggul penampung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WMS: Inbound, Inventory &amp; Cold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Fitur gudang CFS &amp; cold storage (Bab 2 &amp;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pages/cfs.php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566160" cy="365760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" y="2143353"/>
            <a:ext cx="285292" cy="285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19" y="20116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A5B"/>
                </a:solidFill>
              </a:rPr>
              <a:t>WMS Inbound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3317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Bab 2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ASN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Cocokkan PO dari ERP; kelebihan qty memicu Over-receipt Alert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2.2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Directed Putaway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319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Rak dipilih dari dimensi SKU, HazMat &amp; suhu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6177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2.3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57200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QC &amp; Quarantine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463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Stok otomatis Blocked sampai lolos inspeksi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540" y="1874519"/>
            <a:ext cx="3566160" cy="365760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03420" y="2011680"/>
            <a:ext cx="548640" cy="548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093" y="2143353"/>
            <a:ext cx="285292" cy="2852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89220" y="20116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A5B"/>
                </a:solidFill>
              </a:rPr>
              <a:t>WMS Inventory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9220" y="23317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</a:rPr>
              <a:t>Bab 3</a:t>
            </a:r>
          </a:p>
        </p:txBody>
      </p:sp>
      <p:sp>
        <p:nvSpPr>
          <p:cNvPr id="24" name="Oval 23"/>
          <p:cNvSpPr/>
          <p:nvPr/>
        </p:nvSpPr>
        <p:spPr>
          <a:xfrm>
            <a:off x="4503420" y="27889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3.1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2059" y="274320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Real-Time Bin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2059" y="30175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Aisle-Rack-Shelf-Bin, keterlacakan 100%</a:t>
            </a:r>
          </a:p>
        </p:txBody>
      </p:sp>
      <p:sp>
        <p:nvSpPr>
          <p:cNvPr id="27" name="Oval 26"/>
          <p:cNvSpPr/>
          <p:nvPr/>
        </p:nvSpPr>
        <p:spPr>
          <a:xfrm>
            <a:off x="4503420" y="37033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3.2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2059" y="365760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Rotasi FEFO / FIFO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2059" y="39319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Alokasi dikunci pada expiry date terdekat</a:t>
            </a:r>
          </a:p>
        </p:txBody>
      </p:sp>
      <p:sp>
        <p:nvSpPr>
          <p:cNvPr id="30" name="Oval 29"/>
          <p:cNvSpPr/>
          <p:nvPr/>
        </p:nvSpPr>
        <p:spPr>
          <a:xfrm>
            <a:off x="4503420" y="46177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3.3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2059" y="457200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5B"/>
                </a:solidFill>
              </a:rPr>
              <a:t>Cycle Counting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2059" y="48463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Blind count tanpa menghentikan operasional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1874519"/>
            <a:ext cx="3566160" cy="3657600"/>
          </a:xfrm>
          <a:prstGeom prst="roundRect">
            <a:avLst>
              <a:gd name="adj" fmla="val 3076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75319" y="20116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Snowfl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3" y="2143353"/>
            <a:ext cx="285292" cy="28529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61119" y="20116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Cold Chain &amp; Reefer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19" y="23317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Plug 380 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19" y="274320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16397A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</a:rPr>
              <a:t>2–8 °C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Chilled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02951" y="274320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16397A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</a:rPr>
              <a:t>−18 °C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Frozen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19" y="365760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16397A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</a:rPr>
              <a:t>30 mnt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Max exposure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02951" y="365760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16397A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</a:rPr>
              <a:t>15 mnt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7F5"/>
                </a:solidFill>
              </a:rPr>
              <a:t>Interval telemetri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19" y="466344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F59E0B"/>
              </a:buClr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</a:rPr>
              <a:t>Breach alert → sirine &amp; teknisi genset otomatis</a:t>
            </a:r>
          </a:p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</a:rPr>
              <a:t>Billing listrik 380 V presisi per jam ke ERP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WMS Outbound &amp; Kontrol Hardware WCS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Slotting, picking, packing, dan otomasi perangkat keras (Bab 4 &amp;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pages/scanner.php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6FD8"/>
                </a:solidFill>
              </a:rPr>
              <a:t>35%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74519"/>
            <a:ext cx="17830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Lebih cepat putaway &amp; retrieval (slotting ABC)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74519"/>
            <a:ext cx="361188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874519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6FD8"/>
                </a:solidFill>
              </a:rPr>
              <a:t>&lt; 500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74519"/>
            <a:ext cx="17830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Scan DWS: dimensi, berat &amp; GS1 sekaligus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874519"/>
            <a:ext cx="361188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9" y="1874519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6FD8"/>
                </a:solidFill>
              </a:rPr>
              <a:t>± 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874519"/>
            <a:ext cx="17830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Toleransi berat sebelum cetak resi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54635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" y="3063240"/>
            <a:ext cx="438912" cy="43891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Dol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0" y="3168578"/>
            <a:ext cx="228234" cy="2282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3063240"/>
            <a:ext cx="4572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WMS Outbound (Bab 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5074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sz="1200" b="1" i="0">
                <a:solidFill>
                  <a:srgbClr val="0B2A5B"/>
                </a:solidFill>
              </a:rPr>
              <a:t>4.1 Slotting ABC</a:t>
            </a:r>
            <a:r>
              <a:rPr sz="1200" b="0" i="0">
                <a:solidFill>
                  <a:srgbClr val="1E293B"/>
                </a:solidFill>
              </a:rPr>
              <a:t> — Fast moving di rak bawah dekat loading; slow moving di rak atas</a:t>
            </a:r>
          </a:p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sz="1200" b="1" i="0">
                <a:solidFill>
                  <a:srgbClr val="0B2A5B"/>
                </a:solidFill>
              </a:rPr>
              <a:t>4.2 Picking Strategy</a:t>
            </a:r>
            <a:r>
              <a:rPr sz="1200" b="0" i="0">
                <a:solidFill>
                  <a:srgbClr val="1E293B"/>
                </a:solidFill>
              </a:rPr>
              <a:t> — Wave, batch, zone — pangkas jarak tempuh forklift</a:t>
            </a:r>
          </a:p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sz="1200" b="1" i="0">
                <a:solidFill>
                  <a:srgbClr val="0B2A5B"/>
                </a:solidFill>
              </a:rPr>
              <a:t>4.3 Packing &amp; Weight Check</a:t>
            </a:r>
            <a:r>
              <a:rPr sz="1200" b="0" i="0">
                <a:solidFill>
                  <a:srgbClr val="1E293B"/>
                </a:solidFill>
              </a:rPr>
              <a:t> — Cek selisih ±2% sebelum resi / manifest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59" y="2971800"/>
            <a:ext cx="54635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59651" y="3063240"/>
            <a:ext cx="438912" cy="438912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990" y="3168578"/>
            <a:ext cx="228234" cy="22823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26579" y="3063240"/>
            <a:ext cx="45720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WCS Hardware (Bab 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3659" y="3611880"/>
            <a:ext cx="5074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sz="1200" b="1" i="0">
                <a:solidFill>
                  <a:srgbClr val="0B2A5B"/>
                </a:solidFill>
              </a:rPr>
              <a:t>5.1 Conveyor Diverter</a:t>
            </a:r>
            <a:r>
              <a:rPr sz="1200" b="0" i="0">
                <a:solidFill>
                  <a:srgbClr val="1E293B"/>
                </a:solidFill>
              </a:rPr>
              <a:t> — Scan barcode → perintah pusher / diverter</a:t>
            </a:r>
          </a:p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sz="1200" b="1" i="0">
                <a:solidFill>
                  <a:srgbClr val="0B2A5B"/>
                </a:solidFill>
              </a:rPr>
              <a:t>5.2 Tunnel / Mass Scanner (DWS)</a:t>
            </a:r>
            <a:r>
              <a:rPr sz="1200" b="0" i="0">
                <a:solidFill>
                  <a:srgbClr val="1E293B"/>
                </a:solidFill>
              </a:rPr>
              <a:t> — Dimensi, berat &amp; GS1 dalam &lt; 500 ms</a:t>
            </a:r>
          </a:p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sz="1200" b="1" i="0">
                <a:solidFill>
                  <a:srgbClr val="0B2A5B"/>
                </a:solidFill>
              </a:rPr>
              <a:t>5.3 AMR / Crane Routing</a:t>
            </a:r>
            <a:r>
              <a:rPr sz="1200" b="0" i="0">
                <a:solidFill>
                  <a:srgbClr val="1E293B"/>
                </a:solidFill>
              </a:rPr>
              <a:t> — Anti-deadlock &amp; anti-tabrakan armada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07492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</a:rPr>
              <a:t>ANOMALI WCS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5074920"/>
            <a:ext cx="2377440" cy="411480"/>
          </a:xfrm>
          <a:prstGeom prst="roundRect">
            <a:avLst>
              <a:gd name="adj" fmla="val 45454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2626"/>
                </a:solidFill>
              </a:rPr>
              <a:t>No-Read Barcode di conveyor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83480" y="5280660"/>
            <a:ext cx="365760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5349240" y="5074920"/>
            <a:ext cx="2926080" cy="411480"/>
          </a:xfrm>
          <a:prstGeom prst="roundRect">
            <a:avLst>
              <a:gd name="adj" fmla="val 45454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2626"/>
                </a:solidFill>
              </a:rPr>
              <a:t>Diverter → REJECT LANE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75320" y="5280660"/>
            <a:ext cx="365760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9" name="Rounded Rectangle 28"/>
          <p:cNvSpPr/>
          <p:nvPr/>
        </p:nvSpPr>
        <p:spPr>
          <a:xfrm>
            <a:off x="8641080" y="5074920"/>
            <a:ext cx="3017520" cy="411480"/>
          </a:xfrm>
          <a:prstGeom prst="roundRect">
            <a:avLst>
              <a:gd name="adj" fmla="val 45454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A34A"/>
                </a:solidFill>
              </a:rPr>
              <a:t>Alert PDA: scan manual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YMS: Dock Scheduling, Yard Tracking &amp; Demurrage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Bab 7 — dari jadwal truk hingga tarif keterlambatan pengambilan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pages/yard.php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66928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Calendar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" y="213238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5B"/>
                </a:solidFill>
              </a:rPr>
              <a:t>7.1  Dock Door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1B6FD8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Slot waktu 30 menit (appointment window) cegah antrean truk</a:t>
            </a:r>
          </a:p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1B6FD8"/>
              </a:buClr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</a:rPr>
              <a:t>Cold dock seal: pintu bersegel udara agar hawa dingin tak terbuang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MapMarked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" y="3458260"/>
            <a:ext cx="261518" cy="2615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326440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5B"/>
                </a:solidFill>
              </a:rPr>
              <a:t>7.2  Trailer Position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Yard map real-time 35 Ha; posisi diperbarui via VMT WiFi 6 tiap gerakan RTG / Reach Stacker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1261872" cy="347472"/>
          </a:xfrm>
          <a:prstGeom prst="roundRect">
            <a:avLst>
              <a:gd name="adj" fmla="val 45454"/>
            </a:avLst>
          </a:prstGeom>
          <a:solidFill>
            <a:srgbClr val="6474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EMPTY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4160520"/>
            <a:ext cx="1261872" cy="347472"/>
          </a:xfrm>
          <a:prstGeom prst="roundRect">
            <a:avLst>
              <a:gd name="adj" fmla="val 45454"/>
            </a:avLst>
          </a:prstGeom>
          <a:solidFill>
            <a:srgbClr val="1B6FD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LADEN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160520"/>
            <a:ext cx="1261872" cy="347472"/>
          </a:xfrm>
          <a:prstGeom prst="roundRect">
            <a:avLst>
              <a:gd name="adj" fmla="val 45454"/>
            </a:avLst>
          </a:prstGeom>
          <a:solidFill>
            <a:srgbClr val="D97706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IN_STRIPPING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4160520"/>
            <a:ext cx="1261872" cy="347472"/>
          </a:xfrm>
          <a:prstGeom prst="roundRect">
            <a:avLst>
              <a:gd name="adj" fmla="val 45454"/>
            </a:avLst>
          </a:prstGeom>
          <a:solidFill>
            <a:srgbClr val="DC2626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CUSTOMS_HOLD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00600"/>
            <a:ext cx="56692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48920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" y="5012740"/>
            <a:ext cx="261518" cy="26151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71600" y="4818888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2A5B"/>
                </a:solidFill>
              </a:rPr>
              <a:t>7.3  Gate &amp; Demurrage Alert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</a:rPr>
              <a:t>Early warning ke shipper di hari ke-2; timestamp gate presisi milidetik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874519"/>
            <a:ext cx="5212080" cy="3611880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19659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Tarif demurrage progresif (Rp / hari)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583680" y="2331720"/>
          <a:ext cx="49377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TMS &amp; Rel Siding Kereta Api Intermodal 600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Bab 6 &amp; 8 — perencanaan rute, tracking, dan transshipment rel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pages/intermodal.php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11099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1 RANGKAIAN KAI LOGISTIK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95728"/>
            <a:ext cx="868680" cy="502920"/>
          </a:xfrm>
          <a:prstGeom prst="roundRect">
            <a:avLst>
              <a:gd name="adj" fmla="val 21818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LOKO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2395728"/>
            <a:ext cx="585216" cy="292608"/>
          </a:xfrm>
          <a:prstGeom prst="rect">
            <a:avLst/>
          </a:prstGeom>
          <a:solidFill>
            <a:srgbClr val="1B6FD8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37360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95728" y="2395728"/>
            <a:ext cx="585216" cy="292608"/>
          </a:xfrm>
          <a:prstGeom prst="rect">
            <a:avLst/>
          </a:prstGeom>
          <a:solidFill>
            <a:srgbClr val="F59E0B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95728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54096" y="2395728"/>
            <a:ext cx="585216" cy="292608"/>
          </a:xfrm>
          <a:prstGeom prst="rect">
            <a:avLst/>
          </a:prstGeom>
          <a:solidFill>
            <a:srgbClr val="0E8A9A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54096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12464" y="2395728"/>
            <a:ext cx="585216" cy="292608"/>
          </a:xfrm>
          <a:prstGeom prst="rect">
            <a:avLst/>
          </a:prstGeom>
          <a:solidFill>
            <a:srgbClr val="1B6FD8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12464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0831" y="2395728"/>
            <a:ext cx="585216" cy="292608"/>
          </a:xfrm>
          <a:prstGeom prst="rect">
            <a:avLst/>
          </a:prstGeom>
          <a:solidFill>
            <a:srgbClr val="F59E0B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1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2395728"/>
            <a:ext cx="585216" cy="292608"/>
          </a:xfrm>
          <a:prstGeom prst="rect">
            <a:avLst/>
          </a:prstGeom>
          <a:solidFill>
            <a:srgbClr val="0E8A9A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87568" y="2395728"/>
            <a:ext cx="585216" cy="292608"/>
          </a:xfrm>
          <a:prstGeom prst="rect">
            <a:avLst/>
          </a:prstGeom>
          <a:solidFill>
            <a:srgbClr val="1B6FD8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87568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731520" y="3017520"/>
            <a:ext cx="5669280" cy="0"/>
          </a:xfrm>
          <a:prstGeom prst="line">
            <a:avLst/>
          </a:prstGeom>
          <a:ln w="31750">
            <a:solidFill>
              <a:srgbClr val="64748B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858000" y="201168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6FD8"/>
                </a:solidFill>
              </a:rPr>
              <a:t>600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603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Panjang jalur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01168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6FD8"/>
                </a:solidFill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5603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Gerbong datar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01168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6FD8"/>
                </a:solidFill>
              </a:rPr>
              <a:t>60 TEU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5603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Kapasitas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474720"/>
            <a:ext cx="672084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538728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TMS Planning &amp; Execution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" y="3886200"/>
            <a:ext cx="256032" cy="25603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Fa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87" y="3947647"/>
            <a:ext cx="133136" cy="1331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43000" y="3886200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6.1 Route Optimization</a:t>
            </a:r>
            <a:r>
              <a:rPr sz="1200" b="0" i="0">
                <a:solidFill>
                  <a:srgbClr val="1E293B"/>
                </a:solidFill>
              </a:rPr>
              <a:t> — rute terpendek, ganjil-genap, kelas jalan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" y="4197096"/>
            <a:ext cx="256032" cy="25603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Cub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87" y="4258543"/>
            <a:ext cx="133136" cy="1331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43000" y="4197096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6.2 3D Load Planning</a:t>
            </a:r>
            <a:r>
              <a:rPr sz="1200" b="0" i="0">
                <a:solidFill>
                  <a:srgbClr val="1E293B"/>
                </a:solidFill>
              </a:rPr>
              <a:t> — cubic utilization hingga 92%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" y="4507992"/>
            <a:ext cx="256032" cy="25603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aFileInvoice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87" y="4569439"/>
            <a:ext cx="133136" cy="13313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43000" y="4507992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6.3 Carrier Rate Audit</a:t>
            </a:r>
            <a:r>
              <a:rPr sz="1200" b="0" i="0">
                <a:solidFill>
                  <a:srgbClr val="1E293B"/>
                </a:solidFill>
              </a:rPr>
              <a:t> — audit tarif vendor per jarak &amp; zona</a:t>
            </a:r>
          </a:p>
        </p:txBody>
      </p:sp>
      <p:sp>
        <p:nvSpPr>
          <p:cNvPr id="40" name="Oval 39"/>
          <p:cNvSpPr/>
          <p:nvPr/>
        </p:nvSpPr>
        <p:spPr>
          <a:xfrm>
            <a:off x="777240" y="4818888"/>
            <a:ext cx="256032" cy="25603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FaCrosshai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87" y="4880335"/>
            <a:ext cx="133136" cy="13313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43000" y="4818888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8.1 GPS &amp; Geofencing</a:t>
            </a:r>
            <a:r>
              <a:rPr sz="1200" b="0" i="0">
                <a:solidFill>
                  <a:srgbClr val="1E293B"/>
                </a:solidFill>
              </a:rPr>
              <a:t> — alert keluar rute / berhenti &gt; 45 menit</a:t>
            </a:r>
          </a:p>
        </p:txBody>
      </p:sp>
      <p:sp>
        <p:nvSpPr>
          <p:cNvPr id="43" name="Oval 42"/>
          <p:cNvSpPr/>
          <p:nvPr/>
        </p:nvSpPr>
        <p:spPr>
          <a:xfrm>
            <a:off x="777240" y="5129784"/>
            <a:ext cx="256032" cy="25603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FaMobile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687" y="5191231"/>
            <a:ext cx="133136" cy="1331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43000" y="5129784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5B"/>
                </a:solidFill>
              </a:rPr>
              <a:t>8.2 Driver App &amp; e-POD</a:t>
            </a:r>
            <a:r>
              <a:rPr sz="1200" b="0" i="0">
                <a:solidFill>
                  <a:srgbClr val="1E293B"/>
                </a:solidFill>
              </a:rPr>
              <a:t> — foto, TTD digital, GPS timestamp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52360" y="3474720"/>
            <a:ext cx="4206240" cy="2011680"/>
          </a:xfrm>
          <a:prstGeom prst="roundRect">
            <a:avLst>
              <a:gd name="adj" fmla="val 5454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80960" y="3538728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Rel vs Truk Jalan Raya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3913632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</a:rPr>
              <a:t>40%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3913632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</a:rPr>
              <a:t>Hemat biaya BBM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42976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</a:rPr>
              <a:t>&gt; 98%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429768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</a:rPr>
              <a:t>On-time delivery, bebas macet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681728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</a:rPr>
              <a:t>65%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68172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</a:rPr>
              <a:t>Jejak karbon terminal turun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5065776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</a:rPr>
              <a:t>&lt; 4 mnt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5065776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</a:rPr>
              <a:t>Bongkar muat per peti kemas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Flowchart 4: Integrasi 5 Modul Logistik Terpadu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64748B"/>
                </a:solidFill>
              </a:rPr>
              <a:t>ERP → WMS → WCS → YMS → TMS → Invoicing (Bab 12, 13 &amp; 14)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dashboard.php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011680" cy="288036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2996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A5B"/>
                </a:solidFill>
              </a:rPr>
              <a:t>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1343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</a:rPr>
              <a:t>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97480"/>
            <a:ext cx="171907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Terima Sales Order / PO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Threshold suhu 2–8 °C / −18 °C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Tarif terminal (Odoo)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Validasi SPPB CEISA 4.0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43400"/>
            <a:ext cx="1737360" cy="347472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→ Order ke WMS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337560"/>
            <a:ext cx="26289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2823210" y="1920240"/>
            <a:ext cx="2011680" cy="288036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60370" y="2057400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9010" y="202996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A5B"/>
                </a:solidFill>
              </a:rPr>
              <a:t>WMS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9010" y="231343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</a:rPr>
              <a:t>Warehouse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7802" y="2697480"/>
            <a:ext cx="171907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Pick task per zona suhu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Rotasi FEFO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Max exposure time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Aisle-Rack-Shelf-Bin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60370" y="4343400"/>
            <a:ext cx="1737360" cy="347472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→ Task ke WCS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4890" y="3337560"/>
            <a:ext cx="26289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5097780" y="1920240"/>
            <a:ext cx="2011680" cy="288036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34940" y="2057400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3580" y="202996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A5B"/>
                </a:solidFill>
              </a:rPr>
              <a:t>WCS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83580" y="231343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</a:rPr>
              <a:t>Hardware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2372" y="2697480"/>
            <a:ext cx="1719072" cy="10900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 dirty="0" err="1">
                <a:solidFill>
                  <a:srgbClr val="1E293B"/>
                </a:solidFill>
              </a:rPr>
              <a:t>Jembatan</a:t>
            </a:r>
            <a:r>
              <a:rPr sz="1150" b="0" i="0" dirty="0">
                <a:solidFill>
                  <a:srgbClr val="1E293B"/>
                </a:solidFill>
              </a:rPr>
              <a:t> </a:t>
            </a:r>
            <a:r>
              <a:rPr sz="1150" b="0" i="0" dirty="0" err="1">
                <a:solidFill>
                  <a:srgbClr val="1E293B"/>
                </a:solidFill>
              </a:rPr>
              <a:t>timbang</a:t>
            </a:r>
            <a:r>
              <a:rPr sz="1150" b="0" i="0" dirty="0">
                <a:solidFill>
                  <a:srgbClr val="1E293B"/>
                </a:solidFill>
              </a:rPr>
              <a:t> 80 T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 dirty="0" err="1">
                <a:solidFill>
                  <a:srgbClr val="1E293B"/>
                </a:solidFill>
              </a:rPr>
              <a:t>Kamera</a:t>
            </a:r>
            <a:r>
              <a:rPr sz="1150" b="0" i="0" dirty="0">
                <a:solidFill>
                  <a:srgbClr val="1E293B"/>
                </a:solidFill>
              </a:rPr>
              <a:t> ANPR &amp; OCR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 dirty="0" err="1">
                <a:solidFill>
                  <a:srgbClr val="1E293B"/>
                </a:solidFill>
              </a:rPr>
              <a:t>Palang</a:t>
            </a:r>
            <a:r>
              <a:rPr sz="1150" b="0" i="0" dirty="0">
                <a:solidFill>
                  <a:srgbClr val="1E293B"/>
                </a:solidFill>
              </a:rPr>
              <a:t> barrier gate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 dirty="0">
                <a:solidFill>
                  <a:srgbClr val="1E293B"/>
                </a:solidFill>
              </a:rPr>
              <a:t>Diverter conveyor</a:t>
            </a:r>
            <a:endParaRPr lang="en-US" sz="1150" dirty="0">
              <a:solidFill>
                <a:srgbClr val="1E293B"/>
              </a:solidFill>
            </a:endParaRP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Dan lain-lain</a:t>
            </a:r>
            <a:endParaRPr sz="1150" b="0" i="0" dirty="0">
              <a:solidFill>
                <a:srgbClr val="1E293B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234940" y="4343400"/>
            <a:ext cx="1737360" cy="347472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1B6FD8"/>
                </a:solidFill>
              </a:rPr>
              <a:t>→ Data </a:t>
            </a:r>
            <a:r>
              <a:rPr sz="1100" b="1" i="0" dirty="0" err="1">
                <a:solidFill>
                  <a:srgbClr val="1B6FD8"/>
                </a:solidFill>
              </a:rPr>
              <a:t>berat</a:t>
            </a:r>
            <a:r>
              <a:rPr sz="1100" b="1" i="0" dirty="0">
                <a:solidFill>
                  <a:srgbClr val="1B6FD8"/>
                </a:solidFill>
              </a:rPr>
              <a:t> </a:t>
            </a:r>
            <a:r>
              <a:rPr sz="1100" b="1" i="0" dirty="0" err="1">
                <a:solidFill>
                  <a:srgbClr val="1B6FD8"/>
                </a:solidFill>
              </a:rPr>
              <a:t>ke</a:t>
            </a:r>
            <a:r>
              <a:rPr sz="1100" b="1" i="0" dirty="0">
                <a:solidFill>
                  <a:srgbClr val="1B6FD8"/>
                </a:solidFill>
              </a:rPr>
              <a:t> YMS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9460" y="3337560"/>
            <a:ext cx="26289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7372350" y="1920240"/>
            <a:ext cx="2011680" cy="288036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09510" y="2057400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8150" y="202996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A5B"/>
                </a:solidFill>
              </a:rPr>
              <a:t>YMS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8150" y="231343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</a:rPr>
              <a:t>Yard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942" y="2697480"/>
            <a:ext cx="171907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Penjadwalan dock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Stacking 3D Bay-Row-Tier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Dispatch RTG 45 T / RS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Monitoring dwell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09510" y="4343400"/>
            <a:ext cx="1737360" cy="347472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→ Dock ke TMS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84030" y="3337560"/>
            <a:ext cx="262889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9646920" y="1920240"/>
            <a:ext cx="2011680" cy="288036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784080" y="2057400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202996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A5B"/>
                </a:solidFill>
              </a:rPr>
              <a:t>TMS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231343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</a:rPr>
              <a:t>Transport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5098" y="2696464"/>
            <a:ext cx="171907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Dynamic route optimization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GPS tracking &amp; e-POD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Sinkronisasi rel 600 m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Audit tarif carrier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4343400"/>
            <a:ext cx="1737360" cy="347472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→ Invoice ke ERP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652760" y="4800600"/>
            <a:ext cx="0" cy="411480"/>
          </a:xfrm>
          <a:prstGeom prst="line">
            <a:avLst/>
          </a:prstGeom>
          <a:ln w="28575">
            <a:solidFill>
              <a:srgbClr val="16A34A"/>
            </a:solidFill>
          </a:ln>
        </p:spPr>
      </p:cxnSp>
      <p:cxnSp>
        <p:nvCxnSpPr>
          <p:cNvPr id="40" name="Connector 39"/>
          <p:cNvCxnSpPr/>
          <p:nvPr/>
        </p:nvCxnSpPr>
        <p:spPr>
          <a:xfrm flipH="1">
            <a:off x="1554480" y="5212080"/>
            <a:ext cx="9098280" cy="0"/>
          </a:xfrm>
          <a:prstGeom prst="line">
            <a:avLst/>
          </a:prstGeom>
          <a:ln w="28575">
            <a:solidFill>
              <a:srgbClr val="16A34A"/>
            </a:solidFill>
          </a:ln>
        </p:spPr>
      </p:cxnSp>
      <p:cxnSp>
        <p:nvCxnSpPr>
          <p:cNvPr id="41" name="Connector 40"/>
          <p:cNvCxnSpPr/>
          <p:nvPr/>
        </p:nvCxnSpPr>
        <p:spPr>
          <a:xfrm flipV="1">
            <a:off x="1554480" y="4800600"/>
            <a:ext cx="0" cy="411480"/>
          </a:xfrm>
          <a:prstGeom prst="line">
            <a:avLst/>
          </a:prstGeom>
          <a:ln w="28575">
            <a:solidFill>
              <a:srgbClr val="16A34A"/>
            </a:solidFill>
            <a:tailEnd type="triangle" w="med" len="med"/>
          </a:ln>
        </p:spPr>
      </p:cxnSp>
      <p:sp>
        <p:nvSpPr>
          <p:cNvPr id="42" name="Rounded Rectangle 41"/>
          <p:cNvSpPr/>
          <p:nvPr/>
        </p:nvSpPr>
        <p:spPr>
          <a:xfrm>
            <a:off x="4160520" y="5047488"/>
            <a:ext cx="4023360" cy="329184"/>
          </a:xfrm>
          <a:prstGeom prst="roundRect">
            <a:avLst>
              <a:gd name="adj" fmla="val 45454"/>
            </a:avLst>
          </a:prstGeom>
          <a:solidFill>
            <a:srgbClr val="16A34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</a:rPr>
              <a:t>Sinkronisasi invoicing &amp; zero leakage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Peta Arsitektur Aplikasi Web CIDP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Menjawab dilema: pemisahan 5 modul terstruktur menjaga kode rapi &amp; modular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dashboard.php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011680" cy="36576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828800" cy="658368"/>
          </a:xfrm>
          <a:prstGeom prst="roundRect">
            <a:avLst>
              <a:gd name="adj" fmla="val 13888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WCS / WES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</a:rPr>
              <a:t>Terminal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94716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 dirty="0" err="1">
                <a:solidFill>
                  <a:srgbClr val="64748B"/>
                </a:solidFill>
              </a:rPr>
              <a:t>Mengendalikan</a:t>
            </a:r>
            <a:r>
              <a:rPr sz="1150" b="0" i="1" dirty="0">
                <a:solidFill>
                  <a:srgbClr val="64748B"/>
                </a:solidFill>
              </a:rPr>
              <a:t> </a:t>
            </a:r>
            <a:r>
              <a:rPr sz="1150" b="0" i="1" dirty="0" err="1">
                <a:solidFill>
                  <a:srgbClr val="64748B"/>
                </a:solidFill>
              </a:rPr>
              <a:t>perangkat</a:t>
            </a:r>
            <a:r>
              <a:rPr sz="1150" b="0" i="1" dirty="0">
                <a:solidFill>
                  <a:srgbClr val="64748B"/>
                </a:solidFill>
              </a:rPr>
              <a:t> </a:t>
            </a:r>
            <a:r>
              <a:rPr sz="1150" b="0" i="1" dirty="0" err="1">
                <a:solidFill>
                  <a:srgbClr val="64748B"/>
                </a:solidFill>
              </a:rPr>
              <a:t>keras</a:t>
            </a:r>
            <a:r>
              <a:rPr sz="1150" b="0" i="1" dirty="0">
                <a:solidFill>
                  <a:srgbClr val="64748B"/>
                </a:solidFill>
              </a:rPr>
              <a:t> </a:t>
            </a:r>
            <a:r>
              <a:rPr sz="1150" b="0" i="1" dirty="0" err="1">
                <a:solidFill>
                  <a:srgbClr val="64748B"/>
                </a:solidFill>
              </a:rPr>
              <a:t>lapangan</a:t>
            </a:r>
            <a:r>
              <a:rPr sz="1150" b="0" i="1" dirty="0">
                <a:solidFill>
                  <a:srgbClr val="64748B"/>
                </a:solidFill>
              </a:rPr>
              <a:t> </a:t>
            </a:r>
            <a:r>
              <a:rPr sz="1150" b="0" i="1" dirty="0" err="1">
                <a:solidFill>
                  <a:srgbClr val="64748B"/>
                </a:solidFill>
              </a:rPr>
              <a:t>dalam</a:t>
            </a:r>
            <a:r>
              <a:rPr sz="1150" b="0" i="1" dirty="0">
                <a:solidFill>
                  <a:srgbClr val="64748B"/>
                </a:solidFill>
              </a:rPr>
              <a:t> </a:t>
            </a:r>
            <a:r>
              <a:rPr sz="1150" b="0" i="1" dirty="0" err="1">
                <a:solidFill>
                  <a:srgbClr val="64748B"/>
                </a:solidFill>
              </a:rPr>
              <a:t>milidetik</a:t>
            </a:r>
            <a:r>
              <a:rPr sz="1150" b="0" i="1" dirty="0">
                <a:solidFill>
                  <a:srgbClr val="64748B"/>
                </a:solidFill>
              </a:rPr>
              <a:t> (&lt; 500 </a:t>
            </a:r>
            <a:r>
              <a:rPr sz="1150" b="0" i="1" dirty="0" err="1">
                <a:solidFill>
                  <a:srgbClr val="64748B"/>
                </a:solidFill>
              </a:rPr>
              <a:t>ms</a:t>
            </a:r>
            <a:r>
              <a:rPr sz="1150" b="0" i="1" dirty="0">
                <a:solidFill>
                  <a:srgbClr val="64748B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ATURAN BISNIS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B2A5B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Jembatan timbang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B2A5B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Palang barrier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B2A5B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Kamera ANPR / OCR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B2A5B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Diverter conveyor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3210" y="1874519"/>
            <a:ext cx="2011680" cy="36576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14650" y="1965960"/>
            <a:ext cx="1828800" cy="658368"/>
          </a:xfrm>
          <a:prstGeom prst="roundRect">
            <a:avLst>
              <a:gd name="adj" fmla="val 13888"/>
            </a:avLst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YMS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</a:rPr>
              <a:t>Yard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6090" y="282391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 dirty="0" err="1">
                <a:solidFill>
                  <a:srgbClr val="64748B"/>
                </a:solidFill>
              </a:rPr>
              <a:t>Mengelola</a:t>
            </a:r>
            <a:r>
              <a:rPr sz="1150" b="0" i="1" dirty="0">
                <a:solidFill>
                  <a:srgbClr val="64748B"/>
                </a:solidFill>
              </a:rPr>
              <a:t> yard 35 Ha, armada </a:t>
            </a:r>
            <a:r>
              <a:rPr sz="1150" b="0" i="1" dirty="0" err="1">
                <a:solidFill>
                  <a:srgbClr val="64748B"/>
                </a:solidFill>
              </a:rPr>
              <a:t>truk</a:t>
            </a:r>
            <a:r>
              <a:rPr sz="1150" b="0" i="1" dirty="0">
                <a:solidFill>
                  <a:srgbClr val="64748B"/>
                </a:solidFill>
              </a:rPr>
              <a:t> &amp; </a:t>
            </a:r>
            <a:r>
              <a:rPr sz="1150" b="0" i="1" dirty="0" err="1">
                <a:solidFill>
                  <a:srgbClr val="64748B"/>
                </a:solidFill>
              </a:rPr>
              <a:t>alat</a:t>
            </a:r>
            <a:r>
              <a:rPr sz="1150" b="0" i="1" dirty="0">
                <a:solidFill>
                  <a:srgbClr val="64748B"/>
                </a:solidFill>
              </a:rPr>
              <a:t> 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0370" y="406908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ATURAN BISNIS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0370" y="429768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3D yard map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Stacking rules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Equipment dispatch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1B6FD8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Dwelling time alert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7780" y="1874519"/>
            <a:ext cx="2011680" cy="36576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89220" y="1965960"/>
            <a:ext cx="1828800" cy="658368"/>
          </a:xfrm>
          <a:prstGeom prst="roundRect">
            <a:avLst>
              <a:gd name="adj" fmla="val 13888"/>
            </a:avLst>
          </a:prstGeom>
          <a:solidFill>
            <a:srgbClr val="0E8A9A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WMS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</a:rPr>
              <a:t>Warehouse Mgmt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4940" y="2840795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 dirty="0" err="1">
                <a:solidFill>
                  <a:srgbClr val="64748B"/>
                </a:solidFill>
              </a:rPr>
              <a:t>Mengatur</a:t>
            </a:r>
            <a:r>
              <a:rPr sz="1150" b="0" i="1" dirty="0">
                <a:solidFill>
                  <a:srgbClr val="64748B"/>
                </a:solidFill>
              </a:rPr>
              <a:t> </a:t>
            </a:r>
            <a:r>
              <a:rPr sz="1150" b="0" i="1" dirty="0" err="1">
                <a:solidFill>
                  <a:srgbClr val="64748B"/>
                </a:solidFill>
              </a:rPr>
              <a:t>barang</a:t>
            </a:r>
            <a:r>
              <a:rPr sz="1150" b="0" i="1" dirty="0">
                <a:solidFill>
                  <a:srgbClr val="64748B"/>
                </a:solidFill>
              </a:rPr>
              <a:t> </a:t>
            </a:r>
            <a:r>
              <a:rPr sz="1150" b="0" i="1" dirty="0" err="1">
                <a:solidFill>
                  <a:srgbClr val="64748B"/>
                </a:solidFill>
              </a:rPr>
              <a:t>curah</a:t>
            </a:r>
            <a:r>
              <a:rPr sz="1150" b="0" i="1" dirty="0">
                <a:solidFill>
                  <a:srgbClr val="64748B"/>
                </a:solidFill>
              </a:rPr>
              <a:t> di </a:t>
            </a:r>
            <a:r>
              <a:rPr sz="1150" b="0" i="1" dirty="0" err="1">
                <a:solidFill>
                  <a:srgbClr val="64748B"/>
                </a:solidFill>
              </a:rPr>
              <a:t>gudang</a:t>
            </a:r>
            <a:r>
              <a:rPr sz="1150" b="0" i="1" dirty="0">
                <a:solidFill>
                  <a:srgbClr val="64748B"/>
                </a:solidFill>
              </a:rPr>
              <a:t> CFS &amp; cold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4940" y="406908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ATURAN BISNIS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4940" y="429768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E8A9A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ASN matching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E8A9A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Directed putaway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E8A9A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FEFO / FIFO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E8A9A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Reefer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2350" y="1874519"/>
            <a:ext cx="2011680" cy="36576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63790" y="1965960"/>
            <a:ext cx="1828800" cy="658368"/>
          </a:xfrm>
          <a:prstGeom prst="roundRect">
            <a:avLst>
              <a:gd name="adj" fmla="val 13888"/>
            </a:avLst>
          </a:prstGeom>
          <a:solidFill>
            <a:srgbClr val="D97706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TMS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</a:rPr>
              <a:t>Transport 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5230" y="2857501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 dirty="0" err="1">
                <a:solidFill>
                  <a:srgbClr val="64748B"/>
                </a:solidFill>
              </a:rPr>
              <a:t>Mengatur</a:t>
            </a:r>
            <a:r>
              <a:rPr sz="1150" b="0" i="1" dirty="0">
                <a:solidFill>
                  <a:srgbClr val="64748B"/>
                </a:solidFill>
              </a:rPr>
              <a:t> </a:t>
            </a:r>
            <a:r>
              <a:rPr sz="1150" b="0" i="1" dirty="0" err="1">
                <a:solidFill>
                  <a:srgbClr val="64748B"/>
                </a:solidFill>
              </a:rPr>
              <a:t>truk</a:t>
            </a:r>
            <a:r>
              <a:rPr sz="1150" b="0" i="1" dirty="0">
                <a:solidFill>
                  <a:srgbClr val="64748B"/>
                </a:solidFill>
              </a:rPr>
              <a:t> </a:t>
            </a:r>
            <a:r>
              <a:rPr sz="1150" b="0" i="1" dirty="0" err="1">
                <a:solidFill>
                  <a:srgbClr val="64748B"/>
                </a:solidFill>
              </a:rPr>
              <a:t>ekspedisi</a:t>
            </a:r>
            <a:r>
              <a:rPr sz="1150" b="0" i="1" dirty="0">
                <a:solidFill>
                  <a:srgbClr val="64748B"/>
                </a:solidFill>
              </a:rPr>
              <a:t> &amp; </a:t>
            </a:r>
            <a:r>
              <a:rPr sz="1150" b="0" i="1" dirty="0" err="1">
                <a:solidFill>
                  <a:srgbClr val="64748B"/>
                </a:solidFill>
              </a:rPr>
              <a:t>konektivitas</a:t>
            </a:r>
            <a:r>
              <a:rPr sz="1150" b="0" i="1" dirty="0">
                <a:solidFill>
                  <a:srgbClr val="64748B"/>
                </a:solidFill>
              </a:rPr>
              <a:t> </a:t>
            </a:r>
            <a:r>
              <a:rPr sz="1150" b="0" i="1" dirty="0" err="1">
                <a:solidFill>
                  <a:srgbClr val="64748B"/>
                </a:solidFill>
              </a:rPr>
              <a:t>rel</a:t>
            </a:r>
            <a:r>
              <a:rPr sz="1150" b="0" i="1" dirty="0">
                <a:solidFill>
                  <a:srgbClr val="64748B"/>
                </a:solidFill>
              </a:rPr>
              <a:t> siding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9510" y="406908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64748B"/>
                </a:solidFill>
              </a:rPr>
              <a:t>ATURAN BISNIS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9510" y="429768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Dynamic routing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GPS geofencing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e-POD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Intermodal sync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1874519"/>
            <a:ext cx="2011680" cy="36576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38360" y="1965960"/>
            <a:ext cx="1828800" cy="658368"/>
          </a:xfrm>
          <a:prstGeom prst="roundRect">
            <a:avLst>
              <a:gd name="adj" fmla="val 13888"/>
            </a:avLst>
          </a:prstGeom>
          <a:solidFill>
            <a:srgbClr val="475569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ERP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</a:rPr>
              <a:t>Enterprise 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811779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 dirty="0">
                <a:solidFill>
                  <a:srgbClr val="64748B"/>
                </a:solidFill>
              </a:rPr>
              <a:t>Master data </a:t>
            </a:r>
            <a:r>
              <a:rPr sz="1150" b="0" i="1" dirty="0" err="1">
                <a:solidFill>
                  <a:srgbClr val="64748B"/>
                </a:solidFill>
              </a:rPr>
              <a:t>pelanggan</a:t>
            </a:r>
            <a:r>
              <a:rPr sz="1150" b="0" i="1" dirty="0">
                <a:solidFill>
                  <a:srgbClr val="64748B"/>
                </a:solidFill>
              </a:rPr>
              <a:t>, </a:t>
            </a:r>
            <a:r>
              <a:rPr sz="1150" b="0" i="1" dirty="0" err="1">
                <a:solidFill>
                  <a:srgbClr val="64748B"/>
                </a:solidFill>
              </a:rPr>
              <a:t>kepabeanan</a:t>
            </a:r>
            <a:r>
              <a:rPr sz="1150" b="0" i="1" dirty="0">
                <a:solidFill>
                  <a:srgbClr val="64748B"/>
                </a:solidFill>
              </a:rPr>
              <a:t>, </a:t>
            </a:r>
            <a:r>
              <a:rPr sz="1150" b="0" i="1" dirty="0" err="1">
                <a:solidFill>
                  <a:srgbClr val="64748B"/>
                </a:solidFill>
              </a:rPr>
              <a:t>akuntansi</a:t>
            </a:r>
            <a:r>
              <a:rPr sz="1150" b="0" i="1" dirty="0">
                <a:solidFill>
                  <a:srgbClr val="64748B"/>
                </a:solidFill>
              </a:rPr>
              <a:t> &amp; </a:t>
            </a:r>
            <a:r>
              <a:rPr sz="1150" b="0" i="1" dirty="0" err="1">
                <a:solidFill>
                  <a:srgbClr val="64748B"/>
                </a:solidFill>
              </a:rPr>
              <a:t>penagihan</a:t>
            </a:r>
            <a:endParaRPr sz="1150" b="0" i="1" dirty="0">
              <a:solidFill>
                <a:srgbClr val="64748B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84080" y="406908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ATURAN BISNIS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29768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475569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Terminal tariff engine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475569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Demurrage progresif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475569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CEISA 4.0 customs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475569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</a:rPr>
              <a:t>Zero leakage gate-out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Matriks Integrasi Data Fitur (Data Mapping)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Bab 9 — sumber data, validasi sistem, dan keluaran tiap modul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pages/settings.php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109960" cy="335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Modul Fitur</a:t>
                      </a:r>
                    </a:p>
                  </a:txBody>
                  <a:tcPr marL="109728" marR="109728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Data Input (Source)</a:t>
                      </a:r>
                    </a:p>
                  </a:txBody>
                  <a:tcPr marL="109728" marR="109728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Proses Validasi Sistem</a:t>
                      </a:r>
                    </a:p>
                  </a:txBody>
                  <a:tcPr marL="109728" marR="109728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Data Output (Target)</a:t>
                      </a:r>
                    </a:p>
                  </a:txBody>
                  <a:tcPr marL="109728" marR="109728" anchor="ctr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B2A5B"/>
                          </a:solidFill>
                        </a:rPr>
                        <a:t>ASN Receiving (WMS)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PO Data dari ERP &amp; dokumen delivery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Cek kesesuaian nomor PO &amp; toleransi kuantitas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Status Received / Over-receipt Alert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B2A5B"/>
                          </a:solidFill>
                        </a:rPr>
                        <a:t>Picking Engine (WMS / WCS)</a:t>
                      </a: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Order list dari ERP &amp; lokasi bin CFS</a:t>
                      </a: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Cek aturan FEFO &amp; kapasitas beban rak</a:t>
                      </a: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Task command ke PDA / AMR / Forklift</a:t>
                      </a: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B2A5B"/>
                          </a:solidFill>
                        </a:rPr>
                        <a:t>Mass Scanning (WCS)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Barcode &amp; weight sensor tunnel DWS (&lt; 500 ms)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Cek kecocokan manifes &amp; toleransi berat ±2%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Signal diverter &amp; resi label tercetak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B2A5B"/>
                          </a:solidFill>
                        </a:rPr>
                        <a:t>Route Planner (TMS)</a:t>
                      </a: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Alamat kirim, bobot &amp; batasan jam jalan</a:t>
                      </a: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Algoritma rute tercepat &amp; optimasi tonase</a:t>
                      </a: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</a:rPr>
                        <a:t>Manifest jalan &amp; GPS track assignment</a:t>
                      </a: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94960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4748B"/>
                </a:solidFill>
              </a:rPr>
              <a:t>Alur data setiap fitur:  Input → Validasi Sistem → 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Penanganan Anomali &amp; Standar FSD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Exception handling menjamin operasional stabil 24/7 (Bab 10 &amp; 11)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FD8"/>
                </a:solidFill>
              </a:rPr>
              <a:t>LIVE DEMO  ·  pages/settings.php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93976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5880" y="196596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Overweight di Gate Timbangan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377439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C2626"/>
                </a:solidFill>
              </a:rPr>
              <a:t>Gejala:</a:t>
            </a:r>
            <a:r>
              <a:rPr sz="1150" b="0" i="0">
                <a:solidFill>
                  <a:srgbClr val="1E293B"/>
                </a:solidFill>
              </a:rPr>
              <a:t> Berat &gt; 34 ton atau selisih &gt; 2%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262890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4434840" y="2377439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A34A"/>
                </a:solidFill>
              </a:rPr>
              <a:t>Aksi:</a:t>
            </a:r>
            <a:r>
              <a:rPr sz="1150" b="0" i="0">
                <a:solidFill>
                  <a:srgbClr val="1E293B"/>
                </a:solidFill>
              </a:rPr>
              <a:t> Palang lock, truk ke Holding Bay, investigasi dokumen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90672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1012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5880" y="3182112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No-Read Barcode di Conveyor WCS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593591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C2626"/>
                </a:solidFill>
              </a:rPr>
              <a:t>Gejala:</a:t>
            </a:r>
            <a:r>
              <a:rPr sz="1150" b="0" i="0">
                <a:solidFill>
                  <a:srgbClr val="1E293B"/>
                </a:solidFill>
              </a:rPr>
              <a:t> Barcode robek / scanner gagal baca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0520" y="3845052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4434840" y="3593591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A34A"/>
                </a:solidFill>
              </a:rPr>
              <a:t>Aksi:</a:t>
            </a:r>
            <a:r>
              <a:rPr sz="1150" b="0" i="0">
                <a:solidFill>
                  <a:srgbClr val="1E293B"/>
                </a:solidFill>
              </a:rPr>
              <a:t> Diverter ke Reject Lane + alert PDA operator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06824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4416552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526280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25880" y="4398264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Shortage Stok saat Picking WMS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480974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C2626"/>
                </a:solidFill>
              </a:rPr>
              <a:t>Gejala:</a:t>
            </a:r>
            <a:r>
              <a:rPr sz="1150" b="0" i="0">
                <a:solidFill>
                  <a:srgbClr val="1E293B"/>
                </a:solidFill>
              </a:rPr>
              <a:t> Fisik di rak kurang dari order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60520" y="5061204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4434840" y="4809744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A34A"/>
                </a:solidFill>
              </a:rPr>
              <a:t>Aksi:</a:t>
            </a:r>
            <a:r>
              <a:rPr sz="1150" b="0" i="0">
                <a:solidFill>
                  <a:srgbClr val="1E293B"/>
                </a:solidFill>
              </a:rPr>
              <a:t> “Item Shortage” → Blind Cycle Count &amp; rak alternatif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874519"/>
            <a:ext cx="3566160" cy="3520440"/>
          </a:xfrm>
          <a:prstGeom prst="roundRect">
            <a:avLst>
              <a:gd name="adj" fmla="val 3116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19659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4 Pilar FSD Standar Silabus</a:t>
            </a:r>
          </a:p>
        </p:txBody>
      </p:sp>
      <p:sp>
        <p:nvSpPr>
          <p:cNvPr id="28" name="Oval 27"/>
          <p:cNvSpPr/>
          <p:nvPr/>
        </p:nvSpPr>
        <p:spPr>
          <a:xfrm>
            <a:off x="8321040" y="26517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a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7" y="2761488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15400" y="26517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User Role &amp; Permission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33375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Fa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7" y="3447288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15400" y="33375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Trigger Condition</a:t>
            </a:r>
          </a:p>
        </p:txBody>
      </p:sp>
      <p:sp>
        <p:nvSpPr>
          <p:cNvPr id="34" name="Oval 33"/>
          <p:cNvSpPr/>
          <p:nvPr/>
        </p:nvSpPr>
        <p:spPr>
          <a:xfrm>
            <a:off x="8321040" y="40233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List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7" y="4133088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15400" y="40233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Input Fields &amp; Validation Rules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0" y="47091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aSync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7" y="4818888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15400" y="47091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</a:rPr>
              <a:t>System Response &amp; Error Handling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Kesimpulan &amp; Rekomendasi Konsultan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Strategi eksekutif menuju terminal intermodal dry port kelas dunia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2029967"/>
            <a:ext cx="512064" cy="512064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Shield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2152863"/>
            <a:ext cx="266273" cy="2662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947672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B2A5B"/>
                </a:solidFill>
              </a:rPr>
              <a:t>Kepatuhan Regulasi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Timbangan 80 T patuh SOLAS VGM Bab VI &amp; UU No. 22/2009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2944368"/>
            <a:ext cx="512064" cy="512064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Bar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306726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862072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B2A5B"/>
                </a:solidFill>
              </a:rPr>
              <a:t>Integritas ISO 6346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Check digit Modulo 11 cegah salah identitas peti kemas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3858768"/>
            <a:ext cx="512064" cy="512064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15" y="3981663"/>
            <a:ext cx="266273" cy="266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17320" y="3776472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B2A5B"/>
                </a:solidFill>
              </a:rPr>
              <a:t>Bea Cukai CEISA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Customs lock: tanpa SPPB, barang tidak keluar dry 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4773168"/>
            <a:ext cx="512064" cy="512064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a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" y="4896063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17320" y="4690872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B2A5B"/>
                </a:solidFill>
              </a:rPr>
              <a:t>Zero Revenue Leakage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</a:rPr>
              <a:t>Palang gate-out terkunci hingga invoice berstatus PAID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874519"/>
            <a:ext cx="5486400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93852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5B"/>
                </a:solidFill>
              </a:rPr>
              <a:t>Waktu proses gate-in per truk (menit)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309360" y="2286000"/>
          <a:ext cx="52120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172200" y="45262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4553712"/>
            <a:ext cx="114300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</a:rPr>
              <a:t>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553712"/>
            <a:ext cx="132588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</a:rPr>
              <a:t>Hemat biaya transportasi jarak jauh via rel KA 600 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45262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4553712"/>
            <a:ext cx="114300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</a:rPr>
              <a:t>90 detik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4553712"/>
            <a:ext cx="132588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</a:rPr>
              <a:t>Waktu gate-in setelah otomasi, dari 15 menit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2A5B"/>
                </a:solidFill>
              </a:rPr>
              <a:t>Roadmap Menuju Go-Live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44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</a:rPr>
              <a:t>Tiga fase implementasi terminal intermodal dry port (Bulan 1–9)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920240"/>
            <a:ext cx="3611880" cy="685800"/>
          </a:xfrm>
          <a:prstGeom prst="homePlat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</a:rPr>
              <a:t>FASE 1 · </a:t>
            </a:r>
            <a:r>
              <a:rPr lang="en-US" sz="1400" b="1" dirty="0">
                <a:solidFill>
                  <a:srgbClr val="FFFFFF"/>
                </a:solidFill>
              </a:rPr>
              <a:t>MINGGU</a:t>
            </a:r>
            <a:r>
              <a:rPr sz="1400" b="1" i="0" dirty="0">
                <a:solidFill>
                  <a:srgbClr val="FFFFFF"/>
                </a:solidFill>
              </a:rPr>
              <a:t> 1–</a:t>
            </a:r>
            <a:r>
              <a:rPr lang="en-US" sz="1400" b="1" i="0" dirty="0">
                <a:solidFill>
                  <a:srgbClr val="FFFFFF"/>
                </a:solidFill>
              </a:rPr>
              <a:t>4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3246120" cy="260604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240280" y="2971800"/>
            <a:ext cx="731520" cy="73152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844" y="3147364"/>
            <a:ext cx="380390" cy="380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37947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2A5B"/>
                </a:solidFill>
              </a:rPr>
              <a:t>Fondasi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2519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B6FD8"/>
              </a:buClr>
              <a:buFont typeface="Arial"/>
              <a:buChar char="•"/>
            </a:pPr>
            <a:r>
              <a:rPr sz="1500" b="0" i="0">
                <a:solidFill>
                  <a:srgbClr val="1E293B"/>
                </a:solidFill>
              </a:rPr>
              <a:t>Finalisasi modul Web YMS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B6FD8"/>
              </a:buClr>
              <a:buFont typeface="Arial"/>
              <a:buChar char="•"/>
            </a:pPr>
            <a:r>
              <a:rPr sz="1500" b="0" i="0">
                <a:solidFill>
                  <a:srgbClr val="1E293B"/>
                </a:solidFill>
              </a:rPr>
              <a:t>Migrasi skema MySQL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B6FD8"/>
              </a:buClr>
              <a:buFont typeface="Arial"/>
              <a:buChar char="•"/>
            </a:pPr>
            <a:r>
              <a:rPr sz="1500" b="0" i="0">
                <a:solidFill>
                  <a:srgbClr val="1E293B"/>
                </a:solidFill>
              </a:rPr>
              <a:t>Integrasi modul Odoo ERP</a:t>
            </a:r>
          </a:p>
        </p:txBody>
      </p:sp>
      <p:sp>
        <p:nvSpPr>
          <p:cNvPr id="10" name="Chevron 9"/>
          <p:cNvSpPr/>
          <p:nvPr/>
        </p:nvSpPr>
        <p:spPr>
          <a:xfrm>
            <a:off x="4434840" y="1920240"/>
            <a:ext cx="3611880" cy="685800"/>
          </a:xfrm>
          <a:prstGeom prst="chevron">
            <a:avLst/>
          </a:prstGeom>
          <a:solidFill>
            <a:srgbClr val="1550A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</a:rPr>
              <a:t>FASE 2 · </a:t>
            </a:r>
            <a:r>
              <a:rPr lang="en-US" sz="1400" b="1" dirty="0">
                <a:solidFill>
                  <a:srgbClr val="FFFFFF"/>
                </a:solidFill>
              </a:rPr>
              <a:t>MINGGU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lang="en-US" sz="1400" b="1" dirty="0">
                <a:solidFill>
                  <a:srgbClr val="FFFFFF"/>
                </a:solidFill>
              </a:rPr>
              <a:t>5-8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6280" y="2834640"/>
            <a:ext cx="3246120" cy="260604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0" y="2971800"/>
            <a:ext cx="731520" cy="731520"/>
          </a:xfrm>
          <a:prstGeom prst="ellipse">
            <a:avLst/>
          </a:prstGeom>
          <a:solidFill>
            <a:srgbClr val="1550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724" y="3147364"/>
            <a:ext cx="380390" cy="3803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7720" y="37947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2A5B"/>
                </a:solidFill>
              </a:rPr>
              <a:t>Kalibrasi IoT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251960"/>
            <a:ext cx="2743200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550A8"/>
              </a:buClr>
              <a:buFont typeface="Arial"/>
              <a:buChar char="•"/>
            </a:pPr>
            <a:r>
              <a:rPr sz="1500" b="0" i="0" dirty="0">
                <a:solidFill>
                  <a:srgbClr val="1E293B"/>
                </a:solidFill>
              </a:rPr>
              <a:t>Sensor </a:t>
            </a:r>
            <a:r>
              <a:rPr sz="1500" b="0" i="0" dirty="0" err="1">
                <a:solidFill>
                  <a:srgbClr val="1E293B"/>
                </a:solidFill>
              </a:rPr>
              <a:t>timbangan</a:t>
            </a:r>
            <a:r>
              <a:rPr sz="1500" b="0" i="0" dirty="0">
                <a:solidFill>
                  <a:srgbClr val="1E293B"/>
                </a:solidFill>
              </a:rPr>
              <a:t> Avery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550A8"/>
              </a:buClr>
              <a:buFont typeface="Arial"/>
              <a:buChar char="•"/>
            </a:pPr>
            <a:r>
              <a:rPr sz="1500" b="0" i="0" dirty="0" err="1">
                <a:solidFill>
                  <a:srgbClr val="1E293B"/>
                </a:solidFill>
              </a:rPr>
              <a:t>Kamera</a:t>
            </a:r>
            <a:r>
              <a:rPr sz="1500" b="0" i="0" dirty="0">
                <a:solidFill>
                  <a:srgbClr val="1E293B"/>
                </a:solidFill>
              </a:rPr>
              <a:t> ANPR / OCR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550A8"/>
              </a:buClr>
              <a:buFont typeface="Arial"/>
              <a:buChar char="•"/>
            </a:pPr>
            <a:r>
              <a:rPr sz="1500" b="0" i="0" dirty="0">
                <a:solidFill>
                  <a:srgbClr val="1E293B"/>
                </a:solidFill>
              </a:rPr>
              <a:t>Commissioning VMT RTG</a:t>
            </a:r>
            <a:r>
              <a:rPr lang="en-US" sz="1500" b="0" i="0" dirty="0">
                <a:solidFill>
                  <a:srgbClr val="1E293B"/>
                </a:solidFill>
              </a:rPr>
              <a:t>, </a:t>
            </a:r>
            <a:r>
              <a:rPr lang="en-US" sz="1500" b="0" i="0" dirty="0" err="1">
                <a:solidFill>
                  <a:srgbClr val="1E293B"/>
                </a:solidFill>
              </a:rPr>
              <a:t>dll</a:t>
            </a:r>
            <a:r>
              <a:rPr lang="en-US" sz="1500" b="0" i="0" dirty="0">
                <a:solidFill>
                  <a:srgbClr val="1E293B"/>
                </a:solidFill>
              </a:rPr>
              <a:t>.</a:t>
            </a:r>
            <a:br>
              <a:rPr lang="en-US" sz="1500" b="0" i="0" dirty="0">
                <a:solidFill>
                  <a:srgbClr val="1E293B"/>
                </a:solidFill>
              </a:rPr>
            </a:br>
            <a:endParaRPr sz="1500" b="0" i="0" dirty="0">
              <a:solidFill>
                <a:srgbClr val="1E293B"/>
              </a:solidFill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8046720" y="1920240"/>
            <a:ext cx="3611880" cy="685800"/>
          </a:xfrm>
          <a:prstGeom prst="chevron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</a:rPr>
              <a:t>FASE 3 · </a:t>
            </a:r>
            <a:r>
              <a:rPr lang="en-US" sz="1400" b="1" dirty="0">
                <a:solidFill>
                  <a:srgbClr val="FFFFFF"/>
                </a:solidFill>
              </a:rPr>
              <a:t>MINGGU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lang="en-US" sz="1400" b="1" dirty="0">
                <a:solidFill>
                  <a:srgbClr val="FFFFFF"/>
                </a:solidFill>
              </a:rPr>
              <a:t>9-14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38160" y="2834640"/>
            <a:ext cx="3246120" cy="260604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64040" y="2971800"/>
            <a:ext cx="731520" cy="7315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FlagChecke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604" y="3147364"/>
            <a:ext cx="380390" cy="38039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14360" y="3846835"/>
            <a:ext cx="30632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0B2A5B"/>
                </a:solidFill>
              </a:rPr>
              <a:t>Uji Coba </a:t>
            </a:r>
            <a:r>
              <a:rPr lang="en-US" sz="1700" b="1" i="0" dirty="0">
                <a:solidFill>
                  <a:srgbClr val="0B2A5B"/>
                </a:solidFill>
              </a:rPr>
              <a:t>dan </a:t>
            </a:r>
            <a:r>
              <a:rPr lang="en-US" sz="1700" b="1" i="0" dirty="0" err="1">
                <a:solidFill>
                  <a:srgbClr val="0B2A5B"/>
                </a:solidFill>
              </a:rPr>
              <a:t>Penilaian</a:t>
            </a:r>
            <a:endParaRPr sz="1700" b="1" i="0" dirty="0">
              <a:solidFill>
                <a:srgbClr val="0B2A5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58200" y="4251960"/>
            <a:ext cx="2743200" cy="897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0B2A5B"/>
              </a:buClr>
              <a:buFont typeface="Arial"/>
              <a:buChar char="•"/>
            </a:pPr>
            <a:r>
              <a:rPr sz="1500" b="0" i="0" dirty="0">
                <a:solidFill>
                  <a:srgbClr val="1E293B"/>
                </a:solidFill>
              </a:rPr>
              <a:t>Integrasi API CEISA 4.0</a:t>
            </a:r>
            <a:r>
              <a:rPr lang="en-US" sz="1500" b="0" i="0" dirty="0">
                <a:solidFill>
                  <a:srgbClr val="1E293B"/>
                </a:solidFill>
              </a:rPr>
              <a:t>, </a:t>
            </a:r>
            <a:r>
              <a:rPr lang="en-US" sz="1500" b="0" i="0" dirty="0" err="1">
                <a:solidFill>
                  <a:srgbClr val="1E293B"/>
                </a:solidFill>
              </a:rPr>
              <a:t>Dll</a:t>
            </a:r>
            <a:endParaRPr sz="1500" b="0" i="0" dirty="0">
              <a:solidFill>
                <a:srgbClr val="1E293B"/>
              </a:solidFill>
            </a:endParaRP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0B2A5B"/>
              </a:buClr>
              <a:buFont typeface="Arial"/>
              <a:buChar char="•"/>
            </a:pPr>
            <a:r>
              <a:rPr sz="1500" b="0" i="0" dirty="0" err="1">
                <a:solidFill>
                  <a:srgbClr val="1E293B"/>
                </a:solidFill>
              </a:rPr>
              <a:t>Simulasi</a:t>
            </a:r>
            <a:r>
              <a:rPr sz="1500" b="0" i="0" dirty="0">
                <a:solidFill>
                  <a:srgbClr val="1E293B"/>
                </a:solidFill>
              </a:rPr>
              <a:t> </a:t>
            </a:r>
            <a:r>
              <a:rPr lang="en-US" sz="1500" dirty="0" err="1">
                <a:solidFill>
                  <a:srgbClr val="1E293B"/>
                </a:solidFill>
              </a:rPr>
              <a:t>Aplikasi</a:t>
            </a:r>
            <a:endParaRPr sz="1500" b="0" i="0" dirty="0">
              <a:solidFill>
                <a:srgbClr val="1E293B"/>
              </a:solidFill>
            </a:endParaRP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0B2A5B"/>
              </a:buClr>
              <a:buFont typeface="Arial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Trial &amp; </a:t>
            </a:r>
            <a:r>
              <a:rPr lang="en-US" sz="1500" dirty="0" err="1">
                <a:solidFill>
                  <a:srgbClr val="1E293B"/>
                </a:solidFill>
              </a:rPr>
              <a:t>Eror</a:t>
            </a:r>
            <a:endParaRPr sz="1500" b="0" i="0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61D8A0-F09B-0DA3-0B73-DF64F46BEC49}"/>
              </a:ext>
            </a:extLst>
          </p:cNvPr>
          <p:cNvSpPr txBox="1"/>
          <p:nvPr/>
        </p:nvSpPr>
        <p:spPr>
          <a:xfrm>
            <a:off x="5074920" y="4151376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Live Web </a:t>
            </a:r>
            <a:r>
              <a:rPr lang="en-US" sz="2800" dirty="0" err="1"/>
              <a:t>Aplikasi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2636</Words>
  <Application>Microsoft Office PowerPoint</Application>
  <PresentationFormat>Widescreen</PresentationFormat>
  <Paragraphs>531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Analyst CIDP</dc:title>
  <dc:subject>PptxGenJS Presentation</dc:subject>
  <dc:creator>Zulfikar Jafarudin Fatah</dc:creator>
  <cp:lastModifiedBy>Armansyah Muchtarrom</cp:lastModifiedBy>
  <cp:revision>4</cp:revision>
  <dcterms:created xsi:type="dcterms:W3CDTF">2026-10-06T13:11:58Z</dcterms:created>
  <dcterms:modified xsi:type="dcterms:W3CDTF">2026-10-14T02:47:23Z</dcterms:modified>
</cp:coreProperties>
</file>