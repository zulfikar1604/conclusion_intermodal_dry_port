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485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0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5852160"/>
          </a:xfrm>
          <a:prstGeom prst="rect">
            <a:avLst/>
          </a:prstGeom>
          <a:solidFill>
            <a:srgbClr val="017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rPr dirty="0"/>
              <a:t>TOPIK 7 — INLAND CONTAINER DEPOT (ICD) &amp; DRY PORT MANAGEMENT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rPr dirty="0"/>
              <a:t>PROGRES MINGGU INI: PERANCANGAN ARSITEKTUR HARDWARE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560320"/>
            <a:ext cx="10424160" cy="3108960"/>
          </a:xfrm>
          <a:prstGeom prst="roundRect">
            <a:avLst/>
          </a:prstGeom>
          <a:solidFill>
            <a:srgbClr val="0F1E3C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10058400" cy="10233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rPr dirty="0"/>
              <a:t>CONCLUSION SUPPLY CHAIN CONSULTANT:</a:t>
            </a:r>
          </a:p>
          <a:p>
            <a:pPr>
              <a:spcBef>
                <a:spcPts val="300"/>
              </a:spcBef>
              <a:defRPr sz="900">
                <a:solidFill>
                  <a:srgbClr val="E2E8F0"/>
                </a:solidFill>
              </a:defRPr>
            </a:pPr>
            <a:r>
              <a:rPr dirty="0"/>
              <a:t>• 1. Zulfikar </a:t>
            </a:r>
            <a:r>
              <a:rPr dirty="0" err="1"/>
              <a:t>Jafarudin</a:t>
            </a:r>
            <a:r>
              <a:rPr dirty="0"/>
              <a:t> Fatah (24D507001001) — Lead System Architect (</a:t>
            </a:r>
            <a:r>
              <a:rPr dirty="0" err="1"/>
              <a:t>Ketua</a:t>
            </a:r>
            <a:r>
              <a:rPr dirty="0"/>
              <a:t> Tim)</a:t>
            </a:r>
            <a:br>
              <a:rPr dirty="0"/>
            </a:br>
            <a:r>
              <a:rPr dirty="0"/>
              <a:t>• 2. Armansyah Muchtarrom (24D507001010) — Hardware &amp; Infrastructure Specialist (Presenter)</a:t>
            </a:r>
            <a:br>
              <a:rPr dirty="0"/>
            </a:br>
            <a:r>
              <a:rPr dirty="0"/>
              <a:t>• 3. </a:t>
            </a:r>
            <a:r>
              <a:rPr dirty="0" err="1"/>
              <a:t>Afriansayah</a:t>
            </a:r>
            <a:r>
              <a:rPr dirty="0"/>
              <a:t> </a:t>
            </a:r>
            <a:r>
              <a:rPr dirty="0" err="1"/>
              <a:t>Ayubi</a:t>
            </a:r>
            <a:r>
              <a:rPr dirty="0"/>
              <a:t> (24D507001026) — Software &amp; ERP Process Specialist</a:t>
            </a:r>
            <a:br>
              <a:rPr dirty="0"/>
            </a:br>
            <a:r>
              <a:rPr dirty="0"/>
              <a:t>• 4. Juan Gamaliel (24D507001016) — Data Integration Specialist</a:t>
            </a:r>
            <a:br>
              <a:rPr dirty="0"/>
            </a:br>
            <a:r>
              <a:rPr dirty="0"/>
              <a:t>• 5. Naufal Andika </a:t>
            </a:r>
            <a:r>
              <a:rPr dirty="0" err="1"/>
              <a:t>Heditya</a:t>
            </a:r>
            <a:r>
              <a:rPr dirty="0"/>
              <a:t> (24D507001012) — Business Analyst &amp; QA Specialist</a:t>
            </a:r>
            <a:br>
              <a:rPr dirty="0"/>
            </a:br>
            <a:r>
              <a:rPr dirty="0"/>
              <a:t>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80644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BD5E1"/>
                </a:solidFill>
              </a:defRPr>
            </a:pPr>
            <a:r>
              <a:rPr dirty="0"/>
              <a:t>Mata </a:t>
            </a:r>
            <a:r>
              <a:rPr dirty="0" err="1"/>
              <a:t>Kuliah</a:t>
            </a:r>
            <a:r>
              <a:rPr dirty="0"/>
              <a:t>: </a:t>
            </a:r>
            <a:r>
              <a:rPr dirty="0" err="1"/>
              <a:t>Teknologi</a:t>
            </a:r>
            <a:r>
              <a:rPr dirty="0"/>
              <a:t> dan </a:t>
            </a:r>
            <a:r>
              <a:rPr dirty="0" err="1"/>
              <a:t>Perangkat</a:t>
            </a:r>
            <a:r>
              <a:rPr dirty="0"/>
              <a:t> </a:t>
            </a:r>
            <a:r>
              <a:rPr dirty="0" err="1"/>
              <a:t>Lunak</a:t>
            </a:r>
            <a:r>
              <a:rPr dirty="0"/>
              <a:t> </a:t>
            </a:r>
            <a:r>
              <a:rPr dirty="0" err="1"/>
              <a:t>Logistik</a:t>
            </a:r>
            <a:r>
              <a:rPr dirty="0"/>
              <a:t>  •  </a:t>
            </a:r>
            <a:r>
              <a:rPr dirty="0" err="1"/>
              <a:t>Dosen</a:t>
            </a:r>
            <a:r>
              <a:rPr dirty="0"/>
              <a:t> </a:t>
            </a:r>
            <a:r>
              <a:rPr dirty="0" err="1"/>
              <a:t>Pengampu</a:t>
            </a:r>
            <a:r>
              <a:rPr dirty="0"/>
              <a:t>: Dr. </a:t>
            </a:r>
            <a:r>
              <a:rPr dirty="0" err="1"/>
              <a:t>Tigor</a:t>
            </a:r>
            <a:r>
              <a:rPr dirty="0"/>
              <a:t> Franky, S.T., M.T.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rPr dirty="0"/>
              <a:t>Program </a:t>
            </a:r>
            <a:r>
              <a:rPr dirty="0" err="1"/>
              <a:t>Studi</a:t>
            </a:r>
            <a:r>
              <a:rPr dirty="0"/>
              <a:t> </a:t>
            </a:r>
            <a:r>
              <a:rPr dirty="0" err="1"/>
              <a:t>Manajemen</a:t>
            </a:r>
            <a:r>
              <a:rPr dirty="0"/>
              <a:t> </a:t>
            </a:r>
            <a:r>
              <a:rPr dirty="0" err="1"/>
              <a:t>Logistik</a:t>
            </a:r>
            <a:r>
              <a:rPr dirty="0"/>
              <a:t>  •  </a:t>
            </a:r>
            <a:r>
              <a:rPr dirty="0" err="1"/>
              <a:t>Institut</a:t>
            </a:r>
            <a:r>
              <a:rPr dirty="0"/>
              <a:t> </a:t>
            </a:r>
            <a:r>
              <a:rPr dirty="0" err="1"/>
              <a:t>Transportasi</a:t>
            </a:r>
            <a:r>
              <a:rPr dirty="0"/>
              <a:t> dan </a:t>
            </a:r>
            <a:r>
              <a:rPr dirty="0" err="1"/>
              <a:t>Logistik</a:t>
            </a:r>
            <a:r>
              <a:rPr dirty="0"/>
              <a:t> (ITL) </a:t>
            </a:r>
            <a:r>
              <a:rPr dirty="0" err="1"/>
              <a:t>Trisakti</a:t>
            </a:r>
            <a:r>
              <a:rPr dirty="0"/>
              <a:t>  •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rPr dirty="0"/>
              <a:t>TOPIK 7: INLAND CONTAINER DEPOT (ICD) &amp; DRY PORT MANAGEMENT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rPr dirty="0" err="1"/>
              <a:t>Lanskap</a:t>
            </a:r>
            <a:r>
              <a:rPr dirty="0"/>
              <a:t> </a:t>
            </a:r>
            <a:r>
              <a:rPr dirty="0" err="1"/>
              <a:t>Ekosistem</a:t>
            </a:r>
            <a:r>
              <a:rPr dirty="0"/>
              <a:t> Hardware: 6 </a:t>
            </a:r>
            <a:r>
              <a:rPr dirty="0" err="1"/>
              <a:t>Klaster</a:t>
            </a:r>
            <a:r>
              <a:rPr dirty="0"/>
              <a:t> </a:t>
            </a:r>
            <a:r>
              <a:rPr dirty="0" err="1"/>
              <a:t>Operasional</a:t>
            </a:r>
            <a:r>
              <a:rPr dirty="0"/>
              <a:t> Terminal 35 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Specialist | Topik 7: ICD &amp; Dry Port Management (CIDP 35 Ha)                    Slide 2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rPr dirty="0"/>
              <a:t>TANTANGAN FISIK LAPANGAN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rPr dirty="0" err="1"/>
              <a:t>Standar</a:t>
            </a:r>
            <a:r>
              <a:rPr dirty="0"/>
              <a:t> Maritim &amp; Heavy-Duty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dirty="0"/>
              <a:t>• Luas area 35 Ha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manuver</a:t>
            </a:r>
            <a:r>
              <a:rPr dirty="0"/>
              <a:t> rutin </a:t>
            </a:r>
            <a:r>
              <a:rPr dirty="0" err="1"/>
              <a:t>truk</a:t>
            </a:r>
            <a:r>
              <a:rPr dirty="0"/>
              <a:t> trailer 40ft &amp; Reach Stacker 45 ton.</a:t>
            </a:r>
            <a:br>
              <a:rPr dirty="0"/>
            </a:br>
            <a:r>
              <a:rPr dirty="0"/>
              <a:t>• </a:t>
            </a:r>
            <a:r>
              <a:rPr dirty="0" err="1"/>
              <a:t>Operasi</a:t>
            </a:r>
            <a:r>
              <a:rPr dirty="0"/>
              <a:t> 24/7 non-stop di </a:t>
            </a:r>
            <a:r>
              <a:rPr dirty="0" err="1"/>
              <a:t>bawah</a:t>
            </a:r>
            <a:r>
              <a:rPr dirty="0"/>
              <a:t> </a:t>
            </a:r>
            <a:r>
              <a:rPr dirty="0" err="1"/>
              <a:t>terik</a:t>
            </a:r>
            <a:r>
              <a:rPr dirty="0"/>
              <a:t> </a:t>
            </a:r>
            <a:r>
              <a:rPr dirty="0" err="1"/>
              <a:t>matahari</a:t>
            </a:r>
            <a:r>
              <a:rPr dirty="0"/>
              <a:t>, </a:t>
            </a:r>
            <a:r>
              <a:rPr dirty="0" err="1"/>
              <a:t>debu</a:t>
            </a:r>
            <a:r>
              <a:rPr dirty="0"/>
              <a:t> semen/</a:t>
            </a:r>
            <a:r>
              <a:rPr dirty="0" err="1"/>
              <a:t>kontainer</a:t>
            </a:r>
            <a:r>
              <a:rPr dirty="0"/>
              <a:t>, &amp; </a:t>
            </a:r>
            <a:r>
              <a:rPr dirty="0" err="1"/>
              <a:t>kelembapan</a:t>
            </a:r>
            <a:r>
              <a:rPr dirty="0"/>
              <a:t> </a:t>
            </a:r>
            <a:r>
              <a:rPr dirty="0" err="1"/>
              <a:t>tinggi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Kebutuhan</a:t>
            </a:r>
            <a:r>
              <a:rPr dirty="0"/>
              <a:t> </a:t>
            </a:r>
            <a:r>
              <a:rPr dirty="0" err="1"/>
              <a:t>Proteksi</a:t>
            </a:r>
            <a:r>
              <a:rPr dirty="0"/>
              <a:t> </a:t>
            </a:r>
            <a:r>
              <a:rPr dirty="0" err="1"/>
              <a:t>Industri</a:t>
            </a:r>
            <a:r>
              <a:rPr dirty="0"/>
              <a:t>:</a:t>
            </a:r>
            <a:br>
              <a:rPr dirty="0"/>
            </a:br>
            <a:r>
              <a:rPr dirty="0"/>
              <a:t>  - </a:t>
            </a:r>
            <a:r>
              <a:rPr dirty="0" err="1"/>
              <a:t>Bodi</a:t>
            </a:r>
            <a:r>
              <a:rPr dirty="0"/>
              <a:t> </a:t>
            </a:r>
            <a:r>
              <a:rPr dirty="0" err="1"/>
              <a:t>tahan</a:t>
            </a:r>
            <a:r>
              <a:rPr dirty="0"/>
              <a:t> </a:t>
            </a:r>
            <a:r>
              <a:rPr dirty="0" err="1"/>
              <a:t>cuaca</a:t>
            </a:r>
            <a:r>
              <a:rPr dirty="0"/>
              <a:t> &amp; air: IP67 / IP68.</a:t>
            </a:r>
            <a:br>
              <a:rPr dirty="0"/>
            </a:br>
            <a:r>
              <a:rPr dirty="0"/>
              <a:t>  - </a:t>
            </a:r>
            <a:r>
              <a:rPr dirty="0" err="1"/>
              <a:t>Komputer</a:t>
            </a:r>
            <a:r>
              <a:rPr dirty="0"/>
              <a:t>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kipas</a:t>
            </a:r>
            <a:r>
              <a:rPr dirty="0"/>
              <a:t> (</a:t>
            </a:r>
            <a:r>
              <a:rPr dirty="0" err="1"/>
              <a:t>Fanless</a:t>
            </a:r>
            <a:r>
              <a:rPr dirty="0"/>
              <a:t> Industrial PC).</a:t>
            </a:r>
            <a:br>
              <a:rPr dirty="0"/>
            </a:br>
            <a:r>
              <a:rPr dirty="0"/>
              <a:t>  - </a:t>
            </a:r>
            <a:r>
              <a:rPr dirty="0" err="1"/>
              <a:t>Tahan</a:t>
            </a:r>
            <a:r>
              <a:rPr dirty="0"/>
              <a:t> </a:t>
            </a:r>
            <a:r>
              <a:rPr dirty="0" err="1"/>
              <a:t>getaran</a:t>
            </a:r>
            <a:r>
              <a:rPr dirty="0"/>
              <a:t> </a:t>
            </a:r>
            <a:r>
              <a:rPr dirty="0" err="1"/>
              <a:t>guncangan</a:t>
            </a:r>
            <a:r>
              <a:rPr dirty="0"/>
              <a:t>: MIL-STD-810G.</a:t>
            </a:r>
            <a:br>
              <a:rPr dirty="0"/>
            </a:br>
            <a:r>
              <a:rPr dirty="0"/>
              <a:t>  - </a:t>
            </a:r>
            <a:r>
              <a:rPr dirty="0" err="1"/>
              <a:t>Standar</a:t>
            </a:r>
            <a:r>
              <a:rPr dirty="0"/>
              <a:t> </a:t>
            </a:r>
            <a:r>
              <a:rPr dirty="0" err="1"/>
              <a:t>keselamatan</a:t>
            </a:r>
            <a:r>
              <a:rPr dirty="0"/>
              <a:t> </a:t>
            </a:r>
            <a:r>
              <a:rPr dirty="0" err="1"/>
              <a:t>rel</a:t>
            </a:r>
            <a:r>
              <a:rPr dirty="0"/>
              <a:t> KA: SIL 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SEBARAN 26 HARDWARE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6 Klaster Kritis Lapangan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1. Otomasi Gate (8 Item): ANPR, OCR, Timbangan 80t, RFID, Barrier, LED, Edge PC.</a:t>
            </a:r>
            <a:br/>
            <a:r>
              <a:t>2. Yard &amp; Alat Angkat (4 Item): DGPS RTK, Twistlock Spreader, VMT, Rugged PDA.</a:t>
            </a:r>
            <a:br/>
            <a:r>
              <a:t>3. Cold Chain (2 Item): Smart Socket 380V &amp; Thermal Camera.</a:t>
            </a:r>
            <a:br/>
            <a:r>
              <a:t>4. Rail Siding (3 Item): Axle Counter, AP WiFi 7, GPS Truk.</a:t>
            </a:r>
            <a:br/>
            <a:r>
              <a:t>5. Bea Cukai (5 Item): Gantry X-Ray 6 MeV, Smart E-Seal, CCTV.</a:t>
            </a:r>
            <a:br/>
            <a:r>
              <a:t>6. Core IT (4 Item): Datacenter, Switch PoE+, Online 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STRATEGI KONSULTAN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Rasionalisasi Menuju Slide 3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Tidak Semua Hardware Bekerja Sama:</a:t>
            </a:r>
            <a:br/>
            <a:r>
              <a:t>  - Ada perangkat aktif penghasil data transaksi telemetri dinamis.</a:t>
            </a:r>
            <a:br/>
            <a:r>
              <a:t>  - Ada perangkat infrastruktur pasif sebagai pendukung fasilitas fisik.</a:t>
            </a:r>
            <a:br/>
            <a:r>
              <a:t>• Efisiensi Anggaran (CAPEX Rp 18,94 M):</a:t>
            </a:r>
            <a:br/>
            <a:r>
              <a:t>  Pengadaan dirancang berbasis prioritas otomasi &amp; kepatuhan regulasi.</a:t>
            </a:r>
            <a:br/>
            <a:r>
              <a:t>• Jembatan Implementasi:</a:t>
            </a:r>
            <a:br/>
            <a:r>
              <a:t>  Diperlukan pemisahan tegas antara hardware yang disimulasikan alur datanya vs hardware blueprint fisik.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rPr dirty="0"/>
              <a:t>TOPIK 7: INLAND CONTAINER DEPOT (ICD) &amp; DRY PORT MANAGEMENT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rPr dirty="0"/>
              <a:t>Strategi </a:t>
            </a:r>
            <a:r>
              <a:rPr dirty="0" err="1"/>
              <a:t>Klasifikasi</a:t>
            </a:r>
            <a:r>
              <a:rPr dirty="0"/>
              <a:t>: 11 </a:t>
            </a:r>
            <a:r>
              <a:rPr dirty="0" err="1"/>
              <a:t>Perangkat</a:t>
            </a:r>
            <a:r>
              <a:rPr dirty="0"/>
              <a:t> </a:t>
            </a:r>
            <a:r>
              <a:rPr dirty="0" err="1"/>
              <a:t>Simulasi</a:t>
            </a:r>
            <a:r>
              <a:rPr dirty="0"/>
              <a:t> vs 15 </a:t>
            </a:r>
            <a:r>
              <a:rPr dirty="0" err="1"/>
              <a:t>Perangkat</a:t>
            </a:r>
            <a:r>
              <a:rPr dirty="0"/>
              <a:t>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Specialist | Topik 7: ICD &amp; Dry Port Management (CIDP 35 Ha)                    Slide 3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11 PERANGKAT SIMULASI (LIVE SOFTWARE &amp; POSTMAN)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Perangkat Aktif Penghasil Aliran Data Telemetri Dinamis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1. Kamera ANPR Gate (Hikvision DS-TCG406-E) — Plat Truk</a:t>
            </a:r>
            <a:br/>
            <a:r>
              <a:t>2. Kamera OCR Portal (Hikvision iDS-TCV300) — Nomor ISO 6346</a:t>
            </a:r>
            <a:br/>
            <a:r>
              <a:t>6. Jembatan Timbang 80t (Fangda Scale) — Validasi SOLAS VGM</a:t>
            </a:r>
            <a:br/>
            <a:r>
              <a:t>7. RFID Reader UHF 20m — Identifikasi e-Pass Supir</a:t>
            </a:r>
            <a:br/>
            <a:r>
              <a:t>10. LED Display Gerbang — Panduan Blok Yard Sopir</a:t>
            </a:r>
            <a:br/>
            <a:r>
              <a:t>18. Industrial Edge AI PC (Advantech ARK-3532) — Gateway JSON</a:t>
            </a:r>
            <a:br/>
            <a:r>
              <a:t>21. DGPS / RTK GNSS (&lt;2 cm) — Auto Bay-Row-Tier</a:t>
            </a:r>
            <a:br/>
            <a:r>
              <a:t>22. Spreader Twistlock &amp; Load Cell — Konfirmasi Lift-Off / Lo-Lo</a:t>
            </a:r>
            <a:br/>
            <a:r>
              <a:t>23. Smart Reefer Socket 380V — Monitoring Daya kWh &amp; Trip</a:t>
            </a:r>
            <a:br/>
            <a:r>
              <a:t>25. Rail Axle Counter (Frauscher) — Hitung Gandar Kereta Api</a:t>
            </a:r>
            <a:br/>
            <a:r>
              <a:t>26. Electronic Cargo Smart Seal (Jointech) — E-Seal Anti-Tamper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170B9"/>
                </a:solidFill>
              </a:defRPr>
            </a:pPr>
            <a:r>
              <a:t>15 PERANGKAT BLUEPRINT (INFRASTRUKTUR FISIK 35 HA)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Utilitas Jaringan, Kelistrikan, Daya Cadangan &amp; Keselamatan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3. CCTV Yard 4 MP (Hikvision) — 32 Titik Tiang Penumpukan</a:t>
            </a:r>
            <a:br/>
            <a:r>
              <a:t>4. CCTV Yard 8 MP 4K ColorVu — 16 Titik Pagar Perimeter</a:t>
            </a:r>
            <a:br/>
            <a:r>
              <a:t>5. CCTV PTZ 360° TandemVu — 8 Titik Menara Pengawas Pusat</a:t>
            </a:r>
            <a:br/>
            <a:r>
              <a:t>8. RFID Tag Pasif UHF ISO — 500 Tag Ditempel di Kaca Truk</a:t>
            </a:r>
            <a:br/>
            <a:r>
              <a:t>9. Automatic Barrier Gate — 4 Unit Palang Gerbang Masuk/Keluar</a:t>
            </a:r>
            <a:br/>
            <a:r>
              <a:t>11. Industrial Switch PoE+ IP40 — 12 Junction Box Lapangan</a:t>
            </a:r>
            <a:br/>
            <a:r>
              <a:t>12. Access Point WiFi 7 Outdoor (Ubiquiti) — 18 Tiang Yard &amp; Rel</a:t>
            </a:r>
            <a:br/>
            <a:r>
              <a:t>13. Server NVR 64-Ch &amp; Database (Hikvision) — Datacenter</a:t>
            </a:r>
            <a:br/>
            <a:r>
              <a:t>14. Online UPS 5000VA Rackmount (APC) — Daya Darurat 4.5 kW</a:t>
            </a:r>
            <a:br/>
            <a:r>
              <a:t>15. Barcode / QR Scanner Meja (Zebra) — 8 Unit Loket Pos</a:t>
            </a:r>
            <a:br/>
            <a:r>
              <a:t>16. Thermal Camera Reefer Yard — 4 Unit Pencegah Kebakaran</a:t>
            </a:r>
            <a:br/>
            <a:r>
              <a:t>17. GPS Tracker Truk 4G (Teltonika) — 40 Unit Armada Jalan Raya</a:t>
            </a:r>
            <a:br/>
            <a:r>
              <a:t>19. Gantry Container X-Ray 6 MeV (Nuctech) — Rp 12,5 Miliar Bea Cukai</a:t>
            </a:r>
            <a:br/>
            <a:r>
              <a:t>20. Vehicle Mounted Terminal (Zebra VC8300) — 6 Kabin Alat Berat</a:t>
            </a:r>
            <a:br/>
            <a:r>
              <a:t>24. Rugged Mobile PDA (Zebra TC57x) — 10 Unit Tallyman Lapangan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Klaster 1: Otomasi Gerbang &amp; Rantai Trigger (28 Detik Selesai)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Specialist | Topik 7: ICD &amp; Dry Port Management (CIDP 35 Ha)                    Slide 4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783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TAHAP 1: ANPR</a:t>
            </a:r>
          </a:p>
          <a:p>
            <a:pPr>
              <a:spcBef>
                <a:spcPts val="400"/>
              </a:spcBef>
              <a:defRPr sz="1200" b="1">
                <a:solidFill>
                  <a:srgbClr val="002F5E"/>
                </a:solidFill>
              </a:defRPr>
            </a:pPr>
            <a:r>
              <a:t>Induction Loop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Massa logam truk melindas loop -&gt; Kamera ANPR capture plat B 9812 UIK via TCP/IP.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63240" y="1828800"/>
            <a:ext cx="1783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TAHAP 2: OCR ISO</a:t>
            </a:r>
          </a:p>
          <a:p>
            <a:pPr>
              <a:spcBef>
                <a:spcPts val="400"/>
              </a:spcBef>
              <a:defRPr sz="1200" b="1">
                <a:solidFill>
                  <a:srgbClr val="002F5E"/>
                </a:solidFill>
              </a:defRPr>
            </a:pPr>
            <a:r>
              <a:t>Portal Photocell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Peti kemas memotong sinar -&gt; Portal OCR membaca nomor TCKU 8291042 (40HC).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57800" y="1828800"/>
            <a:ext cx="1783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TAHAP 3: TIMBANGAN</a:t>
            </a:r>
          </a:p>
          <a:p>
            <a:pPr>
              <a:spcBef>
                <a:spcPts val="400"/>
              </a:spcBef>
              <a:defRPr sz="1200" b="1">
                <a:solidFill>
                  <a:srgbClr val="002F5E"/>
                </a:solidFill>
              </a:defRPr>
            </a:pPr>
            <a:r>
              <a:t>Load Cell 80t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Truk berhenti di jembatan timbang -&gt; Indikator kirim berat 32.450 kg via RS-232.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59" y="1828800"/>
            <a:ext cx="1783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TAHAP 4: EDGE AI PC</a:t>
            </a:r>
          </a:p>
          <a:p>
            <a:pPr>
              <a:spcBef>
                <a:spcPts val="400"/>
              </a:spcBef>
              <a:defRPr sz="1200" b="1">
                <a:solidFill>
                  <a:srgbClr val="002F5E"/>
                </a:solidFill>
              </a:defRPr>
            </a:pPr>
            <a:r>
              <a:t>Advantech ARK-3532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Validasi lokal tiket &amp; berat SOLAS VGM -&gt; picu relay DC 24V buka palang &amp; kirim JSON.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46920" y="1828800"/>
            <a:ext cx="1783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TAHAP 5: PALANG &amp; LED</a:t>
            </a:r>
          </a:p>
          <a:p>
            <a:pPr>
              <a:spcBef>
                <a:spcPts val="400"/>
              </a:spcBef>
              <a:defRPr sz="1200" b="1">
                <a:solidFill>
                  <a:srgbClr val="002F5E"/>
                </a:solidFill>
              </a:defRPr>
            </a:pPr>
            <a:r>
              <a:t>Barrier &amp; LED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LED tampilkan 'MENUJU BLOK B04' -&gt; Palang terbuka -&gt; Webhook Odoo terbit Rp 50.000.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Klaster 2: Telemetri Alat Berat &amp; Penumpukan 3D Presisi Tinggi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Specialist | Topik 7: ICD &amp; Dry Port Management (CIDP 35 Ha)                    Slide 5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SPREADER TWISTLOCK KIT (#22)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Deteksi Penguncian Fisik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Model: Bromma SmartSpreader Kit</a:t>
            </a:r>
            <a:br/>
            <a:r>
              <a:t>• Pemicu: Pin hidrolik berputar 90° dalam corner casting peti kemas.</a:t>
            </a:r>
            <a:br/>
            <a:r>
              <a:t>• Sensor: Proximity sensor mendeteksi logam pin (LOCKED / UNLOCKED).</a:t>
            </a:r>
            <a:br/>
            <a:r>
              <a:t>• Load Cell: Mengukur tonase angkat riil saat boom bergerak.</a:t>
            </a:r>
            <a:br/>
            <a:r>
              <a:t>• Aksi Odoo: Transisi ke UNLOCKED memicu tagihan Jasa Lift-Off Rp 250.000!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DGPS / RTK GNSS RECEIVER (#21)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Akurasi Sentimeter (&lt; 2 cm)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Model: CHCNAV CGI-610 Dual-Antenna</a:t>
            </a:r>
            <a:br/>
            <a:r>
              <a:t>• Pemicu: Sinyal satelit + koreksi diferensial base station lokal + IMU boom.</a:t>
            </a:r>
            <a:br/>
            <a:r>
              <a:t>• Drop Trigger: Saat twistlock terbuka, koordinat spatio-temporal (X,Y,Z) dikunci detik itu juga.</a:t>
            </a:r>
            <a:br/>
            <a:r>
              <a:t>• YMS: Mengonversi koordinat ke format Block B, Bay 04, Row 02, Tier 03.</a:t>
            </a:r>
            <a:br/>
            <a:r>
              <a:t>• Meniadakan kesalahan salah letak kontainer!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VMT KABIN &amp; MOBILE PDA (#20 &amp; #24)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Komputer Lapangan (Blueprint)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Model: Zebra VC8300 (VMT) &amp; Zebra TC57x (PDA)</a:t>
            </a:r>
            <a:br/>
            <a:r>
              <a:t>• Layar ultra-bright 8 inci &amp; scanner 2D tahan banting IP66/IP68.</a:t>
            </a:r>
            <a:br/>
            <a:r>
              <a:t>• Menampilkan job dispatching antrean pemindahan kontainer ke operator crane.</a:t>
            </a:r>
            <a:br/>
            <a:r>
              <a:t>• PDA digunakan tallyman untuk inspeksi fisik bodi kontainer (EIR - Equipment Interchange Receipt).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Klaster 3, 4, &amp; 5: Cold Chain Reefer, Rel Kereta Api, &amp; Pabean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Specialist | Topik 7: ICD &amp; Dry Port Management (CIDP 35 Ha)                    Slide 6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SMART REEFER SOCKET (#23)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Cold Chain 300 Titik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Model: Marechal 380V/32A Decontactor</a:t>
            </a:r>
            <a:br/>
            <a:r>
              <a:t>• Pemicu: Steker dicolok -&gt; Trafo arus (CT) mendeteksi arus start &gt; 5A.</a:t>
            </a:r>
            <a:br/>
            <a:r>
              <a:t>• Proteksi: Jika arus drop mendadak ke 0A (kompresor mati), alarm trip menyala dalam 3 detik.</a:t>
            </a:r>
            <a:br/>
            <a:r>
              <a:t>• Aksi Odoo: Setiap shift (8 jam), terbit tagihan Jasa Steker Reefer Rp 250.000 / shift.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RAIL AXLE COUNTER (#25)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Intermodal Rail Siding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Model: Frauscher RSR123 (SIL 4, IP68)</a:t>
            </a:r>
            <a:br/>
            <a:r>
              <a:t>• Pemicu: Pelek roda baja KA memotong medan induktif di leher rel sepur simpan.</a:t>
            </a:r>
            <a:br/>
            <a:r>
              <a:t>• Logika: Mencacah as roda (120 as = 30 gerbong datar = 60 TEUs).</a:t>
            </a:r>
            <a:br/>
            <a:r>
              <a:t>• YMS: Ubah status rel menjadi OCCUPIED.</a:t>
            </a:r>
            <a:br/>
            <a:r>
              <a:t>• Aksi Odoo: Validasi sewa rel (Track Access Charge) ke PT KAI Logistik.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SMART E-SEAL GPS (#26)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Integritas Bea Cukai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Model: Jointech JT701 GPS Smart Lock</a:t>
            </a:r>
            <a:br/>
            <a:r>
              <a:t>• Pemicu: Kawat baja dikunci di Priok -&gt; GPS aktifkan status SEAL_ARMED.</a:t>
            </a:r>
            <a:br/>
            <a:r>
              <a:t>• Tamper Alert: Jika kawat dipotong paksa di jalan, alarm sabotase dikirim via 4G.</a:t>
            </a:r>
            <a:br/>
            <a:r>
              <a:t>• Aksi Odoo: Wajib berstatus SPPB Cleared sebelum modul Odoo Inventory mengizinkan rilis Delivery Order (DO).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Matriks Integrasi Data: Hardware ➔ YMS ➔ ERP Odoo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Specialist | Topik 7: ICD &amp; Dry Port Management (CIDP 35 Ha)                    Slide 7 of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901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Protokol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Aksi di YMS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Modul ERP Odoo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Dampak Finansial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Kamera ANPR (#1)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TCP/IP HTTP Post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Validasi plat truk di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Fleet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Rekonsiliasi Armada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Kamera OCR ISO (#2)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Ethernet Socket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Identifikasi nomor box 40HC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Penetapan Tarif 40ft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Timbangan 80t (#6)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Serial RS-232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Validasi SOLAS VGM (&lt;34t)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Invoicing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Tagihan Timbang Rp 50rb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RFID Reader (#7)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Wiegand / 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Identifikasi e-Pass supir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Accounting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Potong Deposit Supir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Edge AI PC (#18)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REST API JSON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Gateway keputusan gerbang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API Gateway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Pengirim Webhook Event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DGPS RTK (&lt;2cm) (#21)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NMEA-0183 Serial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Auto-update Bay-Row-Tier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Maintenance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Jam Jalan Alat Berat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Twistlock Spreader (#22)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CANopen / Proximity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Konfirmasi box dilepas di yard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Invoicing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Tagihan Lo-Lo Rp 250rb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Smart Reefer (#23)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Modbus / LoRaWAN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Monitoring suhu &amp; trip listrik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Invoicing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Tagihan Steker Rp 250rb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Axle Counter (#25)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Pulsa / Modbus TCP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Hitung gerbong &amp; okupansi rel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Purchase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Validasi Sewa Rel (TAC)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0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15 Item Blueprint Lain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FO, NVR, UPS, CCTV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Utilitas fisik &amp; keamanan 35Ha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Depresiasi Aset Tetap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Bukti Uji Postman: Struktur Payload JSON Riil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Specialist | Topik 7: ICD &amp; Dry Port Management (CIDP 35 Ha)                    Slide 8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POSTMAN REQUEST: TRIGGER GATE-IN &amp; VGM SCALE</a:t>
            </a:r>
          </a:p>
          <a:p>
            <a:pPr>
              <a:spcBef>
                <a:spcPts val="800"/>
              </a:spcBef>
              <a:defRPr sz="900">
                <a:solidFill>
                  <a:srgbClr val="FFFFFF"/>
                </a:solidFill>
                <a:latin typeface="Consolas"/>
              </a:defRPr>
            </a:pPr>
            <a:r>
              <a:t>POST /api/simulator_action.php?action=gate_in</a:t>
            </a:r>
            <a:br/>
            <a:r>
              <a:t>Content-Type: application/json</a:t>
            </a:r>
            <a:br/>
            <a:br/>
            <a:r>
              <a:t>{</a:t>
            </a:r>
            <a:br/>
            <a:r>
              <a:t>  "device_source": "ADVANTECH_EDGE_PC_GATE_01",</a:t>
            </a:r>
            <a:br/>
            <a:r>
              <a:t>  "sensor_telemetry": {</a:t>
            </a:r>
            <a:br/>
            <a:r>
              <a:t>    "anpr_license_plate": "B 9812 UIK",</a:t>
            </a:r>
            <a:br/>
            <a:r>
              <a:t>    "ocr_container_number": "TCKU8291042",</a:t>
            </a:r>
            <a:br/>
            <a:r>
              <a:t>    "ocr_iso_code": "42G1",</a:t>
            </a:r>
            <a:br/>
            <a:r>
              <a:t>    "container_size": "40FT_HIGH_CUBE",</a:t>
            </a:r>
            <a:br/>
            <a:r>
              <a:t>    "rfid_driver_tag": "RFID-TRK-9812",</a:t>
            </a:r>
            <a:br/>
            <a:r>
              <a:t>    "measured_gross_kg": 32450,</a:t>
            </a:r>
            <a:br/>
            <a:r>
              <a:t>    "truck_tare_kg": 11200,</a:t>
            </a:r>
            <a:br/>
            <a:r>
              <a:t>    "vgm_net_kg": 21250,</a:t>
            </a:r>
            <a:br/>
            <a:r>
              <a:t>    "vgm_solas_status": "VERIFIED_PASS"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WEBHOOK OUTPUT: YMS ➔ ERP ODOO INVOICING</a:t>
            </a:r>
          </a:p>
          <a:p>
            <a:pPr>
              <a:spcBef>
                <a:spcPts val="800"/>
              </a:spcBef>
              <a:defRPr sz="900">
                <a:solidFill>
                  <a:srgbClr val="FFFFFF"/>
                </a:solidFill>
                <a:latin typeface="Consolas"/>
              </a:defRPr>
            </a:pPr>
            <a:r>
              <a:t>POST https://erp.cidp.ac.id/api/v1/billing/charge-event</a:t>
            </a:r>
            <a:br/>
            <a:r>
              <a:t>Authorization: Bearer SECRET_TOKEN_CIDP_2026</a:t>
            </a:r>
            <a:br/>
            <a:br/>
            <a:r>
              <a:t>{</a:t>
            </a:r>
            <a:br/>
            <a:r>
              <a:t>  "event_id": "EVT-20260923-0042",</a:t>
            </a:r>
            <a:br/>
            <a:r>
              <a:t>  "customer_id": "CUST-SAMUDERA-01",</a:t>
            </a:r>
            <a:br/>
            <a:r>
              <a:t>  "customer_name": "PT Samudera Logistik Prima",</a:t>
            </a:r>
            <a:br/>
            <a:r>
              <a:t>  "container_number": "TCKU8291042",</a:t>
            </a:r>
            <a:br/>
            <a:r>
              <a:t>  "billing_breakdown": [</a:t>
            </a:r>
            <a:br/>
            <a:r>
              <a:t>    {</a:t>
            </a:r>
            <a:br/>
            <a:r>
              <a:t>      "service_code": "SRV-VGM",</a:t>
            </a:r>
            <a:br/>
            <a:r>
              <a:t>      "description": "Jembatan Timbang VGM 80t",</a:t>
            </a:r>
            <a:br/>
            <a:r>
              <a:t>      "amount": 50000</a:t>
            </a:r>
            <a:br/>
            <a:r>
              <a:t>    },</a:t>
            </a:r>
            <a:br/>
            <a:r>
              <a:t>    {</a:t>
            </a:r>
            <a:br/>
            <a:r>
              <a:t>      "service_code": "SRV-LIFT-OFF",</a:t>
            </a:r>
            <a:br/>
            <a:r>
              <a:t>      "description": "Jasa Lift-Off Peti Kemas 40ft",</a:t>
            </a:r>
            <a:br/>
            <a:r>
              <a:t>      "amount": 250000</a:t>
            </a:r>
            <a:br/>
            <a:r>
              <a:t>    }</a:t>
            </a:r>
            <a:br/>
            <a:r>
              <a:t>  ],</a:t>
            </a:r>
            <a:br/>
            <a:r>
              <a:t>  "total_billable_idr": 300000,</a:t>
            </a:r>
            <a:br/>
            <a:r>
              <a:t>  "status": "AUTO_INVOICE_GENERATED"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Rekapitulasi Rencana Anggaran Belanja Modal (CAPEX Rp 18,94 Miliar)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Specialist | Topik 7: ICD &amp; Dry Port Management (CIDP 35 Ha)                    Slide 9 of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Klaster Operasional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Jumlah Item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Unit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Subtotal CAPEX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Persentase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Otomasi Gate &amp; Kontrol Akses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8 Jenis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522 Unit / Pack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Rp 1.460.500.000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7.7%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Telemetri Lapangan Penumpukan &amp; Crane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4 Jenis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28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Rp 1.084.000.000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Cold Chain &amp; Monitoring Reefer Yard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2 Jenis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304 Unit / Titik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Rp 2.670.000.000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14.1%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Infrastruktur Intermodal Rel 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3 Jenis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62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Rp 569.600.000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Keamanan Terminal &amp; Bea Cukai (X-Ray)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5 Jenis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157 Unit / Sistem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Rp 13.118.400.000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69.3%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Core Datacenter, Edge PC &amp; Jaringan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4 Jenis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26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Rp 660.800.000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2F5E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2F5E"/>
                          </a:solidFill>
                        </a:defRPr>
                      </a:pPr>
                      <a:r>
                        <a:t>Seluruh Fasilitas CIDP 35 Hektar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2F5E"/>
                          </a:solidFill>
                        </a:defRPr>
                      </a:pPr>
                      <a:r>
                        <a:t>26 Item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2F5E"/>
                          </a:solidFill>
                        </a:defRPr>
                      </a:pPr>
                      <a:r>
                        <a:t>1.099 Unit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2F5E"/>
                          </a:solidFill>
                        </a:defRPr>
                      </a:pPr>
                      <a:r>
                        <a:t>Rp 18.943.300.000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2F5E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Kesimpulan: Efisiensi Operasional &amp; Akuntabilitas Finansial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Specialist | Topik 7: ICD &amp; Dry Port Management (CIDP 35 Ha)                    Slide 10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AKURASI PENEMPATAN 100%</a:t>
            </a:r>
          </a:p>
          <a:p>
            <a:pPr>
              <a:spcBef>
                <a:spcPts val="200"/>
              </a:spcBef>
              <a:defRPr sz="1200" b="1">
                <a:solidFill>
                  <a:srgbClr val="002F5E"/>
                </a:solidFill>
              </a:defRPr>
            </a:pPr>
            <a:r>
              <a:t>Meniadakan Kesalahan Salah Letak Kontainer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Kombinasi dual-antenna DGPS RTK (&lt; 2 cm) dan proximity sensor twistlock memastikan koordinat 3D Bay-Row-Tier ter-update secara otomatis tanpa input radio manual.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WAKTU TRANSAKSI GATE 28 DETIK</a:t>
            </a:r>
          </a:p>
          <a:p>
            <a:pPr>
              <a:spcBef>
                <a:spcPts val="200"/>
              </a:spcBef>
              <a:defRPr sz="1200" b="1">
                <a:solidFill>
                  <a:srgbClr val="002F5E"/>
                </a:solidFill>
              </a:defRPr>
            </a:pPr>
            <a:r>
              <a:t>Mengeliminasi Kemacetan Antrean Truk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Otomasi paralel kamera ANPR, OCR portal, jembatan timbang 80t, dan pembaca e-Pass RFID UHF memangkas waktu proses gerbang hingga 37% dibanding sistem manual.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ZERO REVENUE LEAKAGE</a:t>
            </a:r>
          </a:p>
          <a:p>
            <a:pPr>
              <a:spcBef>
                <a:spcPts val="200"/>
              </a:spcBef>
              <a:defRPr sz="1200" b="1">
                <a:solidFill>
                  <a:srgbClr val="002F5E"/>
                </a:solidFill>
              </a:defRPr>
            </a:pPr>
            <a:r>
              <a:t>Nol Kebocoran Pendapatan Jasa Terminal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Setiap aktivitas fisik alat di lapangan seketika menjadi bukti transaksi sah yang menembakkan tagihan otomatis ke modul ERP Odoo Invoicing tanpa campur tangan staf admin.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KESIAPAN ARSITEKTUR PLUG-AND-PLAY</a:t>
            </a:r>
          </a:p>
          <a:p>
            <a:pPr>
              <a:spcBef>
                <a:spcPts val="200"/>
              </a:spcBef>
              <a:defRPr sz="1200" b="1">
                <a:solidFill>
                  <a:srgbClr val="002F5E"/>
                </a:solidFill>
              </a:defRPr>
            </a:pPr>
            <a:r>
              <a:t>Teruji Sepenuhnya Menggunakan Postman JSON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Pemisahan sistem 3-layer menjamin bahwa hardware fisik di lapangan kelak tinggal mengarahkan pengiriman data ke endpoint API yang sama tanpa mengubah kode software.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LAMPIRAN A: DOKUMENTASI RESMI PERANGKAT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Lampiran Visual: Perangkat Simulasi Live Software (Bagian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Specialist | Topik 7: ICD &amp; Dry Port Management (CIDP 35 Ha)                    Slide 11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tem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28800"/>
            <a:ext cx="27432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7490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ITEM #18: INDUSTRIAL EDGE AI PC</a:t>
            </a:r>
          </a:p>
          <a:p>
            <a:pPr>
              <a:spcBef>
                <a:spcPts val="200"/>
              </a:spcBef>
              <a:defRPr sz="1100" b="1">
                <a:solidFill>
                  <a:srgbClr val="002F5E"/>
                </a:solidFill>
              </a:defRPr>
            </a:pPr>
            <a:r>
              <a:t>Advantech ARK-3532 Fanless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Intel Core i7, Fanless -20°C s/d 60°C, 4x COM RS-232/422/485, Dual GbE PoE. Pengirim utama JSON ke YMS &amp; Odoo.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tem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28800"/>
            <a:ext cx="27432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37490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ITEM #21: DGPS / RTK GNSS RECEIVER</a:t>
            </a:r>
          </a:p>
          <a:p>
            <a:pPr>
              <a:spcBef>
                <a:spcPts val="200"/>
              </a:spcBef>
              <a:defRPr sz="1100" b="1">
                <a:solidFill>
                  <a:srgbClr val="002F5E"/>
                </a:solidFill>
              </a:defRPr>
            </a:pPr>
            <a:r>
              <a:t>CHCNAV CGI-610 Dual-Antenna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Akurasi RTK &lt; 2 cm, 50 Hz, IMU sensor, IP67. Terpasang pada boom Reach Stacker untuk auto Bay-Row-Tier.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tem_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828800"/>
            <a:ext cx="274320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37490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ITEM #22: SPREADER TWISTLOCK KIT</a:t>
            </a:r>
          </a:p>
          <a:p>
            <a:pPr>
              <a:spcBef>
                <a:spcPts val="200"/>
              </a:spcBef>
              <a:defRPr sz="1100" b="1">
                <a:solidFill>
                  <a:srgbClr val="002F5E"/>
                </a:solidFill>
              </a:defRPr>
            </a:pPr>
            <a:r>
              <a:t>Bromma SmartSpreader Kit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4x Proximity sensor + 4x load cell, CANopen. Deteksi status LOCKED/UNLOCKED pemicu tagihan Lo-Lo Rp 250rb.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LAMPIRAN A: DOKUMENTASI RESMI PERANGKAT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Lampiran Visual: Perangkat Simulasi Live Software (Bagian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Specialist | Topik 7: ICD &amp; Dry Port Management (CIDP 35 Ha)                    Slide 12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tem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28800"/>
            <a:ext cx="27432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7490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ITEM #23: SMART REEFER SOCKET</a:t>
            </a:r>
          </a:p>
          <a:p>
            <a:pPr>
              <a:spcBef>
                <a:spcPts val="200"/>
              </a:spcBef>
              <a:defRPr sz="1100" b="1">
                <a:solidFill>
                  <a:srgbClr val="002F5E"/>
                </a:solidFill>
              </a:defRPr>
            </a:pPr>
            <a:r>
              <a:t>Marechal 380V/32A Receptacle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Daya 380V/32A IP67, energy meter kWh digital, Modbus/LoRaWAN, trip alarm. Pemicu tagihan plugging Rp 250rb/shift.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tem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28800"/>
            <a:ext cx="27432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37490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ITEM #25: RAIL AXLE COUNTER</a:t>
            </a:r>
          </a:p>
          <a:p>
            <a:pPr>
              <a:spcBef>
                <a:spcPts val="200"/>
              </a:spcBef>
              <a:defRPr sz="1100" b="1">
                <a:solidFill>
                  <a:srgbClr val="002F5E"/>
                </a:solidFill>
              </a:defRPr>
            </a:pPr>
            <a:r>
              <a:t>Frauscher RSR123 Wheel Sensor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Sensor induktif pelek roda KA, SIL 4, IP68. Menghitung gerbong kontainer &amp; okupansi sepur rel intermodal.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tem_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828800"/>
            <a:ext cx="274320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37490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ITEM #26: SMART E-SEAL GPS</a:t>
            </a:r>
          </a:p>
          <a:p>
            <a:pPr>
              <a:spcBef>
                <a:spcPts val="200"/>
              </a:spcBef>
              <a:defRPr sz="1100" b="1">
                <a:solidFill>
                  <a:srgbClr val="002F5E"/>
                </a:solidFill>
              </a:defRPr>
            </a:pPr>
            <a:r>
              <a:t>Jointech JT701 GPS Smart Lock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Gembok elektronik GPS/GSM/RFID, sensor kabel anti-potong. Integritas pabean Priok-CIDP (syarat DO Odoo).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LAMPIRAN B: DOKUMENTASI RESMI PERANGKAT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Lampiran Visual: Perangkat Blueprint Fasilitas Fisik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Specialist | Topik 7: ICD &amp; Dry Port Management (CIDP 35 Ha)                    Slide 13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tem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28800"/>
            <a:ext cx="27432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7490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ITEM #24: RUGGED MOBILE PDA</a:t>
            </a:r>
          </a:p>
          <a:p>
            <a:pPr>
              <a:spcBef>
                <a:spcPts val="200"/>
              </a:spcBef>
              <a:defRPr sz="1100" b="1">
                <a:solidFill>
                  <a:srgbClr val="002F5E"/>
                </a:solidFill>
              </a:defRPr>
            </a:pPr>
            <a:r>
              <a:t>Zebra TC57x / Honeywell CT60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Android Enterprise, 2D Barcode Imager, IP68 tahan air &amp; jatuh 1.8m. Digunakan petugas tallyman untuk pembuatan bukti serah terima kontainer (EIR).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7040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6675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5E"/>
                </a:solidFill>
              </a:defRPr>
            </a:pPr>
            <a:r>
              <a:t>REFERENSI KATALOG RESMI 14 PERANGKAT BLUEPRINT LAINNYA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• Item #3: CCTV Yard 4 MP (Hikvision DS-2CD2046G2H-IU) — 32 Unit Tiang Tumpukan</a:t>
            </a:r>
            <a:br/>
            <a:r>
              <a:t>• Item #4: CCTV Yard 8 MP 4K ColorVu (Hikvision DS-2CD2T87G2H-LI) — 16 Unit Pagar Perimeter</a:t>
            </a:r>
            <a:br/>
            <a:r>
              <a:t>• Item #5: CCTV PTZ 360° TandemVu (Hikvision DS-2SE4C425MWG) — 8 Unit Menara Pengawas</a:t>
            </a:r>
            <a:br/>
            <a:r>
              <a:t>• Item #8: RFID Tag Pasif UHF ISO 18000-6C — 500 Tag Ditempel di Kaca Truk Mitra</a:t>
            </a:r>
            <a:br/>
            <a:r>
              <a:t>• Item #9: High-Speed Automatic Barrier Gate — 4 Unit Palang Gerbang Buka 1.2 Detik</a:t>
            </a:r>
            <a:br/>
            <a:r>
              <a:t>• Item #11: Industrial Switch PoE+ Managed IP40 — 12 Unit Junction Box Lapangan</a:t>
            </a:r>
            <a:br/>
            <a:r>
              <a:t>• Item #12: Outdoor Access Point WiFi 7 (Ubiquiti U7 Pro) — 18 Tiang Yard &amp; Rel KA</a:t>
            </a:r>
            <a:br/>
            <a:r>
              <a:t>• Item #13: Server NVR 64-Ch &amp; Database (Hikvision DS-9664NI-M16/R) — Datacenter</a:t>
            </a:r>
            <a:br/>
            <a:r>
              <a:t>• Item #14: Online UPS 5000VA Rackmount (APC SRT5KRMXLI) — Daya Darurat 4.5 kW</a:t>
            </a:r>
            <a:br/>
            <a:r>
              <a:t>• Item #15: Barcode / QR Scanner Meja (Zebra Symbol LS2208) — 8 Unit Loket Pos</a:t>
            </a:r>
            <a:br/>
            <a:r>
              <a:t>• Item #16: Thermal Camera Reefer Yard (Hikvision DS-2TD2636B) — 4 Unit Anti Kebakaran</a:t>
            </a:r>
            <a:br/>
            <a:r>
              <a:t>• Item #17: GPS Tracker Truk 4G (Teltonika TAT240) — 40 Unit Armada Koridor Priok-CIDP</a:t>
            </a:r>
            <a:br/>
            <a:r>
              <a:t>• Item #19: Gantry Container X-Ray Scanner 6 MeV (Nuctech MB1215DE) — Rp 12,5 Miliar</a:t>
            </a:r>
            <a:br/>
            <a:r>
              <a:t>• Item #20: Vehicle Mounted Terminal (Zebra VC8300 Rugged 8") — 6 Kabin Crane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LAMPIRAN C: MASTER BILL OF MATERIALS (BOM)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Tabel Lengkap 26 Hardware &amp; Spesifikasi (Item #1 s/d #13)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Specialist | Topik 7: ICD &amp; Dry Port Management (CIDP 35 Ha)                    Slide 14 of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35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Nama Hardware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Model / Tipe Rekomendasi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Klasifikasi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Harga Satuan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Subtotal CAPEX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Kamera ANPR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Hikvision DS-TCG406-E Series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16.000.000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64.000.000 (4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Kamera OCR Kontainer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Hikvision iDS-TCV300-A6I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55.000.000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220.000.000 (4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CCTV Yard 4 MP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Hikvision DS-2CD2046G2H-IU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3.500.000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112.000.000 (32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CCTV Yard 8 MP 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Hikvision DS-2CD2T87G2H-LI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6.500.000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104.000.000 (16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CCTV PTZ 360°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Hikvision DS-2SE4C425MWG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10.300.000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82.400.000 (8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Weighbridge 80 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Fangda Electronic Truck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267.000.000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534.000.000 (2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RFID Reader UHF 20m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Long-Range UHF Reader 20m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12.000.000 (4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RFID Tag UHF ISO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UHF Anti-Metal ISO 18000-6C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690.000 / pack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34.500.000 (50 pack)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Automatic Barrier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High-Speed DC Brushless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60.000.000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240.000.000 (4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LED Info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Chipshow Outdoor P6/P8 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47.000.000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188.000.000 (4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Industrial Switch PoE+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Managed 24-Port GbE IP40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10.000.000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120.000.000 (12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Outdoor Access 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Ubiquiti U7 Pro WiFi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7.200.000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129.600.000 (18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35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Server NVR &amp; DB 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Hikvision DS-9664NI-M16/R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102.000.000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204.000.000 (2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LAMPIRAN C: MASTER BILL OF MATERIALS (BOM)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Tabel Lengkap 26 Hardware &amp; Spesifikasi (Item #14 s/d #26)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Specialist | Topik 7: ICD &amp; Dry Port Management (CIDP 35 Ha)                    Slide 15 of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35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Nama Hardware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Model / Tipe Rekomendasi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Klasifikasi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Harga Satuan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Subtotal CAPEX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Online UPS 5000VA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APC Smart-UPS SRT5KRMXLI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81.000.000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324.000.000 (4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Barcode / QR Scanner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Zebra Symbol LS2208 USB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1.600.000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12.800.000 (8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Thermal Camera Reefer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Hikvision DS-2TD2636B-13/P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30.000.000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120.000.000 (4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GPS Tracker Truk 4G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Teltonika TAT240 4G LTE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2.500.000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100.000.000 (40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Industrial Edge AI PC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Advantech ARK-3532 Fanless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42.000.000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168.000.000 (4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Gantry X-Ray Scanner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Nuctech MB1215DE 6 MeV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12.500.000.000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12.500.000.000 (1 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VMT Kabin Alat Berat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Zebra VC8300 Rugged 8"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74.000.000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444.000.000 (6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DGPS / RTK Receiver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CHCNAV CGI-610 GNSS/INS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45.000.000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270.000.000 (6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Spreader Twistlock Kit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Bromma SmartSpreader Kit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35.000.000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210.000.000 (6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Smart Reefer Socket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Marechal 380V/32A Receptacle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8.500.000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2.550.000.000 (300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Rugged Mobile PDA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Zebra TC57x Handheld IP68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16.000.000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160.000.000 (10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Rail Axle Counter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Frauscher RSR123 Wheel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85.000.000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340.000.000 (4 sensor)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35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Smart E-Seal GPS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Jointech JT701 GPS Smart Lock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3.200.000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320.000.000 (100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3889</Words>
  <Application>Microsoft Office PowerPoint</Application>
  <PresentationFormat>Widescreen</PresentationFormat>
  <Paragraphs>417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Armansyah Muchtarrom</cp:lastModifiedBy>
  <cp:revision>4</cp:revision>
  <dcterms:created xsi:type="dcterms:W3CDTF">2013-01-27T09:14:16Z</dcterms:created>
  <dcterms:modified xsi:type="dcterms:W3CDTF">2026-09-23T02:06:39Z</dcterms:modified>
  <cp:category/>
</cp:coreProperties>
</file>