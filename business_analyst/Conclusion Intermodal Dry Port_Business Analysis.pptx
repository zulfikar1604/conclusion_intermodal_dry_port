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F6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F6B"/>
                </a:solidFill>
                <a:latin typeface="Calibri"/>
              </a:rPr>
              <a:t>CAPEX (Rp Miliar)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F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7F-400D-B2A2-745E26DAB51E}"/>
              </c:ext>
            </c:extLst>
          </c:dPt>
          <c:dPt>
            <c:idx val="1"/>
            <c:bubble3D val="0"/>
            <c:spPr>
              <a:solidFill>
                <a:srgbClr val="017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7F-400D-B2A2-745E26DAB51E}"/>
              </c:ext>
            </c:extLst>
          </c:dPt>
          <c:dPt>
            <c:idx val="2"/>
            <c:bubble3D val="0"/>
            <c:spPr>
              <a:solidFill>
                <a:srgbClr val="3A9A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C7F-400D-B2A2-745E26DAB51E}"/>
              </c:ext>
            </c:extLst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C7F-400D-B2A2-745E26DAB51E}"/>
              </c:ext>
            </c:extLst>
          </c:dPt>
          <c:dPt>
            <c:idx val="4"/>
            <c:bubble3D val="0"/>
            <c:spPr>
              <a:solidFill>
                <a:srgbClr val="F7C8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C7F-400D-B2A2-745E26DAB51E}"/>
              </c:ext>
            </c:extLst>
          </c:dPt>
          <c:dPt>
            <c:idx val="5"/>
            <c:bubble3D val="0"/>
            <c:spPr>
              <a:solidFill>
                <a:srgbClr val="8FB8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C7F-400D-B2A2-745E26DAB51E}"/>
              </c:ext>
            </c:extLst>
          </c:dPt>
          <c:dPt>
            <c:idx val="6"/>
            <c:bubble3D val="0"/>
            <c:spPr>
              <a:solidFill>
                <a:srgbClr val="C9DD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C7F-400D-B2A2-745E26DAB51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C7F-400D-B2A2-745E26DAB51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400D-B2A2-745E26DAB51E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400D-B2A2-745E26DAB51E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400D-B2A2-745E26DAB51E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400D-B2A2-745E26DAB51E}"/>
                </c:ext>
              </c:extLst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400D-B2A2-745E26DAB51E}"/>
                </c:ext>
              </c:extLst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id-ID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400D-B2A2-745E26DAB51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Lahan &amp; perkerasan</c:v>
                </c:pt>
                <c:pt idx="1">
                  <c:v>Armada RS + RTG</c:v>
                </c:pt>
                <c:pt idx="2">
                  <c:v>Sepur simpan rel</c:v>
                </c:pt>
                <c:pt idx="3">
                  <c:v>Gudang CFS &amp; hanggar</c:v>
                </c:pt>
                <c:pt idx="4">
                  <c:v>Infra reefer</c:v>
                </c:pt>
                <c:pt idx="5">
                  <c:v>Otomasi &amp; IoT</c:v>
                </c:pt>
                <c:pt idx="6">
                  <c:v>Software YMS/ERP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130</c:v>
                </c:pt>
                <c:pt idx="1">
                  <c:v>55</c:v>
                </c:pt>
                <c:pt idx="2">
                  <c:v>35</c:v>
                </c:pt>
                <c:pt idx="3">
                  <c:v>15</c:v>
                </c:pt>
                <c:pt idx="4">
                  <c:v>6.5</c:v>
                </c:pt>
                <c:pt idx="5">
                  <c:v>4.5</c:v>
                </c:pt>
                <c:pt idx="6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C7F-400D-B2A2-745E26DAB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id-ID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F6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F6B"/>
                </a:solidFill>
                <a:latin typeface="Calibri"/>
              </a:rPr>
              <a:t>OPEX (Rp Miliar/Tahun)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0170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Solar &amp; listrik</c:v>
                </c:pt>
                <c:pt idx="1">
                  <c:v>Gaji 82 personil</c:v>
                </c:pt>
                <c:pt idx="2">
                  <c:v>Sewa rel KA</c:v>
                </c:pt>
                <c:pt idx="3">
                  <c:v>M&amp;R, asuransi, 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9.44</c:v>
                </c:pt>
                <c:pt idx="1">
                  <c:v>6.89</c:v>
                </c:pt>
                <c:pt idx="2">
                  <c:v>5.4</c:v>
                </c:pt>
                <c:pt idx="3">
                  <c:v>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B6-4EA8-A57B-EB251346CE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1EC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F6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2F6B"/>
                </a:solidFill>
                <a:latin typeface="Calibri"/>
              </a:rPr>
              <a:t>Pendapatan (Rp Miliar/Tahun)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Pendapatan</c:v>
                </c:pt>
              </c:strCache>
            </c:strRef>
          </c:tx>
          <c:spPr>
            <a:solidFill>
              <a:srgbClr val="0170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Lo-Lo</c:v>
                </c:pt>
                <c:pt idx="1">
                  <c:v>Storage</c:v>
                </c:pt>
                <c:pt idx="2">
                  <c:v>Bagi hasil KA</c:v>
                </c:pt>
                <c:pt idx="3">
                  <c:v>CFS</c:v>
                </c:pt>
                <c:pt idx="4">
                  <c:v>Reefer</c:v>
                </c:pt>
                <c:pt idx="5">
                  <c:v>Timbang VGM</c:v>
                </c:pt>
                <c:pt idx="6">
                  <c:v>Behandle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33.75</c:v>
                </c:pt>
                <c:pt idx="1">
                  <c:v>10.8</c:v>
                </c:pt>
                <c:pt idx="2">
                  <c:v>9</c:v>
                </c:pt>
                <c:pt idx="3">
                  <c:v>8.1</c:v>
                </c:pt>
                <c:pt idx="4">
                  <c:v>6.25</c:v>
                </c:pt>
                <c:pt idx="5">
                  <c:v>5.5</c:v>
                </c:pt>
                <c:pt idx="6">
                  <c:v>2.625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60-4469-84A1-3E9D00AB90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C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id-ID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 Miliar</c:v>
                </c:pt>
              </c:strCache>
            </c:strRef>
          </c:tx>
          <c:spPr>
            <a:solidFill>
              <a:srgbClr val="0B2F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Pendapatan</c:v>
                </c:pt>
                <c:pt idx="1">
                  <c:v>OPEX</c:v>
                </c:pt>
                <c:pt idx="2">
                  <c:v>EBITDA</c:v>
                </c:pt>
                <c:pt idx="3">
                  <c:v>Laba Bersih</c:v>
                </c:pt>
                <c:pt idx="4">
                  <c:v>Net Cash Flow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76.02</c:v>
                </c:pt>
                <c:pt idx="1">
                  <c:v>24.79</c:v>
                </c:pt>
                <c:pt idx="2">
                  <c:v>51.23</c:v>
                </c:pt>
                <c:pt idx="3">
                  <c:v>30.21</c:v>
                </c:pt>
                <c:pt idx="4">
                  <c:v>42.71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AC-4D1F-800E-10D89FCF30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0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 dari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Konsultan: Mengendalikan Financial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aliran dalam dry port 35 Ha — dan hanya satu yang menentukan keuntungan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2432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fisik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Gerak peti kemas di area 35 Ha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➔ Yard ➔ Rail Siding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2432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data telemetri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boks, nomor ISO, bobot VGM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3D Bay-Row-Tier, suhu reefer, kode palet SSCC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210312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Flow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624328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KONSULTAN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Peristiwa fisik ➔ penagihan sah (billable event) otomatis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Zero Revenue Leakage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Mandat Pokok BA &amp; QA (Silabus Slide 13)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754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/ ROI Analysis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PBP, NPV, IRR, efisiensi biaya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480060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754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Dashboard KPI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YOR, Dwell Time,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480060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4754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&amp; Penjaminan Mutu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GS1, edge-case, regulasi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BA dalam 4 Lapisan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Dr. Tigor Franky — dari sensor di lapangan hingga integrasi ERP &amp; Bea Cukai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Enterprise Integration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data ke ERP Odoo Finansial &amp; CEISA 4.0 Bea Cukai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0B4F9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371600" y="30632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Application (YMS)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tarif progresif, aturan penumpukan, kepatuhan pabean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3977640"/>
            <a:ext cx="9235440" cy="777240"/>
          </a:xfrm>
          <a:prstGeom prst="roundRect">
            <a:avLst>
              <a:gd name="adj" fmla="val 9412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37360" y="3977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Network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Kontinuitas data penagihan &amp; telemetri tanpa paket hilang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48920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3A9AD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03120" y="4892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Sensing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EA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utilisasi 26 alat fisik &amp; sensor bernilai miliaran rupiah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Ulang Proses Bisnis (BPR): As-Is vs To-Be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Digitalisasi memangkas waktu, biaya bocor, dan risiko kepatuhan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As-Is (Depo Konvensional)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To-Be (CIDP Smart YMS)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Siklus Gerbang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menit, pencatatan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 detik: ANPR + OCR, e-Pass 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−89%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Alokasi Slot Yard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acak, box sering terselip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Otomatis via algoritma 3D Bay-Row-Tier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box terselip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Inap Rata-rata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 hari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hari: notifikasi Masa Bebas, SPPB instan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 time −66%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Verifikasi VGM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Timbangan terpisah, sertifikat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Jembatan timbang 80t, tolak otomatis &gt;34t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Penagihan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Rekap manual 3–5 hari, denda bocor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Event-driven: invoice real-time ke ERP Odoo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Rilis Pabean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Berkas fisik, SPPB 24–48 jam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CEISA 4.0: Jalur Hijau &lt;5 menit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Rilis 95% lebih cepat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Identifikasi: ISO 6346 vs GS1 SSCC-18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mengenali wadah bajanya, satu mengenali isi palet di dalamnya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6346:2022 — Identitas Peti Kemas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24328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MSKU 918237 4 (11 karakter)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pemilik (3): MSK = Maersk 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alat (1): U = freight container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seri (6 angka) terdaftar di BIC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digit (1): Modulo 11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 sistem menolak otomatis "INVALID CHECK DIGIT"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2212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SSCC-18 (AI 00) — Paspor Palet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624328"/>
            <a:ext cx="4892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isi muatan LCL / palet berbagai importir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Anatomi: (00) + ekstensi + prefix perusahaan + seri palet + check digit Modulo 10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scan GS1-128 di rampa dock ➔ terpetakan ke ASN, nomor batch, expired (FEFO)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bongkar kardus fisik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Investasi: CAPEX Rp 249,5 M &amp; OPEX Rp 24,8 M/Tahun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IT &amp; IoT hanya 3,2% dari CAPEX, tetapi mengontrol 96,8% aset fisik terminal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01168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20116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listrik 38,1% • Gaji 27,8% • Rel KA 21,8% • M&amp;R 12,3%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Pendapatan: Rp 76,02 Miliar per Tahun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aliran jasa — Lift-On/Lift-Off menyumbang hampir separuh pendapatan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011680"/>
          <a:ext cx="67665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10312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18120" y="2194560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76,02 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/ TAHUN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36118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0" y="3721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Strategi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133088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Lo-Lo: Rp 175rb (20ft) / 275rb (40ft), 150.000 box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progresif: Masa I Rp 0, II Rp 45rb, III Rp 90rb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Auto-invoice ke Odoo ➔ zero leakage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Kelayakan Finansial: PBP, NPV, IRR &amp; ROI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indikator menyatakan proyek dry port layak dan bankable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28600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5,84 Thn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aman pelabuhan 8–10 thn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2194560"/>
            <a:ext cx="228600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+Rp 12,96 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(WACC 10%)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➔ sangat layak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55080" y="2194560"/>
            <a:ext cx="228600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11,42%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atas bunga bank 8,5%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98280" y="2194560"/>
            <a:ext cx="219456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121,1%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10 TAHUN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Rp 302,1 M / CAPEX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31520" y="4160520"/>
          <a:ext cx="6035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040880" y="42062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kas tahunan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67,4%. Depresiasi Rp 12,5 M, pajak 22% Rp 8,52 M. PBP = 249,5 / 42,71.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Executive Command Center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metrik keputusan direksi (C-level DSS) dalam waktu nyata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2860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68,4%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Occupancy Rate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aman &lt;80%; hindari denda congestion $50/TEU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47288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84448" y="2194560"/>
            <a:ext cx="22860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TEU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Harian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 dari target 500 TEU/hari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0216" y="2194560"/>
            <a:ext cx="22860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 Hari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Dwell Time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pelabuhan laut: 4–5 hari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78824" y="210312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15984" y="2194560"/>
            <a:ext cx="2286000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184,5 Jt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15984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Daily Revenue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15984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piutang 98,2%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5902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Analitik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956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traffic chart: jam puncak 10.00–15.00 untuk penjadwalan operator • Heatmap dwell time: box &gt;7 hari di Blok A–E memicu denda Masa III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stream: 5 event terakhir (gate-in, timbang, lift-off, SPPB) untuk transparansi audit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Efisiensi Gerbang &amp; Yard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Pemangkasan antrean dan biaya alat berat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B2F6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2860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mnt ➔ 90 dtk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Turnaround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0170B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931920"/>
            <a:ext cx="228600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 ➔ 1,1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per Box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21031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03320" y="22128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Gerbang &amp; Trucking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24328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+ OCR + timbang dinamis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biaya tunggu truk Rp 250.000/jam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otomatis truk overload &gt;34 ton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risiko hukum maritim &amp; denda Kemenhub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210312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18120" y="22128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&amp; Alat Berat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624328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3D Bay-Row-Tier sesuai tujuan &amp; jadwal KA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Reach Stacker hemat 22% (Rp 1,06 M/tahun)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 GPS RS-01/02/03 &amp; RTG cegah idling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3: Cold Chain, Pabean &amp; CFS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 risiko klaim, kepatuhan regulasi, dan konsolidasi kargo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Chain (Reefer)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24328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plugs + IoT LoRaWAN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Suhu -18°C s.d. -25°C, cek tiap 60 detik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Cegah klaim asuransi hingga $100.000+/kontainer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Rp 250rb/shift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2128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Kepabeanan (PMK 190/2022)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24328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Hijau 94,2%: SPPB &lt;5 menit via REST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Merah 5,8%: CUSTOMS HOLD + X-Ray 6 MeV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GPS E-Seal untuk transit rel Tanjung Priok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37033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CFS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24328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m², 5 rampa dock D1–D5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FCL impor &amp; konsolidasi ekspor LCL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e-Tally Sheet digital via tablet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Rp 8,10 M/tahun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Penjaminan Mutu: QA Testing Matrix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skenario uji — seluruhnya lulus 100%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 Uji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Diharapkan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Gate-in normal (&lt;34t)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+ OCR lolos, SOLAS pass, palang terbuka &lt;30 detik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Truk overweight (&gt;34t)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OVERLOAD, palang terkunci, truk ditolak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digit ISO 6346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11 mendeteksi salah ketik, registrasi ditolak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GS1 SSCC-18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AI (00), validasi Modulo 10, arahkan ke rak CFS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Tabrakan slot yard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ditolak tanpa Tier 2 di bawahnya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Kontainer Jalur Merah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CUSTOMS HOLD dilarang gate-out sebelum SPPB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 dwell progresif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 I Rp 0, II Rp 45rb, III Rp 90rb tanpa bocor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Eksekutif &amp; Rekomendasi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alasan CIDP 35 Ha layak diwujudkan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671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Kelayakan Finansial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 modal 5,8 thn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80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Rp 250 M lunas &lt;6 tahun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bersih Rp 30,2 M/thn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+Rp 13 M, IRR 11,42% &gt; 8,5%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1671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Proses (BPR)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−66%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80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Gerbang 15 mnt ➔ 90 dtk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6,8 ➔ 2,3 hari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terselip 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1330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&amp; Kepatuhan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SSCC &amp; CEISA 4.0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AI (00) &amp; ISO 6346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 190/2022 DJBC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SPPB otomatis 94,2%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AF3FC"/>
          </a:solidFill>
          <a:ln w="9525">
            <a:solidFill>
              <a:srgbClr val="D5E4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42062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1330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Penjaminan Mutu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17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Revenue Leakage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kasus ekstrem tertangani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Gate-Out terkunci jika tagihan belum lunas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61D8A0-F09B-0DA3-0B73-DF64F46BEC49}"/>
              </a:ext>
            </a:extLst>
          </p:cNvPr>
          <p:cNvSpPr txBox="1"/>
          <p:nvPr/>
        </p:nvSpPr>
        <p:spPr>
          <a:xfrm>
            <a:off x="5074920" y="4151376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Live Web </a:t>
            </a:r>
            <a:r>
              <a:rPr lang="en-US" sz="2800" dirty="0" err="1"/>
              <a:t>Aplikasi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Microsoft Office PowerPoint</Application>
  <PresentationFormat>Widescreen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CIDP</dc:title>
  <dc:subject>PptxGenJS Presentation</dc:subject>
  <dc:creator>Zulfikar Jafarudin Fatah</dc:creator>
  <cp:lastModifiedBy>Zulfikar Jafarudin Fatah</cp:lastModifiedBy>
  <cp:revision>2</cp:revision>
  <dcterms:created xsi:type="dcterms:W3CDTF">2026-10-06T13:11:58Z</dcterms:created>
  <dcterms:modified xsi:type="dcterms:W3CDTF">2026-10-06T13:20:28Z</dcterms:modified>
</cp:coreProperties>
</file>