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852160"/>
          </a:xfrm>
          <a:prstGeom prst="rect">
            <a:avLst/>
          </a:prstGeom>
          <a:solidFill>
            <a:srgbClr val="017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400"/>
              </a:spcBef>
              <a:defRPr sz="2100" b="1">
                <a:solidFill>
                  <a:srgbClr val="FFFFFF"/>
                </a:solidFill>
              </a:defRPr>
            </a:pPr>
            <a:r>
              <a:t>Business Analysis &amp; Alur Proses Bisnis End-to-End:</a:t>
            </a:r>
            <a:br/>
            <a:r>
              <a:t>Pemetaan Fitur Software Logistik CIDP 35 Ha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STANDAR SILABUS LENGKAP: 14 BAB PEMETAAN FITUR, BUSINESS RULES, EQUIPMENT ASSIGNMENT, FLOWCHART RESMI, &amp; FSD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06040"/>
            <a:ext cx="5120640" cy="29718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TIM ADVISORY BUSINESS ANALYSIS &amp; QA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• Naufal Andika Heditya (24D507001012) — Lead Business Analyst &amp; QA</a:t>
            </a:r>
            <a:br/>
            <a:r>
              <a:t>  Fokus: End-to-End Decision Flowcharts, Business Rules Timbangan, Equipment Allocation Matrix, Stacking Rules 40ft/20ft, &amp; Spesifikasi FSD.</a:t>
            </a:r>
            <a:br/>
            <a:br/>
            <a:r>
              <a:t>• Zulfikar Jafarudin Fatah (24D507001001) — Lead System Architect</a:t>
            </a:r>
            <a:br/>
            <a:r>
              <a:t>  Fokus: Arsitektur Eksekutif Web YMS, Integrasi 5 Modul (WMS, TMS, WCS, YMS, ERP), &amp; Database MySQL.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06040"/>
            <a:ext cx="5120640" cy="29718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DEWAN KONSULTAN PENDUKUNG (CONCLUSION CONSULTANT)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• Armansyah Muchtarrom (24D507001010) — Hardware Specialist</a:t>
            </a:r>
            <a:br/>
            <a:r>
              <a:t>  (Load Cell Timbangan 80T, Kamera ANPR/OCR, Palang Otomatis, &amp; Sensor Telemetri)</a:t>
            </a:r>
            <a:br/>
            <a:br/>
            <a:r>
              <a:t>• Afriansayah Ayubi (24D507001026) — Software &amp; ERP Specialist</a:t>
            </a:r>
            <a:br/>
            <a:r>
              <a:t>  (CFS Stripping/Stuffing WMS, Terminal Tariff Engine Odoo, &amp; Billing)</a:t>
            </a:r>
            <a:br/>
            <a:br/>
            <a:r>
              <a:t>• Juan Gamaliel (24D507001016) — Data Integration Specialist</a:t>
            </a:r>
            <a:br/>
            <a:r>
              <a:t>  (REST API Gateway, Stacking Hierarchy 4D, &amp; Exception Handling Engine)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150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BD5E1"/>
                </a:solidFill>
              </a:defRPr>
            </a:pPr>
            <a:r>
              <a:t>Klien / Evaluator Akademik: Dr. Tigor Franky, S.T., M.T.  •  Mata Kuliah: Teknologi dan Perangkat Lunak Logistik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Program Studi S1 Manajemen Logistik  •  Institut Transportasi dan Logistik (ITL) Trisakti  •  Oktober 2026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🌐 Live Web Application Portal: http://localhost/Conclusion_Intermodal_Dry_Port/dashboard.php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Paradigma Business Analyst: Developer vs BA &amp; Metodologi 3-Langkah (Bab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dashboard.php?page=beranda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http://localhost/.../dashboard.php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2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DEVELOPER VS BA MINDSET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Pendekatan Developer (Teknis):</a:t>
            </a:r>
            <a:br/>
            <a:r>
              <a:t>  - Fokus struktur koding &amp; query DB</a:t>
            </a:r>
            <a:br/>
            <a:r>
              <a:t>  - Implementasi tombol antarmuka UI</a:t>
            </a:r>
            <a:br/>
            <a:r>
              <a:t>  - 'Membuat tombol Confirm Putaway'</a:t>
            </a:r>
            <a:br/>
            <a:r>
              <a:t>  - Integrasi teknis endpoint REST API</a:t>
            </a:r>
            <a:br/>
            <a:br/>
            <a:r>
              <a:t>• Pendekatan BA (Logika Bisnis):</a:t>
            </a:r>
            <a:br/>
            <a:r>
              <a:t>  - Fokus logika bisnis &amp; parameter input</a:t>
            </a:r>
            <a:br/>
            <a:r>
              <a:t>  - Validasi aturan, regulasi, &amp; batas toleransi</a:t>
            </a:r>
            <a:br/>
            <a:r>
              <a:t>  - Analisis dampak ke operasional riil</a:t>
            </a:r>
            <a:br/>
            <a:r>
              <a:t>  - 'Sistem wajib memverifikasi berat barang ≤ kapasitas maksimum rak sebelum status lokasi diperbarui di database.'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RUMUS 3-LANGKAH ANALISIS BA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Setiap fitur diubah menjadi spesifikasi bisnis melalui 3 langkah berurutan:</a:t>
            </a:r>
            <a:br/>
            <a:br/>
            <a:r>
              <a:t>1. FITUR / EVENT TRIGGER:</a:t>
            </a:r>
            <a:br/>
            <a:r>
              <a:t>   Tombol UI, pindaian sensor RFID, atau trigger waktu terjadwal.</a:t>
            </a:r>
            <a:br/>
            <a:br/>
            <a:r>
              <a:t>2. VALIDASI BUSINESS RULE:</a:t>
            </a:r>
            <a:br/>
            <a:r>
              <a:t>   Logika matematis, batasan hukum (SOLAS VGM, UU LLAJ), ambang toleransi, dan percabangan IF-THEN-ELSE.</a:t>
            </a:r>
            <a:br/>
            <a:br/>
            <a:r>
              <a:t>3. DAMPAK &amp; PEMBARUAN SISTEM:</a:t>
            </a:r>
            <a:br/>
            <a:r>
              <a:t>   Perubahan status database, aksi perangkat keras fisik (palang buka/kunci), dan cetak dokumen resmi.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CONTOH IMPLEMENTASI NYATA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Contoh Kasus 1: Fitur Putaway</a:t>
            </a:r>
            <a:br/>
            <a:r>
              <a:t>• Fitur: Tombol 'Confirm Putaway'</a:t>
            </a:r>
            <a:br/>
            <a:r>
              <a:t>• Rule: Cek Berat Palet ≤ Kapasitas Rak (1.500 kg/level) &amp; Tinggi Palet ≤ 1.6m</a:t>
            </a:r>
            <a:br/>
            <a:r>
              <a:t>• Dampak: Jika lolos, status rak di DB jadi OCCUPIED; jika gagal, rak ditolak &amp; dicarikan bin alternatif.</a:t>
            </a:r>
            <a:br/>
            <a:br/>
            <a:r>
              <a:t>Contoh Kasus 2: Fitur Timbangan</a:t>
            </a:r>
            <a:br/>
            <a:r>
              <a:t>• Fitur: Sensor Loop Jembatan Timbang</a:t>
            </a:r>
            <a:br/>
            <a:r>
              <a:t>• Rule: Gross Weight ≤ 34.000 kg &amp; Toleransi ±2% vs VGM SOLAS</a:t>
            </a:r>
            <a:br/>
            <a:r>
              <a:t>• Dampak: Lolos → palang buka &amp; status APPROVED; Gagal → palang lock &amp; status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Konsep ini menjadi pondasi seluruh analisis fitur CIDP: Mengubah tombol menjadi kepatuhan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Business Role &amp; Matriks Alokasi Alat: Siapa yang Ngangkat, Nimbang, &amp; Barangnya Apa?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dashboard.php?page=alat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http://localhost/.../alat.php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3 of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468880"/>
                <a:gridCol w="2468880"/>
                <a:gridCol w="1463040"/>
              </a:tblGrid>
              <a:tr h="6934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Tahapan Operasi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Karakteristik Barangnya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Siapa yang Nimbang &amp; Alat Sensor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Siapa yang Ngangkat &amp; Operator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Modul Sistem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1. Gerbang Masuk</a:t>
                      </a:r>
                      <a:br/>
                      <a:r>
                        <a:t>(Gate-In Weighbridge)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Semua Muatan Truk:</a:t>
                      </a:r>
                      <a:br/>
                      <a:r>
                        <a:t>• FCL Dry Kontainer</a:t>
                      </a:r>
                      <a:br/>
                      <a:r>
                        <a:t>• Reefer Container</a:t>
                      </a:r>
                      <a:br/>
                      <a:r>
                        <a:t>• LCL Loose Cargo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Sensor WCS: Jembatan Timbang Pitless 80 Ton (Avery Load Cell)</a:t>
                      </a:r>
                      <a:br/>
                      <a:r>
                        <a:t>• Role: External Truck Driver &amp; Tallyman Gate Inbound</a:t>
                      </a:r>
                      <a:br/>
                      <a:r>
                        <a:t>• Waktu: &lt; 3 detik pembacaan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Belum diangkat (masih di atas sasis truk trailer flatbed). Dilakukan verifikasi batas legal 34 ton.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WCS + YMS</a:t>
                      </a:r>
                      <a:br/>
                      <a:r>
                        <a:t>(pages/gate.php)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2. Lapangan Penumpukan</a:t>
                      </a:r>
                      <a:br/>
                      <a:r>
                        <a:t>(Yard Stacking)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Kontainer 40 Feet Laden</a:t>
                      </a:r>
                      <a:br/>
                      <a:r>
                        <a:t>(Peti kemas isi muatan berat, bobot 20 - 32 Ton)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Data berat diambil otomatis dari timbangan gate &amp; dokumen VGM SOLAS yang tersimpan di database YMS.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SIAPA YANG NGANGKAT:</a:t>
                      </a:r>
                      <a:br/>
                      <a:r>
                        <a:t>  RTG Crane 45 Ton (Rubber Tyred Gantry) atau Reach Stacker 45 Ton.</a:t>
                      </a:r>
                      <a:br/>
                      <a:r>
                        <a:t>• OPERATOR: RTG Operator berlisensi SIO Kemnaker via VMT di kabin.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YMS + WCS</a:t>
                      </a:r>
                      <a:br/>
                      <a:r>
                        <a:t>(pages/yard.php &amp;</a:t>
                      </a:r>
                      <a:br/>
                      <a:r>
                        <a:t>pages/alat.php)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3. Penumpukan Kosong</a:t>
                      </a:r>
                      <a:br/>
                      <a:r>
                        <a:t>(Empty Stacking)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Kontainer 20ft / 40ft Kosong</a:t>
                      </a:r>
                      <a:br/>
                      <a:r>
                        <a:t>(Empty Container, bobot tara 2,2 - 3,8 Ton)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Ditimbang saat gate-in untuk verifikasi kondisi kosong (tare verification).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SIAPA YANG NGANGKAT:</a:t>
                      </a:r>
                      <a:br/>
                      <a:r>
                        <a:t>  Empty Container Handler (ECH) 10 Ton.</a:t>
                      </a:r>
                      <a:br/>
                      <a:r>
                        <a:t>• OPERATOR: ECH Operator berlisensi. Mampu menumpuk 6-8 tier.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YMS + WCS</a:t>
                      </a:r>
                      <a:br/>
                      <a:r>
                        <a:t>(pages/alat.php)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4. Gudang CFS</a:t>
                      </a:r>
                      <a:br/>
                      <a:r>
                        <a:t>(Stripping &amp; Stuffing)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Kargo Curah / LCL / Palet</a:t>
                      </a:r>
                      <a:br/>
                      <a:r>
                        <a:t>(Karton, drum kimia non-DG, suku cadang mesin)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Sensor WCS: Timbangan Palet Digital &amp; DWS Mass Scanner di conveyor CFS.</a:t>
                      </a:r>
                      <a:br/>
                      <a:r>
                        <a:t>• Toleransi: ± 2%.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SIAPA YANG NGANGKAT:</a:t>
                      </a:r>
                      <a:br/>
                      <a:r>
                        <a:t>  Forklift 3-5 Ton (Diesel/Electric) &amp; Reach Truck CFS.</a:t>
                      </a:r>
                      <a:br/>
                      <a:r>
                        <a:t>• OPERATOR: Forklift Driver &amp; Tallyman CFS.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WMS + WCS</a:t>
                      </a:r>
                      <a:br/>
                      <a:r>
                        <a:t>(pages/cfs.php &amp;</a:t>
                      </a:r>
                      <a:br/>
                      <a:r>
                        <a:t>master_rak.php)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5. Rel Siding KA 600M</a:t>
                      </a:r>
                      <a:br/>
                      <a:r>
                        <a:t>(Intermodal Rail)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Kontainer 20ft &amp; 40ft</a:t>
                      </a:r>
                      <a:br/>
                      <a:r>
                        <a:t>(Muatan intermodal ekspor/impor KAI Logistik)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Timbangan dinamis gandar rel (Rail Weigh-in-Motion) batas maks 15 ton/gandar.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SIAPA YANG NGANGKAT:</a:t>
                      </a:r>
                      <a:br/>
                      <a:r>
                        <a:t>  Rail Mounted Gantry (RMG) Crane 45 Ton / Reach Stacker Intermodal.</a:t>
                      </a:r>
                      <a:br/>
                      <a:r>
                        <a:t>• OPERATOR: Intermodal Crane Operator.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TMS + YMS</a:t>
                      </a:r>
                      <a:br/>
                      <a:r>
                        <a:t>(pages/intermodal.php)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Jawaban Notulensi: Kontainer 40ft diangkat RTG / Reach Stacker 45T; Kosong oleh ECH; Palet CFS oleh Forklift 3-5T.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Flowchart 1: Master End-to-End Decision Flowchart Terminal CIDP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dashboard.php?page=simulator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http://localhost/.../simulator.php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4 of 16</a:t>
            </a:r>
          </a:p>
        </p:txBody>
      </p:sp>
      <p:pic>
        <p:nvPicPr>
          <p:cNvPr id="5" name="Picture 4" descr="FLOWCHART_END_TO_END_PROSES_BISNIS_CI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Flowchart End-to-End Resmi: Simbol Terminator, Decision Diamond, Process Box, &amp; Cabang Ya/Tidak.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Flowchart 2: Alur Keputusan Timbangan Dinamis Gate-In (WCS + YMS)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dashboard.php?page=gate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http://localhost/.../gate.php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5 of 16</a:t>
            </a:r>
          </a:p>
        </p:txBody>
      </p:sp>
      <p:pic>
        <p:nvPicPr>
          <p:cNvPr id="5" name="Picture 4" descr="FLOWCHART_TIMBANGAN_GATE_IN_DEC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Menjawab Notulensi: Truk masuk timbangan, jika lulus ke mana vs jika tidak lulus belok ke Reject Lane.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Business Rule 1: Parameter Masukan &amp; Formula Validasi Timbangan Gate-In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dashboard.php?page=gate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http://localhost/.../gate.php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6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PARAMETER MASUKAN &amp; FORMULA VALIDASI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Aktor &amp; Hardware WCS:</a:t>
            </a:r>
            <a:br/>
            <a:r>
              <a:t>  - Driver Truk Eksternal, Gate Clerk / Tallyman</a:t>
            </a:r>
            <a:br/>
            <a:r>
              <a:t>  - Jembatan Timbang Pitless 80 Ton (Load Cell Avery Weigh-Tronix)</a:t>
            </a:r>
            <a:br/>
            <a:r>
              <a:t>  - Kamera ANPR (Plat Truk) &amp; Kamera OCR Boks ISO 6346</a:t>
            </a:r>
            <a:br/>
            <a:br/>
            <a:r>
              <a:t>• Parameter Masukan (Input):</a:t>
            </a:r>
            <a:br/>
            <a:r>
              <a:t>  - Gross Weight (dari timbangan otomatis WCS)</a:t>
            </a:r>
            <a:br/>
            <a:r>
              <a:t>  - Tare Weight (berat kosong truk dari master data ERP)</a:t>
            </a:r>
            <a:br/>
            <a:r>
              <a:t>  - Net Weight = Gross Weight - Tare Weight</a:t>
            </a:r>
            <a:br/>
            <a:r>
              <a:t>  - Verified Gross Mass (VGM SOLAS) dari dokumen pengirim</a:t>
            </a:r>
            <a:br/>
            <a:br/>
            <a:r>
              <a:t>• Aturan Bisnis (Validation Rules):</a:t>
            </a:r>
            <a:br/>
            <a:r>
              <a:t>  1. Berat Kotor Total ≤ 34.000 kg (Kepatuhan UU No. 22/2009 Jalan Kelas 1)</a:t>
            </a:r>
            <a:br/>
            <a:r>
              <a:t>  2. Toleransi Selisih Berat ≤ ± 2.0% vs Manifest VGM SOLAS</a:t>
            </a:r>
            <a:br/>
            <a:r>
              <a:t>  3. Validasi Check Digit ISO 6346 Modulo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ALUR KEPUTUSAN OPERASIONAL (JIKA YA / JIKA TIDAK)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✅ JIKA LULUS TIMBANG (Valid &amp; ≤ 34 Ton):</a:t>
            </a:r>
            <a:br/>
            <a:r>
              <a:t>• Palang barrier otomatis terbuka, lampu hijau aktif.</a:t>
            </a:r>
            <a:br/>
            <a:r>
              <a:t>• Status database berubah: GATE_IN_APPROVED.</a:t>
            </a:r>
            <a:br/>
            <a:r>
              <a:t>• Kiosk mencetak Container Movement Slip (CMS) ber-QR Code.</a:t>
            </a:r>
            <a:br/>
            <a:r>
              <a:t>• Ke mana tujuannya sesuai jenis barangnya:</a:t>
            </a:r>
            <a:br/>
            <a:r>
              <a:t>  - FCL Kering 40ft/20ft → Meluncur ke Blok Yard A/B/C/D.</a:t>
            </a:r>
            <a:br/>
            <a:r>
              <a:t>  - Reefer (Dingin) → Menuju Blok E (300 unit colokan 380V).</a:t>
            </a:r>
            <a:br/>
            <a:r>
              <a:t>  - Kargo Curah LCL → Menuju Gudang CFS Dock D1-D5.</a:t>
            </a:r>
            <a:br/>
            <a:r>
              <a:t>  - HazMat B3 → Menuju Blok F (Tanggul Isolasi Kimia).</a:t>
            </a:r>
            <a:br/>
            <a:r>
              <a:t>  - Pabean Jalur Merah → Menuju Hanggar Behandle Bea Cukai.</a:t>
            </a:r>
            <a:br/>
            <a:br/>
            <a:r>
              <a:t>❌ JIKA TIDAK LULUS (Overweight &gt; 34 Ton / Selisih &gt; 2%):</a:t>
            </a:r>
            <a:br/>
            <a:r>
              <a:t>• Palang barrier TETAP TERKUNCI RAPAT (Lock).</a:t>
            </a:r>
            <a:br/>
            <a:r>
              <a:t>• Lampu merah berkedip &amp; sirine alarm aktif di pos gate.</a:t>
            </a:r>
            <a:br/>
            <a:r>
              <a:t>• Status database: OVERLOAD_REJECTED / HOLD.</a:t>
            </a:r>
            <a:br/>
            <a:r>
              <a:t>• Ke mana truk diarahkan?</a:t>
            </a:r>
            <a:br/>
            <a:r>
              <a:t>  - Truk DILARANG masuk yard (cegah jalan beton amblas).</a:t>
            </a:r>
            <a:br/>
            <a:r>
              <a:t>  - Masuk REJECT LANE / HOLDING BAY (Area Karantina Timbangan).</a:t>
            </a:r>
            <a:br/>
            <a:r>
              <a:t>  - Investigasi Supervisor: Rekoreksi dokumen atau U-Turn keluar.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Web Gate (pages/gate.php) untuk simulasi timbangan lulus vs overweight.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Flowchart 3: Alokasi Alat Pengangkat &amp; Stacking Rules 3D (YMS + WCS)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dashboard.php?page=yard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http://localhost/.../yard.php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7 of 16</a:t>
            </a:r>
          </a:p>
        </p:txBody>
      </p:sp>
      <p:pic>
        <p:nvPicPr>
          <p:cNvPr id="5" name="Picture 4" descr="FLOWCHART_PENGANGKATAN_DAN_STACKING_KONTAI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Menjawab Notulensi: Kontainer 40ft diangkat RTG 45T, kosong oleh ECH, penempatan Bay Genap &amp; Tier Berat Bawah.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Business Rule 2: Pengangkatan &amp; Penempatan Kontainer 40ft/20ft (Stacking Rules)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dashboard.php?page=yard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http://localhost/.../yard.php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8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ALOKASI ALAT PENGANGKAT BERDASARKAN SPESIFIKASI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Kontainer 40 Feet Heavy Laden (Muatan Penuh Berat):</a:t>
            </a:r>
            <a:br/>
            <a:r>
              <a:t>  - Alat Utama: RTG Crane (Rubber Tyred Gantry) 45 Ton.</a:t>
            </a:r>
            <a:br/>
            <a:r>
              <a:t>    Menjangkau rentang 6+1 baris dan 5+1 tinggi tier.</a:t>
            </a:r>
            <a:br/>
            <a:r>
              <a:t>  - Alat Sekunder: Reach Stacker 45 Ton (Kalmar / Konecranes).</a:t>
            </a:r>
            <a:br/>
            <a:r>
              <a:t>  - Operator: RTG/RS Operator bersertifikat SIO Kemnaker via VMT di kabin alat.</a:t>
            </a:r>
            <a:br/>
            <a:br/>
            <a:r>
              <a:t>• Kontainer 20 Feet Kosong (Empty Container):</a:t>
            </a:r>
            <a:br/>
            <a:r>
              <a:t>  - Alat: Empty Container Handler (ECH) 10 Ton.</a:t>
            </a:r>
            <a:br/>
            <a:r>
              <a:t>  - Operator: ECH Operator berlisensi.</a:t>
            </a:r>
            <a:br/>
            <a:r>
              <a:t>  - Kecepatan: Mampu menyusun hingga Tier 6-8 dengan cepat.</a:t>
            </a:r>
            <a:br/>
            <a:br/>
            <a:r>
              <a:t>• Kargo Curah / Palet di Gudang CFS:</a:t>
            </a:r>
            <a:br/>
            <a:r>
              <a:t>  - Alat: Forklift 3-5 Ton &amp; Reach Truck CFS.</a:t>
            </a:r>
            <a:br/>
            <a:r>
              <a:t>  - Operator: CFS Forklift Operator &amp; Tallyman.</a:t>
            </a:r>
            <a:br/>
            <a:br/>
            <a:r>
              <a:t>• Kontainer Intermodal di Rel Kereta Api 600M:</a:t>
            </a:r>
            <a:br/>
            <a:r>
              <a:t>  - Alat: RMG Crane 45 Ton / Reach Stacker Intermodal Leg.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ATURAN PENEMPATAN 3D BAY-ROW-TIER (STACKING RULES)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Struktur Hierarki Alamat: [Blok] - [Bay] - [Row] - [Tier]</a:t>
            </a:r>
            <a:br/>
            <a:br/>
            <a:r>
              <a:t>• Aturan Ukuran 20 Feet vs 40 Feet (Bay Rule):</a:t>
            </a:r>
            <a:br/>
            <a:r>
              <a:t>  - Bay Ganjil (01, 03, 05, dst.): Khusus 2 kontainer 20 Feet.</a:t>
            </a:r>
            <a:br/>
            <a:r>
              <a:t>  - Bay Genap (02, 06, 10, dst.): Khusus 1 kontainer 40 Feet.</a:t>
            </a:r>
            <a:br/>
            <a:r>
              <a:t>  - Larangan: Dilarang menaruh 40ft di atas dua 20ft jika posisi tidak seimbang atau tanpa twistlock pendukung.</a:t>
            </a:r>
            <a:br/>
            <a:br/>
            <a:r>
              <a:t>• Aturan Distribusi Berat (Weight Stacking Hierarchy):</a:t>
            </a:r>
            <a:br/>
            <a:r>
              <a:t>  - Tier 1 &amp; 2 (Paling Bawah): Kontainer Heavy Laden (&gt; 24 Ton) untuk menjaga kestabilan Center of Gravity.</a:t>
            </a:r>
            <a:br/>
            <a:r>
              <a:t>  - Tier 3 (Tengah): Kontainer Medium Weight (15 - 24 Ton).</a:t>
            </a:r>
            <a:br/>
            <a:r>
              <a:t>  - Tier 4 &amp; 5 (Paling Atas): Kontainer Ringan (&lt; 15 Ton) atau Kosong. Mencegah keruntuhan akibat tiupan angin.</a:t>
            </a:r>
            <a:br/>
            <a:br/>
            <a:r>
              <a:t>• Aturan Zonasi Karakteristik Kargo:</a:t>
            </a:r>
            <a:br/>
            <a:r>
              <a:t>  - Reefer: Blok E (dekat power plug 380V), maks Tier 3.</a:t>
            </a:r>
            <a:br/>
            <a:r>
              <a:t>  - HazMat B3: Blok F (jarak aman ≥ 50m, tanggul penampung).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Web Yard (pages/yard.php) untuk melihat visualisasi denah 3D Bay-Row-Tier.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Fitur WMS Inbound &amp; Inventory Management: CFS &amp; Cold Storage (Bab 2 &amp;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dashboard.php?page=cfs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http://localhost/.../cfs.php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9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FITUR WMS INBOUND (BAB 2)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2.1 ASN Matching:</a:t>
            </a:r>
            <a:br/>
            <a:r>
              <a:t>  Validasi otomatis nomor PO dari ERP. Jika kuantitas fisik &gt; PO, picu status Over-receipt Alert.</a:t>
            </a:r>
            <a:br/>
            <a:r>
              <a:t>  Dampak: Menolak kelebihan barang tanpa otorisasi pembeli.</a:t>
            </a:r>
            <a:br/>
            <a:br/>
            <a:r>
              <a:t>• 2.2 Directed Putaway Engine:</a:t>
            </a:r>
            <a:br/>
            <a:r>
              <a:t>  Algoritma alokasi rak berdasarkan matriks kriteria: dimensi SKU, kategori HazMat, dan kebutuhan suhu ruang.</a:t>
            </a:r>
            <a:br/>
            <a:r>
              <a:t>  Dampak: Lokasi simpan optimal sesuai profil muatan.</a:t>
            </a:r>
            <a:br/>
            <a:br/>
            <a:r>
              <a:t>• 2.3 QC &amp; Quarantine Status:</a:t>
            </a:r>
            <a:br/>
            <a:r>
              <a:t>  Otomatis mengubah status stok menjadi Blocked agar tidak teralokasi sebelum lolos inspeksi kualitas.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FITUR WMS INVENTORY (BAB 3)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3.1 Real-Time Bin Tracking:</a:t>
            </a:r>
            <a:br/>
            <a:r>
              <a:t>  Pemetaan hierarki Aisle-Rack-Shelf-Bin untuk memastikan keterlacakan (traceability) 100% dari palet hingga SKU individual.</a:t>
            </a:r>
            <a:br/>
            <a:br/>
            <a:r>
              <a:t>• 3.2 Automated Stock Rotation (FEFO / FIFO):</a:t>
            </a:r>
            <a:br/>
            <a:r>
              <a:t>  Mengunci alokasi barang berdasarkan Expiry Date paling dekat (FEFO) saat Pick Task dibuat oleh sistem.</a:t>
            </a:r>
            <a:br/>
            <a:r>
              <a:t>  Dampak: Menghilangkan risiko kedaluwarsa barang di gudang CFS.</a:t>
            </a:r>
            <a:br/>
            <a:br/>
            <a:r>
              <a:t>• 3.3 Cycle Counting Workflow:</a:t>
            </a:r>
            <a:br/>
            <a:r>
              <a:t>  Perhitungan stok berkala (blind counting) tanpa menghentikan operasional gudang, mencegah kecurangan operator.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COLD CHAIN &amp; REEFER PLUGS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Manajemen Suhu Terkendali:</a:t>
            </a:r>
            <a:br/>
            <a:r>
              <a:t>  Chilled (2°C s/d 8°C) dan Frozen (-18°C).</a:t>
            </a:r>
            <a:br/>
            <a:br/>
            <a:r>
              <a:t>• Max Exposure Time (30 Menit):</a:t>
            </a:r>
            <a:br/>
            <a:r>
              <a:t>  Waktu maksimal kontainer reefer berada di luar colokan pendingin. YMS/WMS menghitung rute prioritas.</a:t>
            </a:r>
            <a:br/>
            <a:br/>
            <a:r>
              <a:t>• Telemetri Otomatis &amp; Breach Alert:</a:t>
            </a:r>
            <a:br/>
            <a:r>
              <a:t>  Sensor digital mengirim suhu per 15 menit. Jika suhu naik melampaui threshold, sirine darurat berbunyi &amp; teknisi genset dikerahkan otomatis.</a:t>
            </a:r>
            <a:br/>
            <a:br/>
            <a:r>
              <a:t>• Billing Kelistrikan 380V:</a:t>
            </a:r>
            <a:br/>
            <a:r>
              <a:t>  Perhitungan jam konsumsi daya presisi ke billing ERP.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CFS (pages/cfs.php) &amp; Reefer (pages/reefer.php) untuk menguji ASN &amp; sensor suhu.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Fitur WMS Outbound &amp; Kontrol Hardware WCS / WES Otomasi (Bab 4 &amp; 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dashboard.php?page=scanner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http://localhost/.../scanner.php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10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FITUR WMS OUTBOUND (BAB 4)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4.1 Slotting Optimization (Analisis ABC):</a:t>
            </a:r>
            <a:br/>
            <a:r>
              <a:t>  Penataan ulang lokasi simpan secara berkala berdasarkan frekuensi perputaran transaksi barang:</a:t>
            </a:r>
            <a:br/>
            <a:r>
              <a:t>  - Fast Moving (A): Di rak lantai bawah dekat pintu loading.</a:t>
            </a:r>
            <a:br/>
            <a:r>
              <a:t>  - Slow Moving (C): Di rak tingkat atas lorong belakang.</a:t>
            </a:r>
            <a:br/>
            <a:r>
              <a:t>  Dampak: Memangkas waktu putaway &amp; retrieval hingga 35%.</a:t>
            </a:r>
            <a:br/>
            <a:br/>
            <a:r>
              <a:t>• 4.2 Picking Strategy Engine (Wave, Batch, Zone):</a:t>
            </a:r>
            <a:br/>
            <a:r>
              <a:t>  Penggabungan beberapa Sales Order menjadi satu jalur unduh (Wave) untuk memangkas jarak tempuh operator forklift.</a:t>
            </a:r>
            <a:br/>
            <a:br/>
            <a:r>
              <a:t>• 4.3 Packing &amp; Weight Verification:</a:t>
            </a:r>
            <a:br/>
            <a:r>
              <a:t>  Pengecekan toleransi selisih berat (± 2%) pada timbangan otomatis sebelum pencetakan resi / shipping manifest.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WCS HARDWARE CONTROL &amp; ANOMALI (BAB 5)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5.1 Conveyor Diverter Control:</a:t>
            </a:r>
            <a:br/>
            <a:r>
              <a:t>  Penerjemahan sinyal scan barcode menjadi perintah fisik pusher/diverter untuk membelokkan paket ke jalur rute yang benar.</a:t>
            </a:r>
            <a:br/>
            <a:br/>
            <a:r>
              <a:t>• 5.2 Tunnel / Mass Scanner Integration (DWS):</a:t>
            </a:r>
            <a:br/>
            <a:r>
              <a:t>  Pencatatan data dimensi, berat (scale), dan GS1 scanner secara bersamaan dalam tempo &lt; 500 ms.</a:t>
            </a:r>
            <a:br/>
            <a:br/>
            <a:r>
              <a:t>• 5.3 AMR / Crane Fleet Routing &amp; Anti-Deadlock:</a:t>
            </a:r>
            <a:br/>
            <a:r>
              <a:t>  Manajemen jalur armada robotik &amp; crane untuk mencegah tabrakan dan kondisi macet total (deadlock).</a:t>
            </a:r>
            <a:br/>
            <a:br/>
            <a:r>
              <a:t>• PENANGANAN ANOMALI WCS (EXCEPTION HANDLING):</a:t>
            </a:r>
            <a:br/>
            <a:r>
              <a:t>  - Kasus: Barcode rusak / No-Read Barcode pada conveyor.</a:t>
            </a:r>
            <a:br/>
            <a:r>
              <a:t>  - Aksi Sistem: WCS memerintahkan diverter membelokkan paket ke REJECT LANE, memicu Alert ke PDA operator untuk pindaian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Scanner (pages/scanner.php) untuk melihat integrasi DWS Mass Scanner &amp; Diverter.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Fitur YMS: Dock Scheduling, 3D Yard Tracking, &amp; Demurrage Alert (Bab 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dashboard.php?page=yard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http://localhost/.../yard.php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11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7.1 DOCK DOOR SCHEDULING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Penjadwalan Time-Slot Armada:</a:t>
            </a:r>
            <a:br/>
            <a:r>
              <a:t>  Sistem menjadwalkan kedatangan truk eksternal berdasarkan slot waktu 30 menit (Appointment Window).</a:t>
            </a:r>
            <a:br/>
            <a:br/>
            <a:r>
              <a:t>• Tujuan Bisnis:</a:t>
            </a:r>
            <a:br/>
            <a:r>
              <a:t>  Mencegah penumpukan antrean truk trailer di jalan akses utama dry port.</a:t>
            </a:r>
            <a:br/>
            <a:br/>
            <a:r>
              <a:t>• Integrasi Cold Dock Seal:</a:t>
            </a:r>
            <a:br/>
            <a:r>
              <a:t>  Mengalokasikan dock door khusus yang memiliki kantong kedap udara (inflatable seal) agar hawa dingin gudang tidak terbuang saat truk loading.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7.2 TRAILER POSITION TRACKING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Visual Yard Map Real-Time:</a:t>
            </a:r>
            <a:br/>
            <a:r>
              <a:t>  Pemetaan grafis seluruh blok lapangan penumpukan 35 Ha.</a:t>
            </a:r>
            <a:br/>
            <a:br/>
            <a:r>
              <a:t>• Status Peti Kemas:</a:t>
            </a:r>
            <a:br/>
            <a:r>
              <a:t>  - EMPTY (Kosong)</a:t>
            </a:r>
            <a:br/>
            <a:r>
              <a:t>  - LADEN (Terisi Penuh)</a:t>
            </a:r>
            <a:br/>
            <a:r>
              <a:t>  - IN_STRIPPING (Bongkar Muat)</a:t>
            </a:r>
            <a:br/>
            <a:r>
              <a:t>  - CUSTOMS_HOLD (Karantina Bea Cukai)</a:t>
            </a:r>
            <a:br/>
            <a:br/>
            <a:r>
              <a:t>• Keterlacakan Posisi:</a:t>
            </a:r>
            <a:br/>
            <a:r>
              <a:t>  Setiap pergerakan oleh RTG Crane atau Reach Stacker langsung memperbarui database YMS via integrasi VMT WiFi 6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7.3 GATE &amp; DEMURRAGE ALERT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Otomasi Pencatatan Gate:</a:t>
            </a:r>
            <a:br/>
            <a:r>
              <a:t>  Timestamp gate-in dan gate-out tercatat otomatis presisi ke milidetik.</a:t>
            </a:r>
            <a:br/>
            <a:br/>
            <a:r>
              <a:t>• Dwelling Time Rule:</a:t>
            </a:r>
            <a:br/>
            <a:r>
              <a:t>  - Batas Bebas (Free Time) = 3 Hari.</a:t>
            </a:r>
            <a:br/>
            <a:r>
              <a:t>  - Hari ke-4 s/d 7 = Rp 250.000/hari.</a:t>
            </a:r>
            <a:br/>
            <a:r>
              <a:t>  - Hari ke-8 ke atas = Rp 500.000/hari.</a:t>
            </a:r>
            <a:br/>
            <a:br/>
            <a:r>
              <a:t>• Alert Notifikasi Otomatis:</a:t>
            </a:r>
            <a:br/>
            <a:r>
              <a:t>  Sistem mengirim peringatan dini (Early Warning) ke Shipper pada Hari ke-2 bahwa free time akan berakhir, mendorong percepatan pengambilan barang.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Billing (pages/billing.php) untuk melihat simulasi kalkulasi demurrage progresif.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Fitur TMS Transportation &amp; Rel Siding Kereta Api Intermodal 600M (Bab 6 &amp; 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dashboard.php?page=trucking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http://localhost/.../trucking.php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12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1. FITUR TMS PLANNING &amp; EXECUTION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6.1 Dynamic Route Optimization Engine:</a:t>
            </a:r>
            <a:br/>
            <a:r>
              <a:t>  Algoritma rute terpendek dengan memperhitungkan kemacetan, jam operasional ganjil-genap, dan kelas jalan tonase.</a:t>
            </a:r>
            <a:br/>
            <a:br/>
            <a:r>
              <a:t>• 6.2 3D Load Planning &amp; Consolidation:</a:t>
            </a:r>
            <a:br/>
            <a:r>
              <a:t>  Simulasi tata letak kubikasi kargo di bak truk untuk memaksimalkan Cubic Utilization hingga 92%.</a:t>
            </a:r>
            <a:br/>
            <a:br/>
            <a:r>
              <a:t>• 6.3 Carrier Rate Audit &amp; Settlement:</a:t>
            </a:r>
            <a:br/>
            <a:r>
              <a:t>  Audit otomatis biaya pengiriman vendor pihak ketiga berdasarkan matriks tarif jarak dan zona wilayah.</a:t>
            </a:r>
            <a:br/>
            <a:br/>
            <a:r>
              <a:t>• 8.1 Real-Time GPS Tracking &amp; Geofencing:</a:t>
            </a:r>
            <a:br/>
            <a:r>
              <a:t>  Pemantauan rute armada truk. Notifikasi instan jika supir keluar rute resmi atau berhenti &gt; 45 menit tanpa izin.</a:t>
            </a:r>
            <a:br/>
            <a:br/>
            <a:r>
              <a:t>• 8.2 Driver Mobile App &amp; e-POD:</a:t>
            </a:r>
            <a:br/>
            <a:r>
              <a:t>  Bukti serah terima digital: Foto barang, TTD digital, &amp; GPS timestamp.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2. REL SIDING KERETA API 600M (INTERMODAL)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Kapasitas Rel Siding CIDP:</a:t>
            </a:r>
            <a:br/>
            <a:r>
              <a:t>  Panjang jalur 600 meter melayani 1 rangkaian lokomotif KAI Logistik bermuatan 30 gerbong datar (flatcar) atau 60 TEUs.</a:t>
            </a:r>
            <a:br/>
            <a:br/>
            <a:r>
              <a:t>• Sinkronisasi Transshipment Kereta Api:</a:t>
            </a:r>
            <a:br/>
            <a:r>
              <a:t>  - TMS &amp; YMS bertukar data manifest KA sebelum kedatangan.</a:t>
            </a:r>
            <a:br/>
            <a:r>
              <a:t>  - Crane Pengangkat: RMG Crane 45 Ton / Reach Stacker Intermodal.</a:t>
            </a:r>
            <a:br/>
            <a:r>
              <a:t>  - Waktu Bongkar Muat: Target &lt; 4 menit per peti kemas.</a:t>
            </a:r>
            <a:br/>
            <a:br/>
            <a:r>
              <a:t>• Keunggulan Moda Kereta Api vs Truk Jalan Raya:</a:t>
            </a:r>
            <a:br/>
            <a:r>
              <a:t>  - Efisiensi Biaya Bahan Bakar: Menghemat hingga 40% vs trucking jalan raya.</a:t>
            </a:r>
            <a:br/>
            <a:r>
              <a:t>  - Bebas Macet Tol Cikampek / Pantura: Kepastian waktu tiba (On-Time Delivery &gt; 98%).</a:t>
            </a:r>
            <a:br/>
            <a:r>
              <a:t>  - Ramah Lingkungan (Green Logistics): Menurunkan jejak karbon terminal hingga 65%.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[LIVE DEMO]: Buka Halaman Intermodal (pages/intermodal.php) &amp; Trucking (pages/trucking.php).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Flowchart 4: Alur Integrasi 5 Modul Logistik Terpadu (Bab 12, 13, &amp; 14)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http://localhost/.../dashboard.php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13 of 16</a:t>
            </a:r>
          </a:p>
        </p:txBody>
      </p:sp>
      <p:pic>
        <p:nvPicPr>
          <p:cNvPr id="5" name="Picture 4" descr="FLOWCHART_INTEGRASI_5_MODUL_LOGIST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Standar Silabus Bab 12 &amp; 13: ERP (SO) -&gt; WMS (Cold Zone) -&gt; WCS (AS/RS Scale) -&gt; YMS (Dock) -&gt; TMS (Fleet) -&gt; Invoicing.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Menjawab Dilemma: Di Mana Ditaruhnya &amp; Konsepnya di Aplikasi Web CIDP?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http://localhost/.../dashboard.php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14 of 16</a:t>
            </a:r>
          </a:p>
        </p:txBody>
      </p:sp>
      <p:pic>
        <p:nvPicPr>
          <p:cNvPr id="5" name="Picture 4" descr="PETA_ARSITEKTUR_DAN_KONSEP_APLIKASI_CI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Solusi Kompleksitas: Pemisahan 5 Modul Terstruktur (WCS, YMS, WMS, TMS, ERP) menjaga kode rapi dan modular.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170B9"/>
                </a:solidFill>
              </a:defRPr>
            </a:pPr>
            <a:r>
              <a:t>CONCLUSION SUPPLY CHAIN CONSULTANT — STRATEGIC BUSINESS BLUEPRINT</a:t>
            </a:r>
          </a:p>
          <a:p>
            <a:pPr>
              <a:spcBef>
                <a:spcPts val="200"/>
              </a:spcBef>
              <a:defRPr sz="1650" b="1">
                <a:solidFill>
                  <a:srgbClr val="002F5E"/>
                </a:solidFill>
              </a:defRPr>
            </a:pPr>
            <a:r>
              <a:t>Matriks Integrasi Data Fitur (Data Mapping), Anomali, &amp; FSD (Bab 9, 10, 11)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237744"/>
            <a:ext cx="301752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750" b="1">
                <a:solidFill>
                  <a:srgbClr val="0170B9"/>
                </a:solidFill>
              </a:defRPr>
            </a:pPr>
            <a:r>
              <a:t>🌐 HALAMAN WEB / LIVE DEMO</a:t>
            </a:r>
          </a:p>
          <a:p>
            <a:pPr>
              <a:spcBef>
                <a:spcPts val="100"/>
              </a:spcBef>
              <a:defRPr sz="950" b="1">
                <a:solidFill>
                  <a:srgbClr val="002F5E"/>
                </a:solidFill>
              </a:defRPr>
            </a:pPr>
            <a:r>
              <a:t>dashboard.php?page=settings</a:t>
            </a:r>
          </a:p>
          <a:p>
            <a:pPr>
              <a:spcBef>
                <a:spcPts val="100"/>
              </a:spcBef>
              <a:defRPr sz="700" i="1">
                <a:solidFill>
                  <a:srgbClr val="64748B"/>
                </a:solidFill>
              </a:defRPr>
            </a:pPr>
            <a:r>
              <a:t>http://localhost/.../settings.php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 •  Naufal Andika Heditya &amp; Zulfikar J. Fatah  •  Topik 7: CIDP 35 Ha                    Slide 15 of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6858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920240"/>
                <a:gridCol w="1645920"/>
              </a:tblGrid>
              <a:tr h="83210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Modul Fitur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Data Input (Source)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Proses Validasi Sistem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Data Output (Target)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ASN Receiving</a:t>
                      </a:r>
                      <a:br/>
                      <a:r>
                        <a:t>(WMS)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PO Data dari ERP &amp;</a:t>
                      </a:r>
                      <a:br/>
                      <a:r>
                        <a:t>Dokumen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Cek kesesuaian nomor PO &amp; toleransi kuantitas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Status: Received /</a:t>
                      </a:r>
                      <a:br/>
                      <a:r>
                        <a:t>Over-receipt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Picking Engine</a:t>
                      </a:r>
                      <a:br/>
                      <a:r>
                        <a:t>(WMS / WCS)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Order List dari ERP &amp;</a:t>
                      </a:r>
                      <a:br/>
                      <a:r>
                        <a:t>Lokasi Bin CFS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Cek aturan FEFO &amp; kapasitas beban rak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Task Command ke</a:t>
                      </a:r>
                      <a:br/>
                      <a:r>
                        <a:t>PDA / AMR / Forklift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Mass Scanning</a:t>
                      </a:r>
                      <a:br/>
                      <a:r>
                        <a:t>(WCS)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Barcode &amp; Weight Sensor</a:t>
                      </a:r>
                      <a:br/>
                      <a:r>
                        <a:t>Tunnel DWS (&lt;500ms)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Cek kecocokan manifes &amp; toleransi berat ±2%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Signal Diverter &amp;</a:t>
                      </a:r>
                      <a:br/>
                      <a:r>
                        <a:t>Resi Label Tercetak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Route Planner</a:t>
                      </a:r>
                      <a:br/>
                      <a:r>
                        <a:t>(TMS)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Alamat Kirim, Bobot,</a:t>
                      </a:r>
                      <a:br/>
                      <a:r>
                        <a:t>&amp; Batasan Jam Jalan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Algoritma rute tercepat &amp; optimasi tonase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Manifest Jalan &amp;</a:t>
                      </a:r>
                      <a:br/>
                      <a:r>
                        <a:t>GPS Track Assignment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508760"/>
            <a:ext cx="3657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9164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PENANGANAN ANOMALI &amp; FSD STANDAR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1. Anomali Overweight di Gate Timbangan:</a:t>
            </a:r>
            <a:br/>
            <a:r>
              <a:t>• Gejala: Berat &gt; 34 ton atau selisih &gt; 2%.</a:t>
            </a:r>
            <a:br/>
            <a:r>
              <a:t>• Penanganan: Palang lock, truk dialihkan ke Holding Bay Karantina, investigasi dokumen.</a:t>
            </a:r>
            <a:br/>
            <a:br/>
            <a:r>
              <a:t>2. No-Read Barcode pada Conveyor WCS:</a:t>
            </a:r>
            <a:br/>
            <a:r>
              <a:t>• Gejala: Barcode robek / scanner gagal baca.</a:t>
            </a:r>
            <a:br/>
            <a:r>
              <a:t>• Penanganan: Diverter belokkan paket ke Reject Lane + alert PDA operator.</a:t>
            </a:r>
            <a:br/>
            <a:br/>
            <a:r>
              <a:t>3. Shortage Stok saat Picking WMS:</a:t>
            </a:r>
            <a:br/>
            <a:r>
              <a:t>• Gejala: Fisik barang di rak kurang dari order.</a:t>
            </a:r>
            <a:br/>
            <a:r>
              <a:t>• Penanganan: Klik 'Item Shortage', sistem picu Blind Cycle Count &amp; alokasi rak alternatif.</a:t>
            </a:r>
            <a:br/>
            <a:br/>
            <a:r>
              <a:t>4. 4 Pilar FSD Standar Silabus:</a:t>
            </a:r>
            <a:br/>
            <a:r>
              <a:t>• User Role &amp; Permission</a:t>
            </a:r>
            <a:br/>
            <a:r>
              <a:t>• Trigger Condition</a:t>
            </a:r>
            <a:br/>
            <a:r>
              <a:t>• Input Fields &amp; Validation Rules</a:t>
            </a:r>
            <a:br/>
            <a:r>
              <a:t>• System Response &amp;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52160"/>
            <a:ext cx="1069848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50" b="1">
                <a:solidFill>
                  <a:srgbClr val="B45309"/>
                </a:solidFill>
              </a:defRPr>
            </a:pPr>
            <a:r>
              <a:t>👉  Matriks integrasi dan skenario exception handling menjamin operasional stabil 24/7 tanpa henti.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KESIMPULAN REKOMENDASI KONSULTAN &amp; ROADMAP MENUJU GO-LIVE</a:t>
            </a:r>
          </a:p>
          <a:p>
            <a:pPr>
              <a:spcBef>
                <a:spcPts val="300"/>
              </a:spcBef>
              <a:defRPr sz="950" b="1">
                <a:solidFill>
                  <a:srgbClr val="38BDF8"/>
                </a:solidFill>
              </a:defRPr>
            </a:pPr>
            <a:r>
              <a:t>STRATEGI EKSEKUTIF MENUJU IMPLEMENTASI TERMINAL INTERMODAL DRY PORT KELAS DUNIA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206240"/>
          </a:xfrm>
          <a:prstGeom prst="roundRect">
            <a:avLst/>
          </a:prstGeom>
          <a:solidFill>
            <a:srgbClr val="0F2140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1. KEPATUHAN STANDAR REGULASI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Verifikasi Berat Internasional:</a:t>
            </a:r>
            <a:br/>
            <a:r>
              <a:t>  Implementasi jembatan timbang 80T patuh 100% pada SOLAS VGM Bab VI &amp; UU RI No. 22/2009.</a:t>
            </a:r>
            <a:br/>
            <a:br/>
            <a:r>
              <a:t>• Integritas Penomoran ISO 6346:</a:t>
            </a:r>
            <a:br/>
            <a:r>
              <a:t>  Validasi Modulo 11 check digit mencegah kesalahan identitas peti kemas.</a:t>
            </a:r>
            <a:br/>
            <a:br/>
            <a:r>
              <a:t>• Kepatuhan Bea Cukai CEISA 4.0:</a:t>
            </a:r>
            <a:br/>
            <a:r>
              <a:t>  Kunci otomatis (Customs Lock) memastikan barang tanpa SPPB tidak bocor ke luar pelabuhan kering.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4206240"/>
          </a:xfrm>
          <a:prstGeom prst="roundRect">
            <a:avLst/>
          </a:prstGeom>
          <a:solidFill>
            <a:srgbClr val="0F2140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2. EFISIENSI &amp; ZERO LEAKAGE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Zero Revenue Leakage:</a:t>
            </a:r>
            <a:br/>
            <a:r>
              <a:t>  Penguncian palang barrier gate-out hingga invoice berstatus PAID menghilangkan potensi kebocoran pendapatan.</a:t>
            </a:r>
            <a:br/>
            <a:br/>
            <a:r>
              <a:t>• Pangkas Waktu Gate In:</a:t>
            </a:r>
            <a:br/>
            <a:r>
              <a:t>  Otomasi ANPR, OCR, dan timbangan memangkas waktu proses dari 15 menit menjadi 90 detik per truk.</a:t>
            </a:r>
            <a:br/>
            <a:br/>
            <a:r>
              <a:t>• Penghematan Logistik Intermodal:</a:t>
            </a:r>
            <a:br/>
            <a:r>
              <a:t>  Konektivitas rel KA 600m memangkas biaya transportasi jarak jauh hingga 40%.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4206240"/>
          </a:xfrm>
          <a:prstGeom prst="roundRect">
            <a:avLst/>
          </a:prstGeom>
          <a:solidFill>
            <a:srgbClr val="0F2140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3. ROADMAP MENUJU GO-LIVE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FASE 1 (Bulan 1-3): Fondasi Sistem</a:t>
            </a:r>
            <a:br/>
            <a:r>
              <a:t>  Finalisasi modul Web YMS, migrasi skema MySQL, dan integrasi modul Odoo ERP.</a:t>
            </a:r>
            <a:br/>
            <a:br/>
            <a:r>
              <a:t>• FASE 2 (Bulan 4-6): Kalibrasi IoT</a:t>
            </a:r>
            <a:br/>
            <a:r>
              <a:t>  Pemasangan sensor timbangan Avery, kamera ANPR/OCR, dan commissioning VMT RTG.</a:t>
            </a:r>
            <a:br/>
            <a:br/>
            <a:r>
              <a:t>• FASE 3 (Bulan 7-9): Uji Coba Lapangan</a:t>
            </a:r>
            <a:br/>
            <a:r>
              <a:t>  Integrasi API CEISA 4.0 Bea Cukai, simulasi KA Logistik, dan pelatihan operator terminal.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Conclusion Supply Chain Consultant  •  Terima Kasih  •  Sesi Tanya Jawab &amp; Diskusi Terbuka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