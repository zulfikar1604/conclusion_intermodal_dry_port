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2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57200"/>
            <a:ext cx="109728" cy="5852160"/>
          </a:xfrm>
          <a:prstGeom prst="rect">
            <a:avLst/>
          </a:prstGeom>
          <a:solidFill>
            <a:srgbClr val="017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411480"/>
            <a:ext cx="10424160" cy="2011680"/>
          </a:xfrm>
          <a:prstGeom prst="rect">
            <a:avLst/>
          </a:prstGeom>
          <a:noFill/>
        </p:spPr>
        <p:txBody>
          <a:bodyPr wrap="square" lIns="0" tIns="0" rIns="0" bIns="0">
            <a:spAutoFit/>
          </a:bodyPr>
          <a:lstStyle/>
          <a:p>
            <a:pPr>
              <a:defRPr sz="1100" b="1">
                <a:solidFill>
                  <a:srgbClr val="38BDF8"/>
                </a:solidFill>
              </a:defRPr>
            </a:pPr>
            <a:r>
              <a:t>CONCLUSION SUPPLY CHAIN CONSULTANT — STRATEGIC ADVISORY REPORT</a:t>
            </a:r>
          </a:p>
          <a:p>
            <a:pPr>
              <a:spcBef>
                <a:spcPts val="400"/>
              </a:spcBef>
              <a:defRPr sz="2100" b="1">
                <a:solidFill>
                  <a:srgbClr val="FFFFFF"/>
                </a:solidFill>
              </a:defRPr>
            </a:pPr>
            <a:r>
              <a:t>Business Analysis, Multi-Dashboard Intelligence &amp;</a:t>
            </a:r>
            <a:br/>
            <a:r>
              <a:t>Studi Kelayakan Finansial CIDP 35 Ha</a:t>
            </a:r>
          </a:p>
          <a:p>
            <a:pPr>
              <a:spcBef>
                <a:spcPts val="600"/>
              </a:spcBef>
              <a:defRPr sz="950" b="1">
                <a:solidFill>
                  <a:srgbClr val="F59E0B"/>
                </a:solidFill>
              </a:defRPr>
            </a:pPr>
            <a:r>
              <a:t>KAJIAN STRATEGIS: FINANCIAL FEASIBILITY (CAPEX/OPEX/ROI), BPR AS-IS TO-BE, MULTI-DASHBOARD BI &amp; QA MATRIX</a:t>
            </a:r>
          </a:p>
        </p:txBody>
      </p:sp>
      <p:sp>
        <p:nvSpPr>
          <p:cNvPr id="5" name="Rounded Rectangle 4"/>
          <p:cNvSpPr/>
          <p:nvPr/>
        </p:nvSpPr>
        <p:spPr>
          <a:xfrm>
            <a:off x="1005840" y="2606040"/>
            <a:ext cx="5120640" cy="2971800"/>
          </a:xfrm>
          <a:prstGeom prst="roundRect">
            <a:avLst/>
          </a:prstGeom>
          <a:solidFill>
            <a:srgbClr val="0F2140"/>
          </a:solidFill>
          <a:ln w="12700">
            <a:solidFill>
              <a:srgbClr val="1E3A6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b="1">
                <a:solidFill>
                  <a:srgbClr val="38BDF8"/>
                </a:solidFill>
              </a:defRPr>
            </a:pPr>
            <a:r>
              <a:t>TIM ADVISORY BUSINESS ANALYSIS &amp; QA</a:t>
            </a:r>
          </a:p>
          <a:p>
            <a:pPr>
              <a:spcBef>
                <a:spcPts val="600"/>
              </a:spcBef>
              <a:defRPr sz="950">
                <a:solidFill>
                  <a:srgbClr val="E2E8F0"/>
                </a:solidFill>
              </a:defRPr>
            </a:pPr>
            <a:r>
              <a:t>• Naufal Andika Heditya (24D507001012) — Lead Business Analyst &amp; QA</a:t>
            </a:r>
            <a:br/>
            <a:r>
              <a:t>  Fokus: Financial Feasibility (CAPEX/OPEX/PBP/ROI), Standar AIDC GS1, Kepatuhan CEISA 4.0, &amp; Multi-Dashboard BI.</a:t>
            </a:r>
            <a:br/>
            <a:br/>
            <a:r>
              <a:t>• Zulfikar Jafarudin Fatah (24D507001001) — Lead System Architect</a:t>
            </a:r>
            <a:br/>
            <a:r>
              <a:t>  Fokus: Arsitektur Eksekutif Web YMS, Database MySQL, &amp; Integrasi Data.</a:t>
            </a:r>
          </a:p>
        </p:txBody>
      </p:sp>
      <p:sp>
        <p:nvSpPr>
          <p:cNvPr id="6" name="Rounded Rectangle 5"/>
          <p:cNvSpPr/>
          <p:nvPr/>
        </p:nvSpPr>
        <p:spPr>
          <a:xfrm>
            <a:off x="6309360" y="2606040"/>
            <a:ext cx="5120640" cy="2971800"/>
          </a:xfrm>
          <a:prstGeom prst="roundRect">
            <a:avLst/>
          </a:prstGeom>
          <a:solidFill>
            <a:srgbClr val="0F2140"/>
          </a:solidFill>
          <a:ln w="12700">
            <a:solidFill>
              <a:srgbClr val="1E3A6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b="1">
                <a:solidFill>
                  <a:srgbClr val="38BDF8"/>
                </a:solidFill>
              </a:defRPr>
            </a:pPr>
            <a:r>
              <a:t>DEWAN KONSULTAN PENDUKUNG (CONCLUSION CONSULTANT)</a:t>
            </a:r>
          </a:p>
          <a:p>
            <a:pPr>
              <a:spcBef>
                <a:spcPts val="600"/>
              </a:spcBef>
              <a:defRPr sz="950">
                <a:solidFill>
                  <a:srgbClr val="E2E8F0"/>
                </a:solidFill>
              </a:defRPr>
            </a:pPr>
            <a:r>
              <a:t>• Armansyah Muchtarrom (24D507001010) — Hardware Specialist</a:t>
            </a:r>
            <a:br/>
            <a:r>
              <a:t>  (Spesifikasi 26 Sensor Lapangan, Jembatan Timbang &amp; Otomasi Gate)</a:t>
            </a:r>
            <a:br/>
            <a:br/>
            <a:r>
              <a:t>• Afriansayah Ayubi (24D507001026) — Software &amp; ERP Specialist</a:t>
            </a:r>
            <a:br/>
            <a:r>
              <a:t>  (Logika Penanganan Peti Kemas &amp; Terminal Tariff Engine Odoo)</a:t>
            </a:r>
            <a:br/>
            <a:br/>
            <a:r>
              <a:t>• Juan Gamaliel (24D507001016) — Data Integration Specialist</a:t>
            </a:r>
            <a:br/>
            <a:r>
              <a:t>  (REST API Gateway, Payload JSON &amp; Stacking Rules Matrix)</a:t>
            </a:r>
          </a:p>
        </p:txBody>
      </p:sp>
      <p:sp>
        <p:nvSpPr>
          <p:cNvPr id="7" name="TextBox 6"/>
          <p:cNvSpPr txBox="1"/>
          <p:nvPr/>
        </p:nvSpPr>
        <p:spPr>
          <a:xfrm>
            <a:off x="1005840" y="5806440"/>
            <a:ext cx="10424160" cy="640080"/>
          </a:xfrm>
          <a:prstGeom prst="rect">
            <a:avLst/>
          </a:prstGeom>
          <a:noFill/>
        </p:spPr>
        <p:txBody>
          <a:bodyPr wrap="square" lIns="0" tIns="0" rIns="0" bIns="0">
            <a:spAutoFit/>
          </a:bodyPr>
          <a:lstStyle/>
          <a:p>
            <a:pPr>
              <a:defRPr sz="1000" b="1">
                <a:solidFill>
                  <a:srgbClr val="CBD5E1"/>
                </a:solidFill>
              </a:defRPr>
            </a:pPr>
            <a:r>
              <a:t>Klien / Evaluator Akademik: Dr. Tigor Franky, S.T., M.T.  •  Mata Kuliah: Teknologi dan Perangkat Lunak Logistik</a:t>
            </a:r>
          </a:p>
          <a:p>
            <a:pPr>
              <a:spcBef>
                <a:spcPts val="200"/>
              </a:spcBef>
              <a:defRPr sz="950">
                <a:solidFill>
                  <a:srgbClr val="94A3B8"/>
                </a:solidFill>
              </a:defRPr>
            </a:pPr>
            <a:r>
              <a:t>Program Studi S1 Manajemen Logistik  •  Institut Transportasi dan Logistik (ITL) Trisakti  •  Oktober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20040"/>
            <a:ext cx="10698480" cy="1005840"/>
          </a:xfrm>
          <a:prstGeom prst="rect">
            <a:avLst/>
          </a:prstGeom>
          <a:noFill/>
        </p:spPr>
        <p:txBody>
          <a:bodyPr wrap="square" lIns="0" tIns="0" rIns="0" bIns="0">
            <a:spAutoFit/>
          </a:bodyPr>
          <a:lstStyle/>
          <a:p>
            <a:pPr>
              <a:defRPr sz="950" b="1">
                <a:solidFill>
                  <a:srgbClr val="0170B9"/>
                </a:solidFill>
              </a:defRPr>
            </a:pPr>
            <a:r>
              <a:t>CONCLUSION SUPPLY CHAIN CONSULTANT — STRATEGIC BUSINESS BLUEPRINT</a:t>
            </a:r>
          </a:p>
          <a:p>
            <a:pPr>
              <a:spcBef>
                <a:spcPts val="200"/>
              </a:spcBef>
              <a:defRPr sz="1900" b="1">
                <a:solidFill>
                  <a:srgbClr val="002F5E"/>
                </a:solidFill>
              </a:defRPr>
            </a:pPr>
            <a:r>
              <a:t>Kerangka Kerja Konsultan: Pengendalian Aliran Finansial (Financial Flow)</a:t>
            </a:r>
          </a:p>
        </p:txBody>
      </p:sp>
      <p:sp>
        <p:nvSpPr>
          <p:cNvPr id="3" name="TextBox 2"/>
          <p:cNvSpPr txBox="1"/>
          <p:nvPr/>
        </p:nvSpPr>
        <p:spPr>
          <a:xfrm>
            <a:off x="731520" y="6446520"/>
            <a:ext cx="10698480" cy="320040"/>
          </a:xfrm>
          <a:prstGeom prst="rect">
            <a:avLst/>
          </a:prstGeom>
          <a:noFill/>
        </p:spPr>
        <p:txBody>
          <a:bodyPr wrap="square" lIns="0" tIns="0" rIns="0" bIns="0">
            <a:spAutoFit/>
          </a:bodyPr>
          <a:lstStyle/>
          <a:p>
            <a:pPr>
              <a:defRPr sz="850">
                <a:solidFill>
                  <a:srgbClr val="64748B"/>
                </a:solidFill>
              </a:defRPr>
            </a:pPr>
            <a:r>
              <a:t>Conclusion Supply Chain Consultant  •  Naufal Andika Heditya &amp; Zulfikar J. Fatah  •  Topik 7: CIDP 35 Ha                    Slide 2 of 12</a:t>
            </a:r>
          </a:p>
        </p:txBody>
      </p:sp>
      <p:sp>
        <p:nvSpPr>
          <p:cNvPr id="4" name="Rounded Rectangle 3"/>
          <p:cNvSpPr/>
          <p:nvPr/>
        </p:nvSpPr>
        <p:spPr>
          <a:xfrm>
            <a:off x="731520" y="1508760"/>
            <a:ext cx="3383280" cy="46634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3017520" cy="4297680"/>
          </a:xfrm>
          <a:prstGeom prst="rect">
            <a:avLst/>
          </a:prstGeom>
          <a:noFill/>
        </p:spPr>
        <p:txBody>
          <a:bodyPr wrap="square">
            <a:spAutoFit/>
          </a:bodyPr>
          <a:lstStyle/>
          <a:p>
            <a:pPr>
              <a:defRPr sz="1000" b="1">
                <a:solidFill>
                  <a:srgbClr val="0170B9"/>
                </a:solidFill>
              </a:defRPr>
            </a:pPr>
            <a:r>
              <a:t>PERSPEKTIF KONSULTAN BISNIS</a:t>
            </a:r>
          </a:p>
          <a:p>
            <a:pPr>
              <a:spcBef>
                <a:spcPts val="200"/>
              </a:spcBef>
              <a:defRPr sz="1300" b="1">
                <a:solidFill>
                  <a:srgbClr val="002F5E"/>
                </a:solidFill>
              </a:defRPr>
            </a:pPr>
            <a:r>
              <a:t>Fokus Pengendalian Financial Flow</a:t>
            </a:r>
          </a:p>
          <a:p>
            <a:pPr>
              <a:spcBef>
                <a:spcPts val="600"/>
              </a:spcBef>
              <a:defRPr sz="950">
                <a:solidFill>
                  <a:srgbClr val="1E293B"/>
                </a:solidFill>
              </a:defRPr>
            </a:pPr>
            <a:r>
              <a:t>• Goods Flow (Fisik):</a:t>
            </a:r>
            <a:br/>
            <a:r>
              <a:t>  Gerak peti kemas di area 35 Ha (Gate ➔ Yard ➔ Rail Siding).</a:t>
            </a:r>
            <a:br/>
            <a:br/>
            <a:r>
              <a:t>• Information Flow (Data Telemetri):</a:t>
            </a:r>
            <a:br/>
            <a:r>
              <a:t>  Status boks, nomor ISO, bobot VGM, koordinat 3D Bay-Row-Tier, suhu reefer, &amp; kode palet SSCC.</a:t>
            </a:r>
            <a:br/>
            <a:br/>
            <a:r>
              <a:t>• Financial Flow (INTI KONSULTAN):</a:t>
            </a:r>
            <a:br/>
            <a:r>
              <a:t>  Mengubah peristiwa fisik menjadi penagihan sah (billable event) secara otomatis tanpa kebocoran (Zero Revenue Leakage).</a:t>
            </a:r>
          </a:p>
        </p:txBody>
      </p:sp>
      <p:sp>
        <p:nvSpPr>
          <p:cNvPr id="6" name="Rounded Rectangle 5"/>
          <p:cNvSpPr/>
          <p:nvPr/>
        </p:nvSpPr>
        <p:spPr>
          <a:xfrm>
            <a:off x="4389120" y="1508760"/>
            <a:ext cx="3383280" cy="4663440"/>
          </a:xfrm>
          <a:prstGeom prst="roundRect">
            <a:avLst/>
          </a:prstGeom>
          <a:solidFill>
            <a:srgbClr val="EFF6FF"/>
          </a:solidFill>
          <a:ln w="12700">
            <a:solidFill>
              <a:srgbClr val="0170B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0" y="1691640"/>
            <a:ext cx="3017520" cy="4297680"/>
          </a:xfrm>
          <a:prstGeom prst="rect">
            <a:avLst/>
          </a:prstGeom>
          <a:noFill/>
        </p:spPr>
        <p:txBody>
          <a:bodyPr wrap="square">
            <a:spAutoFit/>
          </a:bodyPr>
          <a:lstStyle/>
          <a:p>
            <a:pPr>
              <a:defRPr sz="1000" b="1">
                <a:solidFill>
                  <a:srgbClr val="0170B9"/>
                </a:solidFill>
              </a:defRPr>
            </a:pPr>
            <a:r>
              <a:t>FRAMEWORK DR. TIGOR FRANKY</a:t>
            </a:r>
          </a:p>
          <a:p>
            <a:pPr>
              <a:spcBef>
                <a:spcPts val="200"/>
              </a:spcBef>
              <a:defRPr sz="1300" b="1">
                <a:solidFill>
                  <a:srgbClr val="002F5E"/>
                </a:solidFill>
              </a:defRPr>
            </a:pPr>
            <a:r>
              <a:t>Posisi BA dalam 4 Lapisan IT</a:t>
            </a:r>
          </a:p>
          <a:p>
            <a:pPr>
              <a:spcBef>
                <a:spcPts val="600"/>
              </a:spcBef>
              <a:defRPr sz="950">
                <a:solidFill>
                  <a:srgbClr val="1E293B"/>
                </a:solidFill>
              </a:defRPr>
            </a:pPr>
            <a:r>
              <a:t>• Layer 1 (Sensing):</a:t>
            </a:r>
            <a:br/>
            <a:r>
              <a:t>  Audit utilisasi 26 alat fisik &amp; sensor bernilai miliaran rupiah.</a:t>
            </a:r>
            <a:br/>
            <a:br/>
            <a:r>
              <a:t>• Layer 2 (Network):</a:t>
            </a:r>
            <a:br/>
            <a:r>
              <a:t>  Menjamin kontinuitas data penagihan &amp; telemetri tanpa paket hilang.</a:t>
            </a:r>
            <a:br/>
            <a:br/>
            <a:r>
              <a:t>• Layer 3 (Application YMS):</a:t>
            </a:r>
            <a:br/>
            <a:r>
              <a:t>  Merancang aturan tarif progresif, aturan penumpukan, dan kepatuhan pabean.</a:t>
            </a:r>
            <a:br/>
            <a:br/>
            <a:r>
              <a:t>• Layer 4 (Enterprise Integration):</a:t>
            </a:r>
            <a:br/>
            <a:r>
              <a:t>  Sinkronisasi data ke ERP Odoo Finansial &amp; CEISA 4.0 Bea Cukai.</a:t>
            </a:r>
          </a:p>
        </p:txBody>
      </p:sp>
      <p:sp>
        <p:nvSpPr>
          <p:cNvPr id="8" name="Rounded Rectangle 7"/>
          <p:cNvSpPr/>
          <p:nvPr/>
        </p:nvSpPr>
        <p:spPr>
          <a:xfrm>
            <a:off x="8046720" y="1508760"/>
            <a:ext cx="3383280" cy="46634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1691640"/>
            <a:ext cx="3017520" cy="4297680"/>
          </a:xfrm>
          <a:prstGeom prst="rect">
            <a:avLst/>
          </a:prstGeom>
          <a:noFill/>
        </p:spPr>
        <p:txBody>
          <a:bodyPr wrap="square">
            <a:spAutoFit/>
          </a:bodyPr>
          <a:lstStyle/>
          <a:p>
            <a:pPr>
              <a:spcBef>
                <a:spcPts val="0"/>
              </a:spcBef>
              <a:defRPr sz="1000" b="1">
                <a:solidFill>
                  <a:srgbClr val="10B981"/>
                </a:solidFill>
              </a:defRPr>
            </a:pPr>
            <a:r>
              <a:t>MANDAT RESMI SILABUS (SLIDE 13)</a:t>
            </a:r>
          </a:p>
          <a:p>
            <a:pPr>
              <a:spcBef>
                <a:spcPts val="200"/>
              </a:spcBef>
              <a:defRPr sz="1300" b="1">
                <a:solidFill>
                  <a:srgbClr val="002F5E"/>
                </a:solidFill>
              </a:defRPr>
            </a:pPr>
            <a:r>
              <a:t>3 Tugas Pokok BA &amp; QA</a:t>
            </a:r>
          </a:p>
          <a:p>
            <a:pPr>
              <a:spcBef>
                <a:spcPts val="600"/>
              </a:spcBef>
              <a:defRPr sz="950">
                <a:solidFill>
                  <a:srgbClr val="1E293B"/>
                </a:solidFill>
              </a:defRPr>
            </a:pPr>
            <a:r>
              <a:t>1. OPEX / ROI Analysis (Kelayakan Bisnis):</a:t>
            </a:r>
            <a:br/>
            <a:r>
              <a:t>   Menghitung belanja operasional rutin, PBP, NPV, IRR, dan efisiensi biaya terminal.</a:t>
            </a:r>
            <a:br/>
            <a:br/>
            <a:r>
              <a:t>2. Mockup Dashboard KPI Eksekutif:</a:t>
            </a:r>
            <a:br/>
            <a:r>
              <a:t>   Visualisasi Business Intelligence penentu keputusan (Throughput, YOR, Dwell Time, Gross Daily Revenue).</a:t>
            </a:r>
            <a:br/>
            <a:br/>
            <a:r>
              <a:t>3. Dokumen SRS &amp; Penjaminan Mutu (QA):</a:t>
            </a:r>
            <a:br/>
            <a:r>
              <a:t>   Standardisasi format GS1, pengujian kasus batas (Edge-Cases), dan kepatuhan regulasi.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20040"/>
            <a:ext cx="10698480" cy="1005840"/>
          </a:xfrm>
          <a:prstGeom prst="rect">
            <a:avLst/>
          </a:prstGeom>
          <a:noFill/>
        </p:spPr>
        <p:txBody>
          <a:bodyPr wrap="square" lIns="0" tIns="0" rIns="0" bIns="0">
            <a:spAutoFit/>
          </a:bodyPr>
          <a:lstStyle/>
          <a:p>
            <a:pPr>
              <a:defRPr sz="950" b="1">
                <a:solidFill>
                  <a:srgbClr val="0170B9"/>
                </a:solidFill>
              </a:defRPr>
            </a:pPr>
            <a:r>
              <a:t>CONCLUSION SUPPLY CHAIN CONSULTANT — STRATEGIC BUSINESS BLUEPRINT</a:t>
            </a:r>
          </a:p>
          <a:p>
            <a:pPr>
              <a:spcBef>
                <a:spcPts val="200"/>
              </a:spcBef>
              <a:defRPr sz="1900" b="1">
                <a:solidFill>
                  <a:srgbClr val="002F5E"/>
                </a:solidFill>
              </a:defRPr>
            </a:pPr>
            <a:r>
              <a:t>Rekayasa Ulang Proses Bisnis (Business Process Reengineering - BPR)</a:t>
            </a:r>
          </a:p>
        </p:txBody>
      </p:sp>
      <p:sp>
        <p:nvSpPr>
          <p:cNvPr id="3" name="TextBox 2"/>
          <p:cNvSpPr txBox="1"/>
          <p:nvPr/>
        </p:nvSpPr>
        <p:spPr>
          <a:xfrm>
            <a:off x="731520" y="6446520"/>
            <a:ext cx="10698480" cy="320040"/>
          </a:xfrm>
          <a:prstGeom prst="rect">
            <a:avLst/>
          </a:prstGeom>
          <a:noFill/>
        </p:spPr>
        <p:txBody>
          <a:bodyPr wrap="square" lIns="0" tIns="0" rIns="0" bIns="0">
            <a:spAutoFit/>
          </a:bodyPr>
          <a:lstStyle/>
          <a:p>
            <a:pPr>
              <a:defRPr sz="850">
                <a:solidFill>
                  <a:srgbClr val="64748B"/>
                </a:solidFill>
              </a:defRPr>
            </a:pPr>
            <a:r>
              <a:t>Conclusion Supply Chain Consultant  •  Naufal Andika Heditya &amp; Zulfikar J. Fatah  •  Topik 7: CIDP 35 Ha                    Slide 3 of 12</a:t>
            </a:r>
          </a:p>
        </p:txBody>
      </p:sp>
      <p:graphicFrame>
        <p:nvGraphicFramePr>
          <p:cNvPr id="4" name="Table 3"/>
          <p:cNvGraphicFramePr>
            <a:graphicFrameLocks noGrp="1"/>
          </p:cNvGraphicFramePr>
          <p:nvPr/>
        </p:nvGraphicFramePr>
        <p:xfrm>
          <a:off x="731520" y="1508760"/>
          <a:ext cx="10698479" cy="3931920"/>
        </p:xfrm>
        <a:graphic>
          <a:graphicData uri="http://schemas.openxmlformats.org/drawingml/2006/table">
            <a:tbl>
              <a:tblPr firstRow="1" bandRow="1">
                <a:tableStyleId>{5C22544A-7EE6-4342-B048-85BDC9FD1C3A}</a:tableStyleId>
              </a:tblPr>
              <a:tblGrid>
                <a:gridCol w="2011680"/>
                <a:gridCol w="3291840"/>
                <a:gridCol w="3749039"/>
                <a:gridCol w="1645920"/>
              </a:tblGrid>
              <a:tr h="561702">
                <a:tc>
                  <a:txBody>
                    <a:bodyPr/>
                    <a:lstStyle/>
                    <a:p>
                      <a:pPr>
                        <a:defRPr sz="950" b="1">
                          <a:solidFill>
                            <a:srgbClr val="FFFFFF"/>
                          </a:solidFill>
                        </a:defRPr>
                      </a:pPr>
                      <a:r>
                        <a:t>Parameter Proses</a:t>
                      </a:r>
                    </a:p>
                  </a:txBody>
                  <a:tcPr>
                    <a:solidFill>
                      <a:srgbClr val="002F5E"/>
                    </a:solidFill>
                  </a:tcPr>
                </a:tc>
                <a:tc>
                  <a:txBody>
                    <a:bodyPr/>
                    <a:lstStyle/>
                    <a:p>
                      <a:pPr>
                        <a:defRPr sz="950" b="1">
                          <a:solidFill>
                            <a:srgbClr val="FFFFFF"/>
                          </a:solidFill>
                        </a:defRPr>
                      </a:pPr>
                      <a:r>
                        <a:t>Kondisi As-Is (Depo Konvensional)</a:t>
                      </a:r>
                    </a:p>
                  </a:txBody>
                  <a:tcPr>
                    <a:solidFill>
                      <a:srgbClr val="002F5E"/>
                    </a:solidFill>
                  </a:tcPr>
                </a:tc>
                <a:tc>
                  <a:txBody>
                    <a:bodyPr/>
                    <a:lstStyle/>
                    <a:p>
                      <a:pPr>
                        <a:defRPr sz="950" b="1">
                          <a:solidFill>
                            <a:srgbClr val="FFFFFF"/>
                          </a:solidFill>
                        </a:defRPr>
                      </a:pPr>
                      <a:r>
                        <a:t>Rekomendasi To-Be (CIDP Smart YMS)</a:t>
                      </a:r>
                    </a:p>
                  </a:txBody>
                  <a:tcPr>
                    <a:solidFill>
                      <a:srgbClr val="002F5E"/>
                    </a:solidFill>
                  </a:tcPr>
                </a:tc>
                <a:tc>
                  <a:txBody>
                    <a:bodyPr/>
                    <a:lstStyle/>
                    <a:p>
                      <a:pPr>
                        <a:defRPr sz="950" b="1">
                          <a:solidFill>
                            <a:srgbClr val="FFFFFF"/>
                          </a:solidFill>
                        </a:defRPr>
                      </a:pPr>
                      <a:r>
                        <a:t>Dampak Efisiensi</a:t>
                      </a:r>
                    </a:p>
                  </a:txBody>
                  <a:tcPr>
                    <a:solidFill>
                      <a:srgbClr val="002F5E"/>
                    </a:solidFill>
                  </a:tcPr>
                </a:tc>
              </a:tr>
              <a:tr h="561702">
                <a:tc>
                  <a:txBody>
                    <a:bodyPr/>
                    <a:lstStyle/>
                    <a:p>
                      <a:pPr>
                        <a:defRPr sz="850">
                          <a:solidFill>
                            <a:srgbClr val="1E293B"/>
                          </a:solidFill>
                        </a:defRPr>
                      </a:pPr>
                      <a:r>
                        <a:t>Waktu Siklus Gerbang</a:t>
                      </a:r>
                    </a:p>
                  </a:txBody>
                  <a:tcPr>
                    <a:solidFill>
                      <a:srgbClr val="FFFFFF"/>
                    </a:solidFill>
                  </a:tcPr>
                </a:tc>
                <a:tc>
                  <a:txBody>
                    <a:bodyPr/>
                    <a:lstStyle/>
                    <a:p>
                      <a:pPr>
                        <a:defRPr sz="850">
                          <a:solidFill>
                            <a:srgbClr val="1E293B"/>
                          </a:solidFill>
                        </a:defRPr>
                      </a:pPr>
                      <a:r>
                        <a:t>12 - 18 Menit (Pencatatan manual kertas, stempel tiket, cek boks fisik)</a:t>
                      </a:r>
                    </a:p>
                  </a:txBody>
                  <a:tcPr>
                    <a:solidFill>
                      <a:srgbClr val="FFFFFF"/>
                    </a:solidFill>
                  </a:tcPr>
                </a:tc>
                <a:tc>
                  <a:txBody>
                    <a:bodyPr/>
                    <a:lstStyle/>
                    <a:p>
                      <a:pPr>
                        <a:defRPr sz="850">
                          <a:solidFill>
                            <a:srgbClr val="1E293B"/>
                          </a:solidFill>
                        </a:defRPr>
                      </a:pPr>
                      <a:r>
                        <a:t>60 - 90 Detik (Kamera ANPR + OCR boks otomatis, timbang dinamis, e-Pass QR)</a:t>
                      </a:r>
                    </a:p>
                  </a:txBody>
                  <a:tcPr>
                    <a:solidFill>
                      <a:srgbClr val="FFFFFF"/>
                    </a:solidFill>
                  </a:tcPr>
                </a:tc>
                <a:tc>
                  <a:txBody>
                    <a:bodyPr/>
                    <a:lstStyle/>
                    <a:p>
                      <a:pPr>
                        <a:defRPr sz="850" b="1">
                          <a:solidFill>
                            <a:srgbClr val="10B981"/>
                          </a:solidFill>
                        </a:defRPr>
                      </a:pPr>
                      <a:r>
                        <a:t>Efisiensi 89% Waktu</a:t>
                      </a:r>
                    </a:p>
                  </a:txBody>
                  <a:tcPr>
                    <a:solidFill>
                      <a:srgbClr val="FFFFFF"/>
                    </a:solidFill>
                  </a:tcPr>
                </a:tc>
              </a:tr>
              <a:tr h="561702">
                <a:tc>
                  <a:txBody>
                    <a:bodyPr/>
                    <a:lstStyle/>
                    <a:p>
                      <a:pPr>
                        <a:defRPr sz="850">
                          <a:solidFill>
                            <a:srgbClr val="1E293B"/>
                          </a:solidFill>
                        </a:defRPr>
                      </a:pPr>
                      <a:r>
                        <a:t>Alokasi Slot Yard</a:t>
                      </a:r>
                    </a:p>
                  </a:txBody>
                  <a:tcPr>
                    <a:solidFill>
                      <a:srgbClr val="F8FAFC"/>
                    </a:solidFill>
                  </a:tcPr>
                </a:tc>
                <a:tc>
                  <a:txBody>
                    <a:bodyPr/>
                    <a:lstStyle/>
                    <a:p>
                      <a:pPr>
                        <a:defRPr sz="850">
                          <a:solidFill>
                            <a:srgbClr val="1E293B"/>
                          </a:solidFill>
                        </a:defRPr>
                      </a:pPr>
                      <a:r>
                        <a:t>Pencarian slot acak; sering salah blok &amp; terjadi box terselip (misplacement)</a:t>
                      </a:r>
                    </a:p>
                  </a:txBody>
                  <a:tcPr>
                    <a:solidFill>
                      <a:srgbClr val="F8FAFC"/>
                    </a:solidFill>
                  </a:tcPr>
                </a:tc>
                <a:tc>
                  <a:txBody>
                    <a:bodyPr/>
                    <a:lstStyle/>
                    <a:p>
                      <a:pPr>
                        <a:defRPr sz="850">
                          <a:solidFill>
                            <a:srgbClr val="1E293B"/>
                          </a:solidFill>
                        </a:defRPr>
                      </a:pPr>
                      <a:r>
                        <a:t>100% Terarah Otomatis via Algoritma 3D Bay-Row-Tier &amp; panduan kabin RS</a:t>
                      </a:r>
                    </a:p>
                  </a:txBody>
                  <a:tcPr>
                    <a:solidFill>
                      <a:srgbClr val="F8FAFC"/>
                    </a:solidFill>
                  </a:tcPr>
                </a:tc>
                <a:tc>
                  <a:txBody>
                    <a:bodyPr/>
                    <a:lstStyle/>
                    <a:p>
                      <a:pPr>
                        <a:defRPr sz="850" b="1">
                          <a:solidFill>
                            <a:srgbClr val="10B981"/>
                          </a:solidFill>
                        </a:defRPr>
                      </a:pPr>
                      <a:r>
                        <a:t>0% Box Terselip</a:t>
                      </a:r>
                    </a:p>
                  </a:txBody>
                  <a:tcPr>
                    <a:solidFill>
                      <a:srgbClr val="F8FAFC"/>
                    </a:solidFill>
                  </a:tcPr>
                </a:tc>
              </a:tr>
              <a:tr h="561702">
                <a:tc>
                  <a:txBody>
                    <a:bodyPr/>
                    <a:lstStyle/>
                    <a:p>
                      <a:pPr>
                        <a:defRPr sz="850">
                          <a:solidFill>
                            <a:srgbClr val="1E293B"/>
                          </a:solidFill>
                        </a:defRPr>
                      </a:pPr>
                      <a:r>
                        <a:t>Rata-rata Waktu Inap</a:t>
                      </a:r>
                    </a:p>
                  </a:txBody>
                  <a:tcPr>
                    <a:solidFill>
                      <a:srgbClr val="FFFFFF"/>
                    </a:solidFill>
                  </a:tcPr>
                </a:tc>
                <a:tc>
                  <a:txBody>
                    <a:bodyPr/>
                    <a:lstStyle/>
                    <a:p>
                      <a:pPr>
                        <a:defRPr sz="850">
                          <a:solidFill>
                            <a:srgbClr val="1E293B"/>
                          </a:solidFill>
                        </a:defRPr>
                      </a:pPr>
                      <a:r>
                        <a:t>6.8 Hari (Penumpukan tidak terkontrol, notifikasi masa bebas lambat)</a:t>
                      </a:r>
                    </a:p>
                  </a:txBody>
                  <a:tcPr>
                    <a:solidFill>
                      <a:srgbClr val="FFFFFF"/>
                    </a:solidFill>
                  </a:tcPr>
                </a:tc>
                <a:tc>
                  <a:txBody>
                    <a:bodyPr/>
                    <a:lstStyle/>
                    <a:p>
                      <a:pPr>
                        <a:defRPr sz="850">
                          <a:solidFill>
                            <a:srgbClr val="1E293B"/>
                          </a:solidFill>
                        </a:defRPr>
                      </a:pPr>
                      <a:r>
                        <a:t>2.3 Hari (Notifikasi otomatis Masa Bebas, SPPB instan, jadwal rel pasti)</a:t>
                      </a:r>
                    </a:p>
                  </a:txBody>
                  <a:tcPr>
                    <a:solidFill>
                      <a:srgbClr val="FFFFFF"/>
                    </a:solidFill>
                  </a:tcPr>
                </a:tc>
                <a:tc>
                  <a:txBody>
                    <a:bodyPr/>
                    <a:lstStyle/>
                    <a:p>
                      <a:pPr>
                        <a:defRPr sz="850" b="1">
                          <a:solidFill>
                            <a:srgbClr val="10B981"/>
                          </a:solidFill>
                        </a:defRPr>
                      </a:pPr>
                      <a:r>
                        <a:t>Dwell Time Turun 66%</a:t>
                      </a:r>
                    </a:p>
                  </a:txBody>
                  <a:tcPr>
                    <a:solidFill>
                      <a:srgbClr val="FFFFFF"/>
                    </a:solidFill>
                  </a:tcPr>
                </a:tc>
              </a:tr>
              <a:tr h="561702">
                <a:tc>
                  <a:txBody>
                    <a:bodyPr/>
                    <a:lstStyle/>
                    <a:p>
                      <a:pPr>
                        <a:defRPr sz="850">
                          <a:solidFill>
                            <a:srgbClr val="1E293B"/>
                          </a:solidFill>
                        </a:defRPr>
                      </a:pPr>
                      <a:r>
                        <a:t>Verifikasi Timbang VGM</a:t>
                      </a:r>
                    </a:p>
                  </a:txBody>
                  <a:tcPr>
                    <a:solidFill>
                      <a:srgbClr val="F8FAFC"/>
                    </a:solidFill>
                  </a:tcPr>
                </a:tc>
                <a:tc>
                  <a:txBody>
                    <a:bodyPr/>
                    <a:lstStyle/>
                    <a:p>
                      <a:pPr>
                        <a:defRPr sz="850">
                          <a:solidFill>
                            <a:srgbClr val="1E293B"/>
                          </a:solidFill>
                        </a:defRPr>
                      </a:pPr>
                      <a:r>
                        <a:t>Timbangan luar depo terpisah; sertifikat manual rawan manipulasi</a:t>
                      </a:r>
                    </a:p>
                  </a:txBody>
                  <a:tcPr>
                    <a:solidFill>
                      <a:srgbClr val="F8FAFC"/>
                    </a:solidFill>
                  </a:tcPr>
                </a:tc>
                <a:tc>
                  <a:txBody>
                    <a:bodyPr/>
                    <a:lstStyle/>
                    <a:p>
                      <a:pPr>
                        <a:defRPr sz="850">
                          <a:solidFill>
                            <a:srgbClr val="1E293B"/>
                          </a:solidFill>
                        </a:defRPr>
                      </a:pPr>
                      <a:r>
                        <a:t>Terintegrasi Jembatan Timbang Gate 80t; tolak otomatis truk overload &gt;34t</a:t>
                      </a:r>
                    </a:p>
                  </a:txBody>
                  <a:tcPr>
                    <a:solidFill>
                      <a:srgbClr val="F8FAFC"/>
                    </a:solidFill>
                  </a:tcPr>
                </a:tc>
                <a:tc>
                  <a:txBody>
                    <a:bodyPr/>
                    <a:lstStyle/>
                    <a:p>
                      <a:pPr>
                        <a:defRPr sz="850" b="1">
                          <a:solidFill>
                            <a:srgbClr val="10B981"/>
                          </a:solidFill>
                        </a:defRPr>
                      </a:pPr>
                      <a:r>
                        <a:t>SOLAS 100% Patuh</a:t>
                      </a:r>
                    </a:p>
                  </a:txBody>
                  <a:tcPr>
                    <a:solidFill>
                      <a:srgbClr val="F8FAFC"/>
                    </a:solidFill>
                  </a:tcPr>
                </a:tc>
              </a:tr>
              <a:tr h="561702">
                <a:tc>
                  <a:txBody>
                    <a:bodyPr/>
                    <a:lstStyle/>
                    <a:p>
                      <a:pPr>
                        <a:defRPr sz="850">
                          <a:solidFill>
                            <a:srgbClr val="1E293B"/>
                          </a:solidFill>
                        </a:defRPr>
                      </a:pPr>
                      <a:r>
                        <a:t>Penagihan Biaya (Billing)</a:t>
                      </a:r>
                    </a:p>
                  </a:txBody>
                  <a:tcPr>
                    <a:solidFill>
                      <a:srgbClr val="FFFFFF"/>
                    </a:solidFill>
                  </a:tcPr>
                </a:tc>
                <a:tc>
                  <a:txBody>
                    <a:bodyPr/>
                    <a:lstStyle/>
                    <a:p>
                      <a:pPr>
                        <a:defRPr sz="850">
                          <a:solidFill>
                            <a:srgbClr val="1E293B"/>
                          </a:solidFill>
                        </a:defRPr>
                      </a:pPr>
                      <a:r>
                        <a:t>Rekap manual 3-5 hari pasca keluar; denda inap sering bocor tidak tertagih</a:t>
                      </a:r>
                    </a:p>
                  </a:txBody>
                  <a:tcPr>
                    <a:solidFill>
                      <a:srgbClr val="FFFFFF"/>
                    </a:solidFill>
                  </a:tcPr>
                </a:tc>
                <a:tc>
                  <a:txBody>
                    <a:bodyPr/>
                    <a:lstStyle/>
                    <a:p>
                      <a:pPr>
                        <a:defRPr sz="850">
                          <a:solidFill>
                            <a:srgbClr val="1E293B"/>
                          </a:solidFill>
                        </a:defRPr>
                      </a:pPr>
                      <a:r>
                        <a:t>Real-Time Event-Driven: Invoice terbit detik itu juga ke modul ERP Odoo Finance</a:t>
                      </a:r>
                    </a:p>
                  </a:txBody>
                  <a:tcPr>
                    <a:solidFill>
                      <a:srgbClr val="FFFFFF"/>
                    </a:solidFill>
                  </a:tcPr>
                </a:tc>
                <a:tc>
                  <a:txBody>
                    <a:bodyPr/>
                    <a:lstStyle/>
                    <a:p>
                      <a:pPr>
                        <a:defRPr sz="850" b="1">
                          <a:solidFill>
                            <a:srgbClr val="10B981"/>
                          </a:solidFill>
                        </a:defRPr>
                      </a:pPr>
                      <a:r>
                        <a:t>Zero Revenue Leakage</a:t>
                      </a:r>
                    </a:p>
                  </a:txBody>
                  <a:tcPr>
                    <a:solidFill>
                      <a:srgbClr val="FFFFFF"/>
                    </a:solidFill>
                  </a:tcPr>
                </a:tc>
              </a:tr>
              <a:tr h="561708">
                <a:tc>
                  <a:txBody>
                    <a:bodyPr/>
                    <a:lstStyle/>
                    <a:p>
                      <a:pPr>
                        <a:defRPr sz="850">
                          <a:solidFill>
                            <a:srgbClr val="1E293B"/>
                          </a:solidFill>
                        </a:defRPr>
                      </a:pPr>
                      <a:r>
                        <a:t>Rilis Pabean (Customs)</a:t>
                      </a:r>
                    </a:p>
                  </a:txBody>
                  <a:tcPr>
                    <a:solidFill>
                      <a:srgbClr val="F8FAFC"/>
                    </a:solidFill>
                  </a:tcPr>
                </a:tc>
                <a:tc>
                  <a:txBody>
                    <a:bodyPr/>
                    <a:lstStyle/>
                    <a:p>
                      <a:pPr>
                        <a:defRPr sz="850">
                          <a:solidFill>
                            <a:srgbClr val="1E293B"/>
                          </a:solidFill>
                        </a:defRPr>
                      </a:pPr>
                      <a:r>
                        <a:t>Petugas bawa berkas fisik ke pos pabean; waktu tunggu SPPB 24-48 jam</a:t>
                      </a:r>
                    </a:p>
                  </a:txBody>
                  <a:tcPr>
                    <a:solidFill>
                      <a:srgbClr val="F8FAFC"/>
                    </a:solidFill>
                  </a:tcPr>
                </a:tc>
                <a:tc>
                  <a:txBody>
                    <a:bodyPr/>
                    <a:lstStyle/>
                    <a:p>
                      <a:pPr>
                        <a:defRPr sz="850">
                          <a:solidFill>
                            <a:srgbClr val="1E293B"/>
                          </a:solidFill>
                        </a:defRPr>
                      </a:pPr>
                      <a:r>
                        <a:t>API CEISA 4.0 DJBC: Rilis SPPB Jalur Hijau &lt;5 menit, alur Behandle terisolasi</a:t>
                      </a:r>
                    </a:p>
                  </a:txBody>
                  <a:tcPr>
                    <a:solidFill>
                      <a:srgbClr val="F8FAFC"/>
                    </a:solidFill>
                  </a:tcPr>
                </a:tc>
                <a:tc>
                  <a:txBody>
                    <a:bodyPr/>
                    <a:lstStyle/>
                    <a:p>
                      <a:pPr>
                        <a:defRPr sz="850" b="1">
                          <a:solidFill>
                            <a:srgbClr val="10B981"/>
                          </a:solidFill>
                        </a:defRPr>
                      </a:pPr>
                      <a:r>
                        <a:t>Rilis 95% Lebih Cepat</a:t>
                      </a:r>
                    </a:p>
                  </a:txBody>
                  <a:tcPr>
                    <a:solidFill>
                      <a:srgbClr val="F8FAFC"/>
                    </a:solidFill>
                  </a:tcPr>
                </a:tc>
              </a:tr>
            </a:tbl>
          </a:graphicData>
        </a:graphic>
      </p:graphicFrame>
      <p:sp>
        <p:nvSpPr>
          <p:cNvPr id="5" name="Rounded Rectangle 4"/>
          <p:cNvSpPr/>
          <p:nvPr/>
        </p:nvSpPr>
        <p:spPr>
          <a:xfrm>
            <a:off x="731520" y="5623560"/>
            <a:ext cx="10698480" cy="594360"/>
          </a:xfrm>
          <a:prstGeom prst="roundRect">
            <a:avLst/>
          </a:prstGeom>
          <a:solidFill>
            <a:srgbClr val="EFF6FF"/>
          </a:solidFill>
          <a:ln w="12700">
            <a:solidFill>
              <a:srgbClr val="0170B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002F5E"/>
                </a:solidFill>
              </a:defRPr>
            </a:pPr>
            <a:r>
              <a:t>DIAGNOSIS KONSULTAN: Rekayasa To-Be memangkas siklus kargo sebesar 66% dan mengeliminasi 100% biaya shifting kontainer sia-sia di lapangan!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20040"/>
            <a:ext cx="10698480" cy="1005840"/>
          </a:xfrm>
          <a:prstGeom prst="rect">
            <a:avLst/>
          </a:prstGeom>
          <a:noFill/>
        </p:spPr>
        <p:txBody>
          <a:bodyPr wrap="square" lIns="0" tIns="0" rIns="0" bIns="0">
            <a:spAutoFit/>
          </a:bodyPr>
          <a:lstStyle/>
          <a:p>
            <a:pPr>
              <a:defRPr sz="950" b="1">
                <a:solidFill>
                  <a:srgbClr val="0170B9"/>
                </a:solidFill>
              </a:defRPr>
            </a:pPr>
            <a:r>
              <a:t>CONCLUSION SUPPLY CHAIN CONSULTANT — STRATEGIC BUSINESS BLUEPRINT</a:t>
            </a:r>
          </a:p>
          <a:p>
            <a:pPr>
              <a:spcBef>
                <a:spcPts val="200"/>
              </a:spcBef>
              <a:defRPr sz="1900" b="1">
                <a:solidFill>
                  <a:srgbClr val="002F5E"/>
                </a:solidFill>
              </a:defRPr>
            </a:pPr>
            <a:r>
              <a:t>Standar Identifikasi Global: GS1 SSCC-18 vs Kontainer ISO 6346</a:t>
            </a:r>
          </a:p>
        </p:txBody>
      </p:sp>
      <p:sp>
        <p:nvSpPr>
          <p:cNvPr id="3" name="TextBox 2"/>
          <p:cNvSpPr txBox="1"/>
          <p:nvPr/>
        </p:nvSpPr>
        <p:spPr>
          <a:xfrm>
            <a:off x="731520" y="6446520"/>
            <a:ext cx="10698480" cy="320040"/>
          </a:xfrm>
          <a:prstGeom prst="rect">
            <a:avLst/>
          </a:prstGeom>
          <a:noFill/>
        </p:spPr>
        <p:txBody>
          <a:bodyPr wrap="square" lIns="0" tIns="0" rIns="0" bIns="0">
            <a:spAutoFit/>
          </a:bodyPr>
          <a:lstStyle/>
          <a:p>
            <a:pPr>
              <a:defRPr sz="850">
                <a:solidFill>
                  <a:srgbClr val="64748B"/>
                </a:solidFill>
              </a:defRPr>
            </a:pPr>
            <a:r>
              <a:t>Conclusion Supply Chain Consultant  •  Naufal Andika Heditya &amp; Zulfikar J. Fatah  •  Topik 7: CIDP 35 Ha                    Slide 4 of 12</a:t>
            </a:r>
          </a:p>
        </p:txBody>
      </p:sp>
      <p:sp>
        <p:nvSpPr>
          <p:cNvPr id="4" name="Rounded Rectangle 3"/>
          <p:cNvSpPr/>
          <p:nvPr/>
        </p:nvSpPr>
        <p:spPr>
          <a:xfrm>
            <a:off x="731520" y="1508760"/>
            <a:ext cx="5212080" cy="4114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4846320" cy="3749040"/>
          </a:xfrm>
          <a:prstGeom prst="rect">
            <a:avLst/>
          </a:prstGeom>
          <a:noFill/>
        </p:spPr>
        <p:txBody>
          <a:bodyPr wrap="square">
            <a:spAutoFit/>
          </a:bodyPr>
          <a:lstStyle/>
          <a:p>
            <a:pPr>
              <a:defRPr sz="1000" b="1">
                <a:solidFill>
                  <a:srgbClr val="0170B9"/>
                </a:solidFill>
              </a:defRPr>
            </a:pPr>
            <a:r>
              <a:t>IDENTITAS WADAH BAJA LUAR</a:t>
            </a:r>
          </a:p>
          <a:p>
            <a:pPr>
              <a:spcBef>
                <a:spcPts val="200"/>
              </a:spcBef>
              <a:defRPr sz="1300" b="1">
                <a:solidFill>
                  <a:srgbClr val="002F5E"/>
                </a:solidFill>
              </a:defRPr>
            </a:pPr>
            <a:r>
              <a:t>ISO 6346:2022 (Container ID)</a:t>
            </a:r>
          </a:p>
          <a:p>
            <a:pPr>
              <a:spcBef>
                <a:spcPts val="600"/>
              </a:spcBef>
              <a:defRPr sz="900">
                <a:solidFill>
                  <a:srgbClr val="1E293B"/>
                </a:solidFill>
              </a:defRPr>
            </a:pPr>
            <a:r>
              <a:t>• Mengidentifikasi FISIK PETI KEMAS:</a:t>
            </a:r>
            <a:br/>
            <a:r>
              <a:t>  Contoh format: MSKU 918237 4 (11 Karakter).</a:t>
            </a:r>
            <a:br/>
            <a:r>
              <a:t>  - Kode Pemilik (3 char): MSK = Maersk Line.</a:t>
            </a:r>
            <a:br/>
            <a:r>
              <a:t>  - Kategori Alat (1 char): U = Freight Container.</a:t>
            </a:r>
            <a:br/>
            <a:r>
              <a:t>  - Nomor Seri: 6 Angka unik terdaftar di BIC.</a:t>
            </a:r>
            <a:br/>
            <a:r>
              <a:t>  - Check Digit: 1 Angka hasil kalkulasi Modulo 11.</a:t>
            </a:r>
            <a:br/>
            <a:br/>
            <a:r>
              <a:t>• Penjaminan Mutu (QA Data):</a:t>
            </a:r>
            <a:br/>
            <a:r>
              <a:t>  Sistem otomatis memvalidasi rumus Modulo 11 di `pages/scanner.php`. Jika salah satu digit meleset, sistem langsung menandai 'INVALID CHECK DIGIT' dan menolak registrasi.</a:t>
            </a:r>
          </a:p>
        </p:txBody>
      </p:sp>
      <p:sp>
        <p:nvSpPr>
          <p:cNvPr id="6" name="Rounded Rectangle 5"/>
          <p:cNvSpPr/>
          <p:nvPr/>
        </p:nvSpPr>
        <p:spPr>
          <a:xfrm>
            <a:off x="6217920" y="1508760"/>
            <a:ext cx="5212080" cy="4114800"/>
          </a:xfrm>
          <a:prstGeom prst="roundRect">
            <a:avLst/>
          </a:prstGeom>
          <a:solidFill>
            <a:srgbClr val="ECFDF5"/>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0" y="1691640"/>
            <a:ext cx="4846320" cy="3749040"/>
          </a:xfrm>
          <a:prstGeom prst="rect">
            <a:avLst/>
          </a:prstGeom>
          <a:noFill/>
        </p:spPr>
        <p:txBody>
          <a:bodyPr wrap="square">
            <a:spAutoFit/>
          </a:bodyPr>
          <a:lstStyle/>
          <a:p>
            <a:pPr>
              <a:defRPr sz="1000" b="1">
                <a:solidFill>
                  <a:srgbClr val="10B981"/>
                </a:solidFill>
              </a:defRPr>
            </a:pPr>
            <a:r>
              <a:t>PASPOR UNIT PALET KARGO DI DALAM BOKS</a:t>
            </a:r>
          </a:p>
          <a:p>
            <a:pPr>
              <a:spcBef>
                <a:spcPts val="200"/>
              </a:spcBef>
              <a:defRPr sz="1300" b="1">
                <a:solidFill>
                  <a:srgbClr val="002F5E"/>
                </a:solidFill>
              </a:defRPr>
            </a:pPr>
            <a:r>
              <a:t>GS1 SSCC-18 (AI 00 - 18 Digit)</a:t>
            </a:r>
          </a:p>
          <a:p>
            <a:pPr>
              <a:spcBef>
                <a:spcPts val="600"/>
              </a:spcBef>
              <a:defRPr sz="900">
                <a:solidFill>
                  <a:srgbClr val="1E293B"/>
                </a:solidFill>
              </a:defRPr>
            </a:pPr>
            <a:r>
              <a:t>• Mengidentifikasi ISI MUATAN LCL / PALET:</a:t>
            </a:r>
            <a:br/>
            <a:r>
              <a:t>  Dalam 1 kontainer CFS terdapat puluhan palet milik berbagai importir berbeda.</a:t>
            </a:r>
            <a:br/>
            <a:br/>
            <a:r>
              <a:t>• Anatomi SSCC-18:</a:t>
            </a:r>
            <a:br/>
            <a:r>
              <a:t>  (00) + Ekstensi (1) + Prefix Perusahaan (7-10) + Seri Palet + Cek Digit Modulo 10.</a:t>
            </a:r>
            <a:br/>
            <a:br/>
            <a:r>
              <a:t>• Nilai Tambah Operasional:</a:t>
            </a:r>
            <a:br/>
            <a:r>
              <a:t>  Satu kali scan barcode GS1-128 di rampa dock hidrolik langsung memetakan palet ke dokumen ASN, nomor batch, dan tanggal expired (FEFO) tanpa bongkar kardus fisik.</a:t>
            </a:r>
          </a:p>
        </p:txBody>
      </p:sp>
      <p:sp>
        <p:nvSpPr>
          <p:cNvPr id="8" name="Rounded Rectangle 7"/>
          <p:cNvSpPr/>
          <p:nvPr/>
        </p:nvSpPr>
        <p:spPr>
          <a:xfrm>
            <a:off x="731520" y="5870448"/>
            <a:ext cx="10698480" cy="438912"/>
          </a:xfrm>
          <a:prstGeom prst="roundRect">
            <a:avLst/>
          </a:prstGeom>
          <a:solidFill>
            <a:srgbClr val="FEF3C7"/>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950" b="1">
                <a:solidFill>
                  <a:srgbClr val="B45309"/>
                </a:solidFill>
              </a:defRPr>
            </a:pPr>
            <a:r>
              <a:t>👉  [LIVE DEMO 1]: Buka Menu 'Scanner SSCC / GS1' (pages/scanner.php) ➔ Pindai Barcode SSCC-18 &amp; Validasi Cek Digit ISO 6346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20040"/>
            <a:ext cx="10698480" cy="1005840"/>
          </a:xfrm>
          <a:prstGeom prst="rect">
            <a:avLst/>
          </a:prstGeom>
          <a:noFill/>
        </p:spPr>
        <p:txBody>
          <a:bodyPr wrap="square" lIns="0" tIns="0" rIns="0" bIns="0">
            <a:spAutoFit/>
          </a:bodyPr>
          <a:lstStyle/>
          <a:p>
            <a:pPr>
              <a:defRPr sz="950" b="1">
                <a:solidFill>
                  <a:srgbClr val="0170B9"/>
                </a:solidFill>
              </a:defRPr>
            </a:pPr>
            <a:r>
              <a:t>CONCLUSION SUPPLY CHAIN CONSULTANT — STRATEGIC BUSINESS BLUEPRINT</a:t>
            </a:r>
          </a:p>
          <a:p>
            <a:pPr>
              <a:spcBef>
                <a:spcPts val="200"/>
              </a:spcBef>
              <a:defRPr sz="1900" b="1">
                <a:solidFill>
                  <a:srgbClr val="002F5E"/>
                </a:solidFill>
              </a:defRPr>
            </a:pPr>
            <a:r>
              <a:t>Studi Kelayakan Finansial: Struktur CAPEX Rp 250 M &amp; OPEX Rp 24.8 M/Thn</a:t>
            </a:r>
          </a:p>
        </p:txBody>
      </p:sp>
      <p:sp>
        <p:nvSpPr>
          <p:cNvPr id="3" name="TextBox 2"/>
          <p:cNvSpPr txBox="1"/>
          <p:nvPr/>
        </p:nvSpPr>
        <p:spPr>
          <a:xfrm>
            <a:off x="731520" y="6446520"/>
            <a:ext cx="10698480" cy="320040"/>
          </a:xfrm>
          <a:prstGeom prst="rect">
            <a:avLst/>
          </a:prstGeom>
          <a:noFill/>
        </p:spPr>
        <p:txBody>
          <a:bodyPr wrap="square" lIns="0" tIns="0" rIns="0" bIns="0">
            <a:spAutoFit/>
          </a:bodyPr>
          <a:lstStyle/>
          <a:p>
            <a:pPr>
              <a:defRPr sz="850">
                <a:solidFill>
                  <a:srgbClr val="64748B"/>
                </a:solidFill>
              </a:defRPr>
            </a:pPr>
            <a:r>
              <a:t>Conclusion Supply Chain Consultant  •  Naufal Andika Heditya &amp; Zulfikar J. Fatah  •  Topik 7: CIDP 35 Ha                    Slide 5 of 12</a:t>
            </a:r>
          </a:p>
        </p:txBody>
      </p:sp>
      <p:sp>
        <p:nvSpPr>
          <p:cNvPr id="4" name="Rounded Rectangle 3"/>
          <p:cNvSpPr/>
          <p:nvPr/>
        </p:nvSpPr>
        <p:spPr>
          <a:xfrm>
            <a:off x="731520" y="1508760"/>
            <a:ext cx="5212080" cy="4114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4846320" cy="3749040"/>
          </a:xfrm>
          <a:prstGeom prst="rect">
            <a:avLst/>
          </a:prstGeom>
          <a:noFill/>
        </p:spPr>
        <p:txBody>
          <a:bodyPr wrap="square">
            <a:spAutoFit/>
          </a:bodyPr>
          <a:lstStyle/>
          <a:p>
            <a:pPr>
              <a:defRPr sz="1000" b="1">
                <a:solidFill>
                  <a:srgbClr val="0170B9"/>
                </a:solidFill>
              </a:defRPr>
            </a:pPr>
            <a:r>
              <a:t>STRUKTUR INVESTASI AWAL (CAPEX)</a:t>
            </a:r>
          </a:p>
          <a:p>
            <a:pPr>
              <a:spcBef>
                <a:spcPts val="200"/>
              </a:spcBef>
              <a:defRPr sz="1300" b="1">
                <a:solidFill>
                  <a:srgbClr val="002F5E"/>
                </a:solidFill>
              </a:defRPr>
            </a:pPr>
            <a:r>
              <a:t>Total CAPEX: Rp 249,5 Miliar (± Rp 250 M)</a:t>
            </a:r>
          </a:p>
          <a:p>
            <a:pPr>
              <a:spcBef>
                <a:spcPts val="400"/>
              </a:spcBef>
              <a:defRPr sz="850">
                <a:solidFill>
                  <a:srgbClr val="1E293B"/>
                </a:solidFill>
              </a:defRPr>
            </a:pPr>
            <a:r>
              <a:t>• Lahan &amp; Perkerasan Rigid 80t (35 Ha): Rp 130,0 M (52,1%)</a:t>
            </a:r>
            <a:br/>
            <a:r>
              <a:t>• Armada 3 RS Kalmar + 1 RTG Crane: Rp 55,0 M (22,0%)</a:t>
            </a:r>
            <a:br/>
            <a:r>
              <a:t>• Sepur Simpan Rel KA (Double Track): Rp 35,0 M (14,0%)</a:t>
            </a:r>
            <a:br/>
            <a:r>
              <a:t>• Gudang CFS 4.000m² &amp; Hanggar DJBC: Rp 15,0 M (6,0%)</a:t>
            </a:r>
            <a:br/>
            <a:r>
              <a:t>• Infrastruktur Reefer (300 Plugs): Rp 6,5 M (2,6%)</a:t>
            </a:r>
            <a:br/>
            <a:r>
              <a:t>• Otomasi Gerbang &amp; Sensor IoT: Rp 4,5 M (1,8%)</a:t>
            </a:r>
            <a:br/>
            <a:r>
              <a:t>• Software YMS, Cloud &amp; ERP Odoo: Rp 3,5 M (1,4%)</a:t>
            </a:r>
            <a:br/>
            <a:br/>
            <a:r>
              <a:t>Insight Kunci Konsultan:</a:t>
            </a:r>
            <a:br/>
            <a:r>
              <a:t>Investasi IT &amp; IoT hanya 3,2% dari CAPEX, namun mengontrol dan mendigitalkan 96,8% aset fisik terminal lainnya!</a:t>
            </a:r>
          </a:p>
        </p:txBody>
      </p:sp>
      <p:sp>
        <p:nvSpPr>
          <p:cNvPr id="6" name="Rounded Rectangle 5"/>
          <p:cNvSpPr/>
          <p:nvPr/>
        </p:nvSpPr>
        <p:spPr>
          <a:xfrm>
            <a:off x="6217920" y="1508760"/>
            <a:ext cx="5212080" cy="4114800"/>
          </a:xfrm>
          <a:prstGeom prst="roundRect">
            <a:avLst/>
          </a:prstGeom>
          <a:solidFill>
            <a:srgbClr val="EFF6FF"/>
          </a:solidFill>
          <a:ln w="12700">
            <a:solidFill>
              <a:srgbClr val="0170B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0" y="1691640"/>
            <a:ext cx="4846320" cy="3749040"/>
          </a:xfrm>
          <a:prstGeom prst="rect">
            <a:avLst/>
          </a:prstGeom>
          <a:noFill/>
        </p:spPr>
        <p:txBody>
          <a:bodyPr wrap="square">
            <a:spAutoFit/>
          </a:bodyPr>
          <a:lstStyle/>
          <a:p>
            <a:pPr>
              <a:defRPr sz="1000" b="1">
                <a:solidFill>
                  <a:srgbClr val="0170B9"/>
                </a:solidFill>
              </a:defRPr>
            </a:pPr>
            <a:r>
              <a:t>STRUKTUR BIAYA OPERASIONAL (OPEX)</a:t>
            </a:r>
          </a:p>
          <a:p>
            <a:pPr>
              <a:spcBef>
                <a:spcPts val="200"/>
              </a:spcBef>
              <a:defRPr sz="1300" b="1">
                <a:solidFill>
                  <a:srgbClr val="002F5E"/>
                </a:solidFill>
              </a:defRPr>
            </a:pPr>
            <a:r>
              <a:t>Total OPEX: Rp 24,78 Miliar / Thn (~Rp 2,06 M/Bln)</a:t>
            </a:r>
          </a:p>
          <a:p>
            <a:pPr>
              <a:spcBef>
                <a:spcPts val="400"/>
              </a:spcBef>
              <a:defRPr sz="850">
                <a:solidFill>
                  <a:srgbClr val="1E293B"/>
                </a:solidFill>
              </a:defRPr>
            </a:pPr>
            <a:r>
              <a:t>• Solar Industri &amp; Listrik PLN 380V: Rp 9,44 M / Thn (38,1%)</a:t>
            </a:r>
            <a:br/>
            <a:r>
              <a:t>  Solar HSD 3 RS (Rp 4,82 M) + Listrik gardu RTG/Reefer (Rp 4,62 M).</a:t>
            </a:r>
            <a:br/>
            <a:br/>
            <a:r>
              <a:t>• Gaji &amp; Payroll 82 Personil: Rp 6,89 M / Thn (27,8%)</a:t>
            </a:r>
            <a:br/>
            <a:r>
              <a:t>  8 Operator SIO, 12 Gate, 16 CFS, 8 M&amp;R, 6 IT, 12 Safety, 20 Admin.</a:t>
            </a:r>
            <a:br/>
            <a:br/>
            <a:r>
              <a:t>• Sewa Jalur Rel KA (TAC KAI Logistik): Rp 5,40 M / Thn (21,8%)</a:t>
            </a:r>
            <a:br/>
            <a:r>
              <a:t>  Track Access Charge &amp; traksi lokomotif koridor Tanjung Priok.</a:t>
            </a:r>
            <a:br/>
            <a:br/>
            <a:r>
              <a:t>• Perawatan Mesin M&amp;R &amp; Asuransi/IT: Rp 3,06 M / Thn (12,3%)</a:t>
            </a:r>
            <a:br/>
            <a:r>
              <a:t>  Ban heavy-duty, pelumas hidrolik, tera timbangan 80t, &amp; cloud.</a:t>
            </a:r>
          </a:p>
        </p:txBody>
      </p:sp>
      <p:sp>
        <p:nvSpPr>
          <p:cNvPr id="8" name="Rounded Rectangle 7"/>
          <p:cNvSpPr/>
          <p:nvPr/>
        </p:nvSpPr>
        <p:spPr>
          <a:xfrm>
            <a:off x="731520" y="5760720"/>
            <a:ext cx="10698480" cy="502920"/>
          </a:xfrm>
          <a:prstGeom prst="roundRect">
            <a:avLst/>
          </a:prstGeom>
          <a:solidFill>
            <a:srgbClr val="FEF3C7"/>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B45309"/>
                </a:solidFill>
              </a:defRPr>
            </a:pPr>
            <a:r>
              <a:t>RASIO EFISIENSI OPEX: Beban operasional tahunan hanya 32.6% dari total proyeksi pendapatan kotor terminal!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20040"/>
            <a:ext cx="10698480" cy="1005840"/>
          </a:xfrm>
          <a:prstGeom prst="rect">
            <a:avLst/>
          </a:prstGeom>
          <a:noFill/>
        </p:spPr>
        <p:txBody>
          <a:bodyPr wrap="square" lIns="0" tIns="0" rIns="0" bIns="0">
            <a:spAutoFit/>
          </a:bodyPr>
          <a:lstStyle/>
          <a:p>
            <a:pPr>
              <a:defRPr sz="950" b="1">
                <a:solidFill>
                  <a:srgbClr val="0170B9"/>
                </a:solidFill>
              </a:defRPr>
            </a:pPr>
            <a:r>
              <a:t>CONCLUSION SUPPLY CHAIN CONSULTANT — STRATEGIC BUSINESS BLUEPRINT</a:t>
            </a:r>
          </a:p>
          <a:p>
            <a:pPr>
              <a:spcBef>
                <a:spcPts val="200"/>
              </a:spcBef>
              <a:defRPr sz="1900" b="1">
                <a:solidFill>
                  <a:srgbClr val="002F5E"/>
                </a:solidFill>
              </a:defRPr>
            </a:pPr>
            <a:r>
              <a:t>Model Pendapatan (Revenue Streams) &amp; Strategi Zero Revenue Leakage</a:t>
            </a:r>
          </a:p>
        </p:txBody>
      </p:sp>
      <p:sp>
        <p:nvSpPr>
          <p:cNvPr id="3" name="TextBox 2"/>
          <p:cNvSpPr txBox="1"/>
          <p:nvPr/>
        </p:nvSpPr>
        <p:spPr>
          <a:xfrm>
            <a:off x="731520" y="6446520"/>
            <a:ext cx="10698480" cy="320040"/>
          </a:xfrm>
          <a:prstGeom prst="rect">
            <a:avLst/>
          </a:prstGeom>
          <a:noFill/>
        </p:spPr>
        <p:txBody>
          <a:bodyPr wrap="square" lIns="0" tIns="0" rIns="0" bIns="0">
            <a:spAutoFit/>
          </a:bodyPr>
          <a:lstStyle/>
          <a:p>
            <a:pPr>
              <a:defRPr sz="850">
                <a:solidFill>
                  <a:srgbClr val="64748B"/>
                </a:solidFill>
              </a:defRPr>
            </a:pPr>
            <a:r>
              <a:t>Conclusion Supply Chain Consultant  •  Naufal Andika Heditya &amp; Zulfikar J. Fatah  •  Topik 7: CIDP 35 Ha                    Slide 6 of 12</a:t>
            </a:r>
          </a:p>
        </p:txBody>
      </p:sp>
      <p:graphicFrame>
        <p:nvGraphicFramePr>
          <p:cNvPr id="4" name="Table 3"/>
          <p:cNvGraphicFramePr>
            <a:graphicFrameLocks noGrp="1"/>
          </p:cNvGraphicFramePr>
          <p:nvPr/>
        </p:nvGraphicFramePr>
        <p:xfrm>
          <a:off x="731520" y="1508760"/>
          <a:ext cx="10698480" cy="3749039"/>
        </p:xfrm>
        <a:graphic>
          <a:graphicData uri="http://schemas.openxmlformats.org/drawingml/2006/table">
            <a:tbl>
              <a:tblPr firstRow="1" bandRow="1">
                <a:tableStyleId>{5C22544A-7EE6-4342-B048-85BDC9FD1C3A}</a:tableStyleId>
              </a:tblPr>
              <a:tblGrid>
                <a:gridCol w="2377440"/>
                <a:gridCol w="2926080"/>
                <a:gridCol w="2468880"/>
                <a:gridCol w="2926080"/>
              </a:tblGrid>
              <a:tr h="468629">
                <a:tc>
                  <a:txBody>
                    <a:bodyPr/>
                    <a:lstStyle/>
                    <a:p>
                      <a:pPr>
                        <a:defRPr sz="950" b="1">
                          <a:solidFill>
                            <a:srgbClr val="FFFFFF"/>
                          </a:solidFill>
                        </a:defRPr>
                      </a:pPr>
                      <a:r>
                        <a:t>Jenis Layanan Jasa</a:t>
                      </a:r>
                    </a:p>
                  </a:txBody>
                  <a:tcPr>
                    <a:solidFill>
                      <a:srgbClr val="002F5E"/>
                    </a:solidFill>
                  </a:tcPr>
                </a:tc>
                <a:tc>
                  <a:txBody>
                    <a:bodyPr/>
                    <a:lstStyle/>
                    <a:p>
                      <a:pPr>
                        <a:defRPr sz="950" b="1">
                          <a:solidFill>
                            <a:srgbClr val="FFFFFF"/>
                          </a:solidFill>
                        </a:defRPr>
                      </a:pPr>
                      <a:r>
                        <a:t>Besaran Tarif Resmi</a:t>
                      </a:r>
                    </a:p>
                  </a:txBody>
                  <a:tcPr>
                    <a:solidFill>
                      <a:srgbClr val="002F5E"/>
                    </a:solidFill>
                  </a:tcPr>
                </a:tc>
                <a:tc>
                  <a:txBody>
                    <a:bodyPr/>
                    <a:lstStyle/>
                    <a:p>
                      <a:pPr>
                        <a:defRPr sz="950" b="1">
                          <a:solidFill>
                            <a:srgbClr val="FFFFFF"/>
                          </a:solidFill>
                        </a:defRPr>
                      </a:pPr>
                      <a:r>
                        <a:t>Volume Tahunan (Target)</a:t>
                      </a:r>
                    </a:p>
                  </a:txBody>
                  <a:tcPr>
                    <a:solidFill>
                      <a:srgbClr val="002F5E"/>
                    </a:solidFill>
                  </a:tcPr>
                </a:tc>
                <a:tc>
                  <a:txBody>
                    <a:bodyPr/>
                    <a:lstStyle/>
                    <a:p>
                      <a:pPr>
                        <a:defRPr sz="950" b="1">
                          <a:solidFill>
                            <a:srgbClr val="FFFFFF"/>
                          </a:solidFill>
                        </a:defRPr>
                      </a:pPr>
                      <a:r>
                        <a:t>Estimasi Pendapatan Tahunan</a:t>
                      </a:r>
                    </a:p>
                  </a:txBody>
                  <a:tcPr>
                    <a:solidFill>
                      <a:srgbClr val="002F5E"/>
                    </a:solidFill>
                  </a:tcPr>
                </a:tc>
              </a:tr>
              <a:tr h="468629">
                <a:tc>
                  <a:txBody>
                    <a:bodyPr/>
                    <a:lstStyle/>
                    <a:p>
                      <a:pPr>
                        <a:defRPr sz="850">
                          <a:solidFill>
                            <a:srgbClr val="1E293B"/>
                          </a:solidFill>
                        </a:defRPr>
                      </a:pPr>
                      <a:r>
                        <a:t>Lift-On / Lift-Off (Lo-Lo)</a:t>
                      </a:r>
                    </a:p>
                  </a:txBody>
                  <a:tcPr>
                    <a:solidFill>
                      <a:srgbClr val="FFFFFF"/>
                    </a:solidFill>
                  </a:tcPr>
                </a:tc>
                <a:tc>
                  <a:txBody>
                    <a:bodyPr/>
                    <a:lstStyle/>
                    <a:p>
                      <a:pPr>
                        <a:defRPr sz="850">
                          <a:solidFill>
                            <a:srgbClr val="1E293B"/>
                          </a:solidFill>
                        </a:defRPr>
                      </a:pPr>
                      <a:r>
                        <a:t>Rp 175rb (20ft) / Rp 275rb (40ft)</a:t>
                      </a:r>
                    </a:p>
                  </a:txBody>
                  <a:tcPr>
                    <a:solidFill>
                      <a:srgbClr val="FFFFFF"/>
                    </a:solidFill>
                  </a:tcPr>
                </a:tc>
                <a:tc>
                  <a:txBody>
                    <a:bodyPr/>
                    <a:lstStyle/>
                    <a:p>
                      <a:pPr>
                        <a:defRPr sz="850">
                          <a:solidFill>
                            <a:srgbClr val="1E293B"/>
                          </a:solidFill>
                        </a:defRPr>
                      </a:pPr>
                      <a:r>
                        <a:t>150.000 Box Handling</a:t>
                      </a:r>
                    </a:p>
                  </a:txBody>
                  <a:tcPr>
                    <a:solidFill>
                      <a:srgbClr val="FFFFFF"/>
                    </a:solidFill>
                  </a:tcPr>
                </a:tc>
                <a:tc>
                  <a:txBody>
                    <a:bodyPr/>
                    <a:lstStyle/>
                    <a:p>
                      <a:pPr>
                        <a:defRPr sz="850" b="1">
                          <a:solidFill>
                            <a:srgbClr val="10B981"/>
                          </a:solidFill>
                        </a:defRPr>
                      </a:pPr>
                      <a:r>
                        <a:t>Rp 33.750.000.000 (44.4%)</a:t>
                      </a:r>
                    </a:p>
                  </a:txBody>
                  <a:tcPr>
                    <a:solidFill>
                      <a:srgbClr val="FFFFFF"/>
                    </a:solidFill>
                  </a:tcPr>
                </a:tc>
              </a:tr>
              <a:tr h="468629">
                <a:tc>
                  <a:txBody>
                    <a:bodyPr/>
                    <a:lstStyle/>
                    <a:p>
                      <a:pPr>
                        <a:defRPr sz="850">
                          <a:solidFill>
                            <a:srgbClr val="1E293B"/>
                          </a:solidFill>
                        </a:defRPr>
                      </a:pPr>
                      <a:r>
                        <a:t>Penumpukan Lapangan (Storage)</a:t>
                      </a:r>
                    </a:p>
                  </a:txBody>
                  <a:tcPr>
                    <a:solidFill>
                      <a:srgbClr val="F8FAFC"/>
                    </a:solidFill>
                  </a:tcPr>
                </a:tc>
                <a:tc>
                  <a:txBody>
                    <a:bodyPr/>
                    <a:lstStyle/>
                    <a:p>
                      <a:pPr>
                        <a:defRPr sz="850">
                          <a:solidFill>
                            <a:srgbClr val="1E293B"/>
                          </a:solidFill>
                        </a:defRPr>
                      </a:pPr>
                      <a:r>
                        <a:t>Masa I Rp 0 | Masa II Rp 45rb | Masa III Rp 90rb</a:t>
                      </a:r>
                    </a:p>
                  </a:txBody>
                  <a:tcPr>
                    <a:solidFill>
                      <a:srgbClr val="F8FAFC"/>
                    </a:solidFill>
                  </a:tcPr>
                </a:tc>
                <a:tc>
                  <a:txBody>
                    <a:bodyPr/>
                    <a:lstStyle/>
                    <a:p>
                      <a:pPr>
                        <a:defRPr sz="850">
                          <a:solidFill>
                            <a:srgbClr val="1E293B"/>
                          </a:solidFill>
                        </a:defRPr>
                      </a:pPr>
                      <a:r>
                        <a:t>90.000 Box Kena Inap</a:t>
                      </a:r>
                    </a:p>
                  </a:txBody>
                  <a:tcPr>
                    <a:solidFill>
                      <a:srgbClr val="F8FAFC"/>
                    </a:solidFill>
                  </a:tcPr>
                </a:tc>
                <a:tc>
                  <a:txBody>
                    <a:bodyPr/>
                    <a:lstStyle/>
                    <a:p>
                      <a:pPr>
                        <a:defRPr sz="850" b="1">
                          <a:solidFill>
                            <a:srgbClr val="10B981"/>
                          </a:solidFill>
                        </a:defRPr>
                      </a:pPr>
                      <a:r>
                        <a:t>Rp 10.800.000.000 (14.2%)</a:t>
                      </a:r>
                    </a:p>
                  </a:txBody>
                  <a:tcPr>
                    <a:solidFill>
                      <a:srgbClr val="F8FAFC"/>
                    </a:solidFill>
                  </a:tcPr>
                </a:tc>
              </a:tr>
              <a:tr h="468629">
                <a:tc>
                  <a:txBody>
                    <a:bodyPr/>
                    <a:lstStyle/>
                    <a:p>
                      <a:pPr>
                        <a:defRPr sz="850">
                          <a:solidFill>
                            <a:srgbClr val="1E293B"/>
                          </a:solidFill>
                        </a:defRPr>
                      </a:pPr>
                      <a:r>
                        <a:t>Bagi Hasil KA Logistik</a:t>
                      </a:r>
                    </a:p>
                  </a:txBody>
                  <a:tcPr>
                    <a:solidFill>
                      <a:srgbClr val="FFFFFF"/>
                    </a:solidFill>
                  </a:tcPr>
                </a:tc>
                <a:tc>
                  <a:txBody>
                    <a:bodyPr/>
                    <a:lstStyle/>
                    <a:p>
                      <a:pPr>
                        <a:defRPr sz="850">
                          <a:solidFill>
                            <a:srgbClr val="1E293B"/>
                          </a:solidFill>
                        </a:defRPr>
                      </a:pPr>
                      <a:r>
                        <a:t>Rp 1.500.000 / Gerbong Datar</a:t>
                      </a:r>
                    </a:p>
                  </a:txBody>
                  <a:tcPr>
                    <a:solidFill>
                      <a:srgbClr val="FFFFFF"/>
                    </a:solidFill>
                  </a:tcPr>
                </a:tc>
                <a:tc>
                  <a:txBody>
                    <a:bodyPr/>
                    <a:lstStyle/>
                    <a:p>
                      <a:pPr>
                        <a:defRPr sz="850">
                          <a:solidFill>
                            <a:srgbClr val="1E293B"/>
                          </a:solidFill>
                        </a:defRPr>
                      </a:pPr>
                      <a:r>
                        <a:t>6.000 Gerbong KA Barang</a:t>
                      </a:r>
                    </a:p>
                  </a:txBody>
                  <a:tcPr>
                    <a:solidFill>
                      <a:srgbClr val="FFFFFF"/>
                    </a:solidFill>
                  </a:tcPr>
                </a:tc>
                <a:tc>
                  <a:txBody>
                    <a:bodyPr/>
                    <a:lstStyle/>
                    <a:p>
                      <a:pPr>
                        <a:defRPr sz="850" b="1">
                          <a:solidFill>
                            <a:srgbClr val="10B981"/>
                          </a:solidFill>
                        </a:defRPr>
                      </a:pPr>
                      <a:r>
                        <a:t>Rp 9.000.000.000 (11.8%)</a:t>
                      </a:r>
                    </a:p>
                  </a:txBody>
                  <a:tcPr>
                    <a:solidFill>
                      <a:srgbClr val="FFFFFF"/>
                    </a:solidFill>
                  </a:tcPr>
                </a:tc>
              </a:tr>
              <a:tr h="468629">
                <a:tc>
                  <a:txBody>
                    <a:bodyPr/>
                    <a:lstStyle/>
                    <a:p>
                      <a:pPr>
                        <a:defRPr sz="850">
                          <a:solidFill>
                            <a:srgbClr val="1E293B"/>
                          </a:solidFill>
                        </a:defRPr>
                      </a:pPr>
                      <a:r>
                        <a:t>Gudang CFS Stuffing / Stripping</a:t>
                      </a:r>
                    </a:p>
                  </a:txBody>
                  <a:tcPr>
                    <a:solidFill>
                      <a:srgbClr val="F8FAFC"/>
                    </a:solidFill>
                  </a:tcPr>
                </a:tc>
                <a:tc>
                  <a:txBody>
                    <a:bodyPr/>
                    <a:lstStyle/>
                    <a:p>
                      <a:pPr>
                        <a:defRPr sz="850">
                          <a:solidFill>
                            <a:srgbClr val="1E293B"/>
                          </a:solidFill>
                        </a:defRPr>
                      </a:pPr>
                      <a:r>
                        <a:t>Rp 450.000 / Box Kontainer LCL</a:t>
                      </a:r>
                    </a:p>
                  </a:txBody>
                  <a:tcPr>
                    <a:solidFill>
                      <a:srgbClr val="F8FAFC"/>
                    </a:solidFill>
                  </a:tcPr>
                </a:tc>
                <a:tc>
                  <a:txBody>
                    <a:bodyPr/>
                    <a:lstStyle/>
                    <a:p>
                      <a:pPr>
                        <a:defRPr sz="850">
                          <a:solidFill>
                            <a:srgbClr val="1E293B"/>
                          </a:solidFill>
                        </a:defRPr>
                      </a:pPr>
                      <a:r>
                        <a:t>18.000 Box CFS LCL</a:t>
                      </a:r>
                    </a:p>
                  </a:txBody>
                  <a:tcPr>
                    <a:solidFill>
                      <a:srgbClr val="F8FAFC"/>
                    </a:solidFill>
                  </a:tcPr>
                </a:tc>
                <a:tc>
                  <a:txBody>
                    <a:bodyPr/>
                    <a:lstStyle/>
                    <a:p>
                      <a:pPr>
                        <a:defRPr sz="850" b="1">
                          <a:solidFill>
                            <a:srgbClr val="10B981"/>
                          </a:solidFill>
                        </a:defRPr>
                      </a:pPr>
                      <a:r>
                        <a:t>Rp 8.100.000.000 (10.7%)</a:t>
                      </a:r>
                    </a:p>
                  </a:txBody>
                  <a:tcPr>
                    <a:solidFill>
                      <a:srgbClr val="F8FAFC"/>
                    </a:solidFill>
                  </a:tcPr>
                </a:tc>
              </a:tr>
              <a:tr h="468629">
                <a:tc>
                  <a:txBody>
                    <a:bodyPr/>
                    <a:lstStyle/>
                    <a:p>
                      <a:pPr>
                        <a:defRPr sz="850">
                          <a:solidFill>
                            <a:srgbClr val="1E293B"/>
                          </a:solidFill>
                        </a:defRPr>
                      </a:pPr>
                      <a:r>
                        <a:t>Steker Pendingin Reefer Yard</a:t>
                      </a:r>
                    </a:p>
                  </a:txBody>
                  <a:tcPr>
                    <a:solidFill>
                      <a:srgbClr val="FFFFFF"/>
                    </a:solidFill>
                  </a:tcPr>
                </a:tc>
                <a:tc>
                  <a:txBody>
                    <a:bodyPr/>
                    <a:lstStyle/>
                    <a:p>
                      <a:pPr>
                        <a:defRPr sz="850">
                          <a:solidFill>
                            <a:srgbClr val="1E293B"/>
                          </a:solidFill>
                        </a:defRPr>
                      </a:pPr>
                      <a:r>
                        <a:t>Rp 250.000 / Shift (8 Jam)</a:t>
                      </a:r>
                    </a:p>
                  </a:txBody>
                  <a:tcPr>
                    <a:solidFill>
                      <a:srgbClr val="FFFFFF"/>
                    </a:solidFill>
                  </a:tcPr>
                </a:tc>
                <a:tc>
                  <a:txBody>
                    <a:bodyPr/>
                    <a:lstStyle/>
                    <a:p>
                      <a:pPr>
                        <a:defRPr sz="850">
                          <a:solidFill>
                            <a:srgbClr val="1E293B"/>
                          </a:solidFill>
                        </a:defRPr>
                      </a:pPr>
                      <a:r>
                        <a:t>25.000 Shift Reefer</a:t>
                      </a:r>
                    </a:p>
                  </a:txBody>
                  <a:tcPr>
                    <a:solidFill>
                      <a:srgbClr val="FFFFFF"/>
                    </a:solidFill>
                  </a:tcPr>
                </a:tc>
                <a:tc>
                  <a:txBody>
                    <a:bodyPr/>
                    <a:lstStyle/>
                    <a:p>
                      <a:pPr>
                        <a:defRPr sz="850" b="1">
                          <a:solidFill>
                            <a:srgbClr val="10B981"/>
                          </a:solidFill>
                        </a:defRPr>
                      </a:pPr>
                      <a:r>
                        <a:t>Rp 6.250.000.000 (8.2%)</a:t>
                      </a:r>
                    </a:p>
                  </a:txBody>
                  <a:tcPr>
                    <a:solidFill>
                      <a:srgbClr val="FFFFFF"/>
                    </a:solidFill>
                  </a:tcPr>
                </a:tc>
              </a:tr>
              <a:tr h="468629">
                <a:tc>
                  <a:txBody>
                    <a:bodyPr/>
                    <a:lstStyle/>
                    <a:p>
                      <a:pPr>
                        <a:defRPr sz="850">
                          <a:solidFill>
                            <a:srgbClr val="1E293B"/>
                          </a:solidFill>
                        </a:defRPr>
                      </a:pPr>
                      <a:r>
                        <a:t>Jembatan Timbang VGM SOLAS</a:t>
                      </a:r>
                    </a:p>
                  </a:txBody>
                  <a:tcPr>
                    <a:solidFill>
                      <a:srgbClr val="F8FAFC"/>
                    </a:solidFill>
                  </a:tcPr>
                </a:tc>
                <a:tc>
                  <a:txBody>
                    <a:bodyPr/>
                    <a:lstStyle/>
                    <a:p>
                      <a:pPr>
                        <a:defRPr sz="850">
                          <a:solidFill>
                            <a:srgbClr val="1E293B"/>
                          </a:solidFill>
                        </a:defRPr>
                      </a:pPr>
                      <a:r>
                        <a:t>Rp 50.000 / Truk Masuk Gate</a:t>
                      </a:r>
                    </a:p>
                  </a:txBody>
                  <a:tcPr>
                    <a:solidFill>
                      <a:srgbClr val="F8FAFC"/>
                    </a:solidFill>
                  </a:tcPr>
                </a:tc>
                <a:tc>
                  <a:txBody>
                    <a:bodyPr/>
                    <a:lstStyle/>
                    <a:p>
                      <a:pPr>
                        <a:defRPr sz="850">
                          <a:solidFill>
                            <a:srgbClr val="1E293B"/>
                          </a:solidFill>
                        </a:defRPr>
                      </a:pPr>
                      <a:r>
                        <a:t>110.000 Truk Ditimbang</a:t>
                      </a:r>
                    </a:p>
                  </a:txBody>
                  <a:tcPr>
                    <a:solidFill>
                      <a:srgbClr val="F8FAFC"/>
                    </a:solidFill>
                  </a:tcPr>
                </a:tc>
                <a:tc>
                  <a:txBody>
                    <a:bodyPr/>
                    <a:lstStyle/>
                    <a:p>
                      <a:pPr>
                        <a:defRPr sz="850" b="1">
                          <a:solidFill>
                            <a:srgbClr val="10B981"/>
                          </a:solidFill>
                        </a:defRPr>
                      </a:pPr>
                      <a:r>
                        <a:t>Rp 5.500.000.000 (7.2%)</a:t>
                      </a:r>
                    </a:p>
                  </a:txBody>
                  <a:tcPr>
                    <a:solidFill>
                      <a:srgbClr val="F8FAFC"/>
                    </a:solidFill>
                  </a:tcPr>
                </a:tc>
              </a:tr>
              <a:tr h="468636">
                <a:tc>
                  <a:txBody>
                    <a:bodyPr/>
                    <a:lstStyle/>
                    <a:p>
                      <a:pPr>
                        <a:defRPr sz="850">
                          <a:solidFill>
                            <a:srgbClr val="1E293B"/>
                          </a:solidFill>
                        </a:defRPr>
                      </a:pPr>
                      <a:r>
                        <a:t>Jasa Behandle Karantina Pabean</a:t>
                      </a:r>
                    </a:p>
                  </a:txBody>
                  <a:tcPr>
                    <a:solidFill>
                      <a:srgbClr val="FFFFFF"/>
                    </a:solidFill>
                  </a:tcPr>
                </a:tc>
                <a:tc>
                  <a:txBody>
                    <a:bodyPr/>
                    <a:lstStyle/>
                    <a:p>
                      <a:pPr>
                        <a:defRPr sz="850">
                          <a:solidFill>
                            <a:srgbClr val="1E293B"/>
                          </a:solidFill>
                        </a:defRPr>
                      </a:pPr>
                      <a:r>
                        <a:t>Rp 350.000 / Box Jalur Merah</a:t>
                      </a:r>
                    </a:p>
                  </a:txBody>
                  <a:tcPr>
                    <a:solidFill>
                      <a:srgbClr val="FFFFFF"/>
                    </a:solidFill>
                  </a:tcPr>
                </a:tc>
                <a:tc>
                  <a:txBody>
                    <a:bodyPr/>
                    <a:lstStyle/>
                    <a:p>
                      <a:pPr>
                        <a:defRPr sz="850">
                          <a:solidFill>
                            <a:srgbClr val="1E293B"/>
                          </a:solidFill>
                        </a:defRPr>
                      </a:pPr>
                      <a:r>
                        <a:t>7.500 Box Behandle</a:t>
                      </a:r>
                    </a:p>
                  </a:txBody>
                  <a:tcPr>
                    <a:solidFill>
                      <a:srgbClr val="FFFFFF"/>
                    </a:solidFill>
                  </a:tcPr>
                </a:tc>
                <a:tc>
                  <a:txBody>
                    <a:bodyPr/>
                    <a:lstStyle/>
                    <a:p>
                      <a:pPr>
                        <a:defRPr sz="850" b="1">
                          <a:solidFill>
                            <a:srgbClr val="10B981"/>
                          </a:solidFill>
                        </a:defRPr>
                      </a:pPr>
                      <a:r>
                        <a:t>Rp 2.625.000.000 (3.5%)</a:t>
                      </a:r>
                    </a:p>
                  </a:txBody>
                  <a:tcPr>
                    <a:solidFill>
                      <a:srgbClr val="FFFFFF"/>
                    </a:solidFill>
                  </a:tcPr>
                </a:tc>
              </a:tr>
            </a:tbl>
          </a:graphicData>
        </a:graphic>
      </p:graphicFrame>
      <p:sp>
        <p:nvSpPr>
          <p:cNvPr id="5" name="Rounded Rectangle 4"/>
          <p:cNvSpPr/>
          <p:nvPr/>
        </p:nvSpPr>
        <p:spPr>
          <a:xfrm>
            <a:off x="731520" y="5394960"/>
            <a:ext cx="10698480" cy="438912"/>
          </a:xfrm>
          <a:prstGeom prst="roundRect">
            <a:avLst/>
          </a:prstGeom>
          <a:solidFill>
            <a:srgbClr val="FEF3C7"/>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950" b="1">
                <a:solidFill>
                  <a:srgbClr val="B45309"/>
                </a:solidFill>
              </a:defRPr>
            </a:pPr>
            <a:r>
              <a:t>👉  TOTAL GROSS REVENUE: Rp 76.025.000.000 / Thn  |  [LIVE DEMO 2]: Buka Menu 'Billing &amp; Faktur ERP' (pages/billing.php) ➔ Simulasi Auto-Invoice Odoo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20040"/>
            <a:ext cx="10698480" cy="1005840"/>
          </a:xfrm>
          <a:prstGeom prst="rect">
            <a:avLst/>
          </a:prstGeom>
          <a:noFill/>
        </p:spPr>
        <p:txBody>
          <a:bodyPr wrap="square" lIns="0" tIns="0" rIns="0" bIns="0">
            <a:spAutoFit/>
          </a:bodyPr>
          <a:lstStyle/>
          <a:p>
            <a:pPr>
              <a:defRPr sz="950" b="1">
                <a:solidFill>
                  <a:srgbClr val="0170B9"/>
                </a:solidFill>
              </a:defRPr>
            </a:pPr>
            <a:r>
              <a:t>CONCLUSION SUPPLY CHAIN CONSULTANT — STRATEGIC BUSINESS BLUEPRINT</a:t>
            </a:r>
          </a:p>
          <a:p>
            <a:pPr>
              <a:spcBef>
                <a:spcPts val="200"/>
              </a:spcBef>
              <a:defRPr sz="1900" b="1">
                <a:solidFill>
                  <a:srgbClr val="002F5E"/>
                </a:solidFill>
              </a:defRPr>
            </a:pPr>
            <a:r>
              <a:t>Evaluasi Kelayakan Investasi Finansial: PBP, NPV, IRR &amp; ROI</a:t>
            </a:r>
          </a:p>
        </p:txBody>
      </p:sp>
      <p:sp>
        <p:nvSpPr>
          <p:cNvPr id="3" name="TextBox 2"/>
          <p:cNvSpPr txBox="1"/>
          <p:nvPr/>
        </p:nvSpPr>
        <p:spPr>
          <a:xfrm>
            <a:off x="731520" y="6446520"/>
            <a:ext cx="10698480" cy="320040"/>
          </a:xfrm>
          <a:prstGeom prst="rect">
            <a:avLst/>
          </a:prstGeom>
          <a:noFill/>
        </p:spPr>
        <p:txBody>
          <a:bodyPr wrap="square" lIns="0" tIns="0" rIns="0" bIns="0">
            <a:spAutoFit/>
          </a:bodyPr>
          <a:lstStyle/>
          <a:p>
            <a:pPr>
              <a:defRPr sz="850">
                <a:solidFill>
                  <a:srgbClr val="64748B"/>
                </a:solidFill>
              </a:defRPr>
            </a:pPr>
            <a:r>
              <a:t>Conclusion Supply Chain Consultant  •  Naufal Andika Heditya &amp; Zulfikar J. Fatah  •  Topik 7: CIDP 35 Ha                    Slide 7 of 12</a:t>
            </a:r>
          </a:p>
        </p:txBody>
      </p:sp>
      <p:sp>
        <p:nvSpPr>
          <p:cNvPr id="4" name="Rounded Rectangle 3"/>
          <p:cNvSpPr/>
          <p:nvPr/>
        </p:nvSpPr>
        <p:spPr>
          <a:xfrm>
            <a:off x="731520" y="1508760"/>
            <a:ext cx="2514600" cy="4114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691640"/>
            <a:ext cx="2240280" cy="3749040"/>
          </a:xfrm>
          <a:prstGeom prst="rect">
            <a:avLst/>
          </a:prstGeom>
          <a:noFill/>
        </p:spPr>
        <p:txBody>
          <a:bodyPr wrap="square">
            <a:spAutoFit/>
          </a:bodyPr>
          <a:lstStyle/>
          <a:p>
            <a:pPr>
              <a:defRPr sz="950" b="1">
                <a:solidFill>
                  <a:srgbClr val="0170B9"/>
                </a:solidFill>
              </a:defRPr>
            </a:pPr>
            <a:r>
              <a:t>ARUS KAS OPERASIONAL</a:t>
            </a:r>
          </a:p>
          <a:p>
            <a:pPr>
              <a:spcBef>
                <a:spcPts val="200"/>
              </a:spcBef>
              <a:defRPr sz="1200" b="1">
                <a:solidFill>
                  <a:srgbClr val="002F5E"/>
                </a:solidFill>
              </a:defRPr>
            </a:pPr>
            <a:r>
              <a:t>Laba Bersih &amp; EBITDA</a:t>
            </a:r>
          </a:p>
          <a:p>
            <a:pPr>
              <a:spcBef>
                <a:spcPts val="600"/>
              </a:spcBef>
              <a:defRPr sz="850">
                <a:solidFill>
                  <a:srgbClr val="1E293B"/>
                </a:solidFill>
              </a:defRPr>
            </a:pPr>
            <a:r>
              <a:t>• Pendapatan Kotor: Rp 76,02 M</a:t>
            </a:r>
            <a:br/>
            <a:r>
              <a:t>• Beban OPEX: Rp 24,79 M</a:t>
            </a:r>
            <a:br/>
            <a:r>
              <a:t>• EBITDA: Rp 51,23 Miliar</a:t>
            </a:r>
            <a:br/>
            <a:r>
              <a:t>  (Margin EBITDA: 67,4%)</a:t>
            </a:r>
            <a:br/>
            <a:br/>
            <a:r>
              <a:t>• Depresiasi (20 Thn): Rp 12,50 M</a:t>
            </a:r>
            <a:br/>
            <a:r>
              <a:t>• Pajak PPh 22%: Rp 8,52 M</a:t>
            </a:r>
            <a:br/>
            <a:r>
              <a:t>• Laba Bersih (EAT): Rp 30,21 M/thn</a:t>
            </a:r>
            <a:br/>
            <a:r>
              <a:t>• Arus Kas Bersih (Net Cash Flow):</a:t>
            </a:r>
            <a:br/>
            <a:r>
              <a:t>  Rp 42,71 Miliar / Tahun</a:t>
            </a:r>
          </a:p>
        </p:txBody>
      </p:sp>
      <p:sp>
        <p:nvSpPr>
          <p:cNvPr id="6" name="Rounded Rectangle 5"/>
          <p:cNvSpPr/>
          <p:nvPr/>
        </p:nvSpPr>
        <p:spPr>
          <a:xfrm>
            <a:off x="3456432" y="1508760"/>
            <a:ext cx="2514600" cy="4114800"/>
          </a:xfrm>
          <a:prstGeom prst="roundRect">
            <a:avLst/>
          </a:prstGeom>
          <a:solidFill>
            <a:srgbClr val="ECFDF5"/>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93592" y="1691640"/>
            <a:ext cx="2240280" cy="3749040"/>
          </a:xfrm>
          <a:prstGeom prst="rect">
            <a:avLst/>
          </a:prstGeom>
          <a:noFill/>
        </p:spPr>
        <p:txBody>
          <a:bodyPr wrap="square">
            <a:spAutoFit/>
          </a:bodyPr>
          <a:lstStyle/>
          <a:p>
            <a:pPr>
              <a:defRPr sz="950" b="1">
                <a:solidFill>
                  <a:srgbClr val="10B981"/>
                </a:solidFill>
              </a:defRPr>
            </a:pPr>
            <a:r>
              <a:t>PAYBACK PERIOD (PBP)</a:t>
            </a:r>
          </a:p>
          <a:p>
            <a:pPr>
              <a:spcBef>
                <a:spcPts val="200"/>
              </a:spcBef>
              <a:defRPr sz="1200" b="1">
                <a:solidFill>
                  <a:srgbClr val="002F5E"/>
                </a:solidFill>
              </a:defRPr>
            </a:pPr>
            <a:r>
              <a:t>5.84 Tahun (~5 Thn 10 Bln)</a:t>
            </a:r>
          </a:p>
          <a:p>
            <a:pPr>
              <a:spcBef>
                <a:spcPts val="600"/>
              </a:spcBef>
              <a:defRPr sz="850">
                <a:solidFill>
                  <a:srgbClr val="1E293B"/>
                </a:solidFill>
              </a:defRPr>
            </a:pPr>
            <a:r>
              <a:t>Formula:</a:t>
            </a:r>
            <a:br/>
            <a:r>
              <a:t>PBP = CAPEX / Net Cash Flow</a:t>
            </a:r>
            <a:br/>
            <a:r>
              <a:t>PBP = Rp 249,5 M / Rp 42,71 M</a:t>
            </a:r>
            <a:br/>
            <a:r>
              <a:t>    = 5,84 Tahun</a:t>
            </a:r>
            <a:br/>
            <a:br/>
            <a:r>
              <a:t>Interpretasi Bisnis:</a:t>
            </a:r>
            <a:br/>
            <a:r>
              <a:t>Modal Rp 250 Miliar kembali lunas dalam waktu kurang dari 6 tahun.</a:t>
            </a:r>
            <a:br/>
            <a:br/>
            <a:r>
              <a:t>Batas Aman Pelabuhan:</a:t>
            </a:r>
            <a:br/>
            <a:r>
              <a:t>Standar kelayakan pelabuhan umumnya 8 - 10 tahun. CIDP 2 tahun lebih cepat!</a:t>
            </a:r>
          </a:p>
        </p:txBody>
      </p:sp>
      <p:sp>
        <p:nvSpPr>
          <p:cNvPr id="8" name="Rounded Rectangle 7"/>
          <p:cNvSpPr/>
          <p:nvPr/>
        </p:nvSpPr>
        <p:spPr>
          <a:xfrm>
            <a:off x="6181344" y="1508760"/>
            <a:ext cx="2514600" cy="4114800"/>
          </a:xfrm>
          <a:prstGeom prst="roundRect">
            <a:avLst/>
          </a:prstGeom>
          <a:solidFill>
            <a:srgbClr val="EFF6FF"/>
          </a:solidFill>
          <a:ln w="12700">
            <a:solidFill>
              <a:srgbClr val="0170B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8504" y="1691640"/>
            <a:ext cx="2240280" cy="3749040"/>
          </a:xfrm>
          <a:prstGeom prst="rect">
            <a:avLst/>
          </a:prstGeom>
          <a:noFill/>
        </p:spPr>
        <p:txBody>
          <a:bodyPr wrap="square">
            <a:spAutoFit/>
          </a:bodyPr>
          <a:lstStyle/>
          <a:p>
            <a:pPr>
              <a:defRPr sz="950" b="1">
                <a:solidFill>
                  <a:srgbClr val="0170B9"/>
                </a:solidFill>
              </a:defRPr>
            </a:pPr>
            <a:r>
              <a:t>NET PRESENT VALUE (NPV)</a:t>
            </a:r>
          </a:p>
          <a:p>
            <a:pPr>
              <a:spcBef>
                <a:spcPts val="200"/>
              </a:spcBef>
              <a:defRPr sz="1200" b="1">
                <a:solidFill>
                  <a:srgbClr val="002F5E"/>
                </a:solidFill>
              </a:defRPr>
            </a:pPr>
            <a:r>
              <a:t>+Rp 12.955.000.000</a:t>
            </a:r>
          </a:p>
          <a:p>
            <a:pPr>
              <a:spcBef>
                <a:spcPts val="600"/>
              </a:spcBef>
              <a:defRPr sz="850">
                <a:solidFill>
                  <a:srgbClr val="1E293B"/>
                </a:solidFill>
              </a:defRPr>
            </a:pPr>
            <a:r>
              <a:t>Parameter Analisis:</a:t>
            </a:r>
            <a:br/>
            <a:r>
              <a:t>• Horizon: 10 Tahun | WACC: 10%</a:t>
            </a:r>
            <a:br/>
            <a:r>
              <a:t>• Cumulative PV CF: Rp 262,45 M</a:t>
            </a:r>
            <a:br/>
            <a:r>
              <a:t>• Nilai Investasi: Rp 249,50 M</a:t>
            </a:r>
            <a:br/>
            <a:br/>
            <a:r>
              <a:t>NPV = +Rp 12,95 Miliar (&gt; 0)</a:t>
            </a:r>
            <a:br/>
            <a:br/>
            <a:r>
              <a:t>Interpretasi Bisnis:</a:t>
            </a:r>
            <a:br/>
            <a:r>
              <a:t>Nilai NPV Positif membuktikan secara absolut bahwa proyek dry port FEASIBLE (Sangat Layak) dan memberi nilai tambah bersih.</a:t>
            </a:r>
          </a:p>
        </p:txBody>
      </p:sp>
      <p:sp>
        <p:nvSpPr>
          <p:cNvPr id="10" name="Rounded Rectangle 9"/>
          <p:cNvSpPr/>
          <p:nvPr/>
        </p:nvSpPr>
        <p:spPr>
          <a:xfrm>
            <a:off x="8906256" y="1508760"/>
            <a:ext cx="2514600" cy="4114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043416" y="1691640"/>
            <a:ext cx="2240280" cy="3749040"/>
          </a:xfrm>
          <a:prstGeom prst="rect">
            <a:avLst/>
          </a:prstGeom>
          <a:noFill/>
        </p:spPr>
        <p:txBody>
          <a:bodyPr wrap="square">
            <a:spAutoFit/>
          </a:bodyPr>
          <a:lstStyle/>
          <a:p>
            <a:pPr>
              <a:defRPr sz="950" b="1">
                <a:solidFill>
                  <a:srgbClr val="6366F1"/>
                </a:solidFill>
              </a:defRPr>
            </a:pPr>
            <a:r>
              <a:t>IRR &amp; RETURN ON INVESTMENT</a:t>
            </a:r>
          </a:p>
          <a:p>
            <a:pPr>
              <a:spcBef>
                <a:spcPts val="200"/>
              </a:spcBef>
              <a:defRPr sz="1200" b="1">
                <a:solidFill>
                  <a:srgbClr val="002F5E"/>
                </a:solidFill>
              </a:defRPr>
            </a:pPr>
            <a:r>
              <a:t>IRR: 11.42% | ROI: 121.1%</a:t>
            </a:r>
          </a:p>
          <a:p>
            <a:pPr>
              <a:spcBef>
                <a:spcPts val="600"/>
              </a:spcBef>
              <a:defRPr sz="850">
                <a:solidFill>
                  <a:srgbClr val="1E293B"/>
                </a:solidFill>
              </a:defRPr>
            </a:pPr>
            <a:r>
              <a:t>• Internal Rate of Return (IRR):</a:t>
            </a:r>
            <a:br/>
            <a:r>
              <a:t>  IRR 11,42% melampaui Hurdle Rate suku bunga kredit komersial bank (8,50%). Sangat bankable!</a:t>
            </a:r>
            <a:br/>
            <a:br/>
            <a:r>
              <a:t>• Return on Investment (10 Thn):</a:t>
            </a:r>
            <a:br/>
            <a:r>
              <a:t>  Total laba bersih 10 tahun (Rp 302,1 M) / CAPEX (Rp 249,5 M) = 121,1%.</a:t>
            </a:r>
            <a:br/>
            <a:br/>
            <a:r>
              <a:t>• Kesimpulan Investor:</a:t>
            </a:r>
            <a:br/>
            <a:r>
              <a:t>  Kombinasi PBP &lt;6 tahun dan IRR &gt;11% menjadikan proyek sangat aman bagi perbankan.</a:t>
            </a:r>
          </a:p>
        </p:txBody>
      </p:sp>
      <p:sp>
        <p:nvSpPr>
          <p:cNvPr id="12" name="Rounded Rectangle 11"/>
          <p:cNvSpPr/>
          <p:nvPr/>
        </p:nvSpPr>
        <p:spPr>
          <a:xfrm>
            <a:off x="731520" y="5760720"/>
            <a:ext cx="10698480" cy="502920"/>
          </a:xfrm>
          <a:prstGeom prst="roundRect">
            <a:avLst/>
          </a:prstGeom>
          <a:solidFill>
            <a:srgbClr val="FEF3C7"/>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B45309"/>
                </a:solidFill>
              </a:defRPr>
            </a:pPr>
            <a:r>
              <a:t>KESIMPULAN STUDI FINANSIAL:  Payback Period 5.84 Tahun  •  NPV Positif +Rp 13 Miliar  •  IRR 11.42%  •  Margin EBITDA 67.4%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20040"/>
            <a:ext cx="10698480" cy="1005840"/>
          </a:xfrm>
          <a:prstGeom prst="rect">
            <a:avLst/>
          </a:prstGeom>
          <a:noFill/>
        </p:spPr>
        <p:txBody>
          <a:bodyPr wrap="square" lIns="0" tIns="0" rIns="0" bIns="0">
            <a:spAutoFit/>
          </a:bodyPr>
          <a:lstStyle/>
          <a:p>
            <a:pPr>
              <a:defRPr sz="950" b="1">
                <a:solidFill>
                  <a:srgbClr val="0170B9"/>
                </a:solidFill>
              </a:defRPr>
            </a:pPr>
            <a:r>
              <a:t>CONCLUSION SUPPLY CHAIN CONSULTANT — STRATEGIC BUSINESS BLUEPRINT</a:t>
            </a:r>
          </a:p>
          <a:p>
            <a:pPr>
              <a:spcBef>
                <a:spcPts val="200"/>
              </a:spcBef>
              <a:defRPr sz="1900" b="1">
                <a:solidFill>
                  <a:srgbClr val="002F5E"/>
                </a:solidFill>
              </a:defRPr>
            </a:pPr>
            <a:r>
              <a:t>Dashboard Intelligence 1: Executive Command Center (dashboard.php)</a:t>
            </a:r>
          </a:p>
        </p:txBody>
      </p:sp>
      <p:sp>
        <p:nvSpPr>
          <p:cNvPr id="3" name="TextBox 2"/>
          <p:cNvSpPr txBox="1"/>
          <p:nvPr/>
        </p:nvSpPr>
        <p:spPr>
          <a:xfrm>
            <a:off x="731520" y="6446520"/>
            <a:ext cx="10698480" cy="320040"/>
          </a:xfrm>
          <a:prstGeom prst="rect">
            <a:avLst/>
          </a:prstGeom>
          <a:noFill/>
        </p:spPr>
        <p:txBody>
          <a:bodyPr wrap="square" lIns="0" tIns="0" rIns="0" bIns="0">
            <a:spAutoFit/>
          </a:bodyPr>
          <a:lstStyle/>
          <a:p>
            <a:pPr>
              <a:defRPr sz="850">
                <a:solidFill>
                  <a:srgbClr val="64748B"/>
                </a:solidFill>
              </a:defRPr>
            </a:pPr>
            <a:r>
              <a:t>Conclusion Supply Chain Consultant  •  Naufal Andika Heditya &amp; Zulfikar J. Fatah  •  Topik 7: CIDP 35 Ha                    Slide 8 of 12</a:t>
            </a:r>
          </a:p>
        </p:txBody>
      </p:sp>
      <p:sp>
        <p:nvSpPr>
          <p:cNvPr id="4" name="Rounded Rectangle 3"/>
          <p:cNvSpPr/>
          <p:nvPr/>
        </p:nvSpPr>
        <p:spPr>
          <a:xfrm>
            <a:off x="731520" y="1508760"/>
            <a:ext cx="5212080" cy="4114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4846320" cy="3749040"/>
          </a:xfrm>
          <a:prstGeom prst="rect">
            <a:avLst/>
          </a:prstGeom>
          <a:noFill/>
        </p:spPr>
        <p:txBody>
          <a:bodyPr wrap="square">
            <a:spAutoFit/>
          </a:bodyPr>
          <a:lstStyle/>
          <a:p>
            <a:pPr>
              <a:defRPr sz="1000" b="1">
                <a:solidFill>
                  <a:srgbClr val="0170B9"/>
                </a:solidFill>
              </a:defRPr>
            </a:pPr>
            <a:r>
              <a:t>4 METRIK KEPUTUSAN DIREKSI (C-LEVEL DSS)</a:t>
            </a:r>
          </a:p>
          <a:p>
            <a:pPr>
              <a:spcBef>
                <a:spcPts val="200"/>
              </a:spcBef>
              <a:defRPr sz="1300" b="1">
                <a:solidFill>
                  <a:srgbClr val="002F5E"/>
                </a:solidFill>
              </a:defRPr>
            </a:pPr>
            <a:r>
              <a:t>Visibilitas Waktu-Nyata Kinerja Terminal</a:t>
            </a:r>
          </a:p>
          <a:p>
            <a:pPr>
              <a:spcBef>
                <a:spcPts val="600"/>
              </a:spcBef>
              <a:defRPr sz="900">
                <a:solidFill>
                  <a:srgbClr val="1E293B"/>
                </a:solidFill>
              </a:defRPr>
            </a:pPr>
            <a:r>
              <a:t>1. Yard Occupancy Rate (YOR) — 68,4%:</a:t>
            </a:r>
            <a:br/>
            <a:r>
              <a:t>   Ambang batas aman (&lt;80%). Mencegah kemacetan penumpukan dan denda port congestion surcharge ($50/TEU).</a:t>
            </a:r>
            <a:br/>
            <a:br/>
            <a:r>
              <a:t>2. Throughput Harian — 482 TEU:</a:t>
            </a:r>
            <a:br/>
            <a:r>
              <a:t>   Mencapai 96,4% dari target harian (500 TEU). Mengukur kecepatan intermodal gate truk dan rail siding KA.</a:t>
            </a:r>
            <a:br/>
            <a:br/>
            <a:r>
              <a:t>3. Average Dwell Time — 2,3 Hari:</a:t>
            </a:r>
            <a:br/>
            <a:r>
              <a:t>   Sangat produktif dibanding rata-rata nasional pelabuhan laut (4 - 5 hari), mempercepat perputaran kargo.</a:t>
            </a:r>
            <a:br/>
            <a:br/>
            <a:r>
              <a:t>4. Gross Daily Revenue — Rp 184,5 Juta:</a:t>
            </a:r>
            <a:br/>
            <a:r>
              <a:t>   Arus kas harian tertagih real-time dengan rasio penagihan piutang (Collection Rate) mencapai 98,2%.</a:t>
            </a:r>
          </a:p>
        </p:txBody>
      </p:sp>
      <p:sp>
        <p:nvSpPr>
          <p:cNvPr id="6" name="Rounded Rectangle 5"/>
          <p:cNvSpPr/>
          <p:nvPr/>
        </p:nvSpPr>
        <p:spPr>
          <a:xfrm>
            <a:off x="6217920" y="1508760"/>
            <a:ext cx="5212080" cy="4114800"/>
          </a:xfrm>
          <a:prstGeom prst="roundRect">
            <a:avLst/>
          </a:prstGeom>
          <a:solidFill>
            <a:srgbClr val="ECFDF5"/>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0" y="1691640"/>
            <a:ext cx="4846320" cy="3749040"/>
          </a:xfrm>
          <a:prstGeom prst="rect">
            <a:avLst/>
          </a:prstGeom>
          <a:noFill/>
        </p:spPr>
        <p:txBody>
          <a:bodyPr wrap="square">
            <a:spAutoFit/>
          </a:bodyPr>
          <a:lstStyle/>
          <a:p>
            <a:pPr>
              <a:defRPr sz="1000" b="1">
                <a:solidFill>
                  <a:srgbClr val="10B981"/>
                </a:solidFill>
              </a:defRPr>
            </a:pPr>
            <a:r>
              <a:t>BUSINESS INTELLIGENCE &amp; ANALITIK DATA</a:t>
            </a:r>
          </a:p>
          <a:p>
            <a:pPr>
              <a:spcBef>
                <a:spcPts val="200"/>
              </a:spcBef>
              <a:defRPr sz="1300" b="1">
                <a:solidFill>
                  <a:srgbClr val="002F5E"/>
                </a:solidFill>
              </a:defRPr>
            </a:pPr>
            <a:r>
              <a:t>Visualisasi Chart.js &amp; Heatmap Dwell Time</a:t>
            </a:r>
          </a:p>
          <a:p>
            <a:pPr>
              <a:spcBef>
                <a:spcPts val="600"/>
              </a:spcBef>
              <a:defRPr sz="900">
                <a:solidFill>
                  <a:srgbClr val="1E293B"/>
                </a:solidFill>
              </a:defRPr>
            </a:pPr>
            <a:r>
              <a:t>• Hourly Traffic Flow Chart:</a:t>
            </a:r>
            <a:br/>
            <a:r>
              <a:t>  Grafik fluktuasi arus truk per jam untuk perencanaan penugasan operator gate &amp; Reach Stacker (peak hour 10:00 - 15:00).</a:t>
            </a:r>
            <a:br/>
            <a:br/>
            <a:r>
              <a:t>• Dwell Time Heatmap Blok Yard:</a:t>
            </a:r>
            <a:br/>
            <a:r>
              <a:t>  Peta warna mendeteksi kontainer yang menginap kritis (&gt;7 hari) di Blok A-E untuk pemicu denda Masa III otomatis.</a:t>
            </a:r>
            <a:br/>
            <a:br/>
            <a:r>
              <a:t>• Live Event Stream &amp; Consignment Tracking:</a:t>
            </a:r>
            <a:br/>
            <a:r>
              <a:t>  Memonitor 5 event operasional terakhir (gate-in, timbang, lift-off, rilis SPPB) secara detik-per-detik untuk transparansi audit.</a:t>
            </a:r>
          </a:p>
        </p:txBody>
      </p:sp>
      <p:sp>
        <p:nvSpPr>
          <p:cNvPr id="8" name="Rounded Rectangle 7"/>
          <p:cNvSpPr/>
          <p:nvPr/>
        </p:nvSpPr>
        <p:spPr>
          <a:xfrm>
            <a:off x="731520" y="5870448"/>
            <a:ext cx="10698480" cy="438912"/>
          </a:xfrm>
          <a:prstGeom prst="roundRect">
            <a:avLst/>
          </a:prstGeom>
          <a:solidFill>
            <a:srgbClr val="FEF3C7"/>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950" b="1">
                <a:solidFill>
                  <a:srgbClr val="B45309"/>
                </a:solidFill>
              </a:defRPr>
            </a:pPr>
            <a:r>
              <a:t>👉  [LIVE DEMO 3]: Buka Halaman 'Dashboard' (dashboard.php) ➔ Demonstrasikan Gauge YOR 68.4%, Chart.js, &amp; Heatmap Dwell Time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20040"/>
            <a:ext cx="10698480" cy="1005840"/>
          </a:xfrm>
          <a:prstGeom prst="rect">
            <a:avLst/>
          </a:prstGeom>
          <a:noFill/>
        </p:spPr>
        <p:txBody>
          <a:bodyPr wrap="square" lIns="0" tIns="0" rIns="0" bIns="0">
            <a:spAutoFit/>
          </a:bodyPr>
          <a:lstStyle/>
          <a:p>
            <a:pPr>
              <a:defRPr sz="950" b="1">
                <a:solidFill>
                  <a:srgbClr val="0170B9"/>
                </a:solidFill>
              </a:defRPr>
            </a:pPr>
            <a:r>
              <a:t>CONCLUSION SUPPLY CHAIN CONSULTANT — STRATEGIC BUSINESS BLUEPRINT</a:t>
            </a:r>
          </a:p>
          <a:p>
            <a:pPr>
              <a:spcBef>
                <a:spcPts val="200"/>
              </a:spcBef>
              <a:defRPr sz="1900" b="1">
                <a:solidFill>
                  <a:srgbClr val="002F5E"/>
                </a:solidFill>
              </a:defRPr>
            </a:pPr>
            <a:r>
              <a:t>Dashboard Intelligence 2: Efisiensi Lapangan &amp; Mitigasi Biaya Operasional</a:t>
            </a:r>
          </a:p>
        </p:txBody>
      </p:sp>
      <p:sp>
        <p:nvSpPr>
          <p:cNvPr id="3" name="TextBox 2"/>
          <p:cNvSpPr txBox="1"/>
          <p:nvPr/>
        </p:nvSpPr>
        <p:spPr>
          <a:xfrm>
            <a:off x="731520" y="6446520"/>
            <a:ext cx="10698480" cy="320040"/>
          </a:xfrm>
          <a:prstGeom prst="rect">
            <a:avLst/>
          </a:prstGeom>
          <a:noFill/>
        </p:spPr>
        <p:txBody>
          <a:bodyPr wrap="square" lIns="0" tIns="0" rIns="0" bIns="0">
            <a:spAutoFit/>
          </a:bodyPr>
          <a:lstStyle/>
          <a:p>
            <a:pPr>
              <a:defRPr sz="850">
                <a:solidFill>
                  <a:srgbClr val="64748B"/>
                </a:solidFill>
              </a:defRPr>
            </a:pPr>
            <a:r>
              <a:t>Conclusion Supply Chain Consultant  •  Naufal Andika Heditya &amp; Zulfikar J. Fatah  •  Topik 7: CIDP 35 Ha                    Slide 9 of 12</a:t>
            </a:r>
          </a:p>
        </p:txBody>
      </p:sp>
      <p:sp>
        <p:nvSpPr>
          <p:cNvPr id="4" name="Rounded Rectangle 3"/>
          <p:cNvSpPr/>
          <p:nvPr/>
        </p:nvSpPr>
        <p:spPr>
          <a:xfrm>
            <a:off x="731520" y="1508760"/>
            <a:ext cx="5212080" cy="4114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4846320" cy="3749040"/>
          </a:xfrm>
          <a:prstGeom prst="rect">
            <a:avLst/>
          </a:prstGeom>
          <a:noFill/>
        </p:spPr>
        <p:txBody>
          <a:bodyPr wrap="square">
            <a:spAutoFit/>
          </a:bodyPr>
          <a:lstStyle/>
          <a:p>
            <a:pPr>
              <a:defRPr sz="1000" b="1">
                <a:solidFill>
                  <a:srgbClr val="0170B9"/>
                </a:solidFill>
              </a:defRPr>
            </a:pPr>
            <a:r>
              <a:t>ANALISIS GERBANG &amp; TRUCKING (page=gate &amp; page=trucking)</a:t>
            </a:r>
          </a:p>
          <a:p>
            <a:pPr>
              <a:spcBef>
                <a:spcPts val="200"/>
              </a:spcBef>
              <a:defRPr sz="1300" b="1">
                <a:solidFill>
                  <a:srgbClr val="002F5E"/>
                </a:solidFill>
              </a:defRPr>
            </a:pPr>
            <a:r>
              <a:t>Pemangkasan Waktu Antrean &amp; Kepatuhan SOLAS</a:t>
            </a:r>
          </a:p>
          <a:p>
            <a:pPr>
              <a:spcBef>
                <a:spcPts val="600"/>
              </a:spcBef>
              <a:defRPr sz="900">
                <a:solidFill>
                  <a:srgbClr val="1E293B"/>
                </a:solidFill>
              </a:defRPr>
            </a:pPr>
            <a:r>
              <a:t>• Gate Turnaround Time (TAT) Analisis:</a:t>
            </a:r>
            <a:br/>
            <a:r>
              <a:t>  - Depo Konvensional: 15 menit/truk (kemacetan parah di jalan arteri).</a:t>
            </a:r>
            <a:br/>
            <a:r>
              <a:t>  - CIDP YMS: 90 detik/truk (ANPR + OCR + timbang dinamis).</a:t>
            </a:r>
            <a:br/>
            <a:r>
              <a:t>  - Nilai Bisnis: Menghemat biaya tunggu armada truk Rp 250.000/jam.</a:t>
            </a:r>
            <a:br/>
            <a:br/>
            <a:r>
              <a:t>• Validasi Otomatis SOLAS VGM (&lt;34.000 kg):</a:t>
            </a:r>
            <a:br/>
            <a:r>
              <a:t>  - Sistem menolak otomatis truk overload &gt;34t di gerbang.</a:t>
            </a:r>
            <a:br/>
            <a:r>
              <a:t>  - Menghilangkan risiko tuntutan hukum maritim internasional dan denda kelebihan muatan jalan raya dari Kemenhub.</a:t>
            </a:r>
          </a:p>
        </p:txBody>
      </p:sp>
      <p:sp>
        <p:nvSpPr>
          <p:cNvPr id="6" name="Rounded Rectangle 5"/>
          <p:cNvSpPr/>
          <p:nvPr/>
        </p:nvSpPr>
        <p:spPr>
          <a:xfrm>
            <a:off x="6217920" y="1508760"/>
            <a:ext cx="5212080" cy="4114800"/>
          </a:xfrm>
          <a:prstGeom prst="roundRect">
            <a:avLst/>
          </a:prstGeom>
          <a:solidFill>
            <a:srgbClr val="EFF6FF"/>
          </a:solidFill>
          <a:ln w="12700">
            <a:solidFill>
              <a:srgbClr val="0170B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0" y="1691640"/>
            <a:ext cx="4846320" cy="3749040"/>
          </a:xfrm>
          <a:prstGeom prst="rect">
            <a:avLst/>
          </a:prstGeom>
          <a:noFill/>
        </p:spPr>
        <p:txBody>
          <a:bodyPr wrap="square">
            <a:spAutoFit/>
          </a:bodyPr>
          <a:lstStyle/>
          <a:p>
            <a:pPr>
              <a:defRPr sz="1000" b="1">
                <a:solidFill>
                  <a:srgbClr val="0170B9"/>
                </a:solidFill>
              </a:defRPr>
            </a:pPr>
            <a:r>
              <a:t>ANALISIS YARD &amp; ALAT BERAT (page=yard &amp; page=alat)</a:t>
            </a:r>
          </a:p>
          <a:p>
            <a:pPr>
              <a:spcBef>
                <a:spcPts val="200"/>
              </a:spcBef>
              <a:defRPr sz="1300" b="1">
                <a:solidFill>
                  <a:srgbClr val="002F5E"/>
                </a:solidFill>
              </a:defRPr>
            </a:pPr>
            <a:r>
              <a:t>Optimasi Rasio Gerak Derek &amp; Efisiensi Solar</a:t>
            </a:r>
          </a:p>
          <a:p>
            <a:pPr>
              <a:spcBef>
                <a:spcPts val="600"/>
              </a:spcBef>
              <a:defRPr sz="900">
                <a:solidFill>
                  <a:srgbClr val="1E293B"/>
                </a:solidFill>
              </a:defRPr>
            </a:pPr>
            <a:r>
              <a:t>• Optimasi Rasio Shifting Derek (Moves per Box):</a:t>
            </a:r>
            <a:br/>
            <a:r>
              <a:t>  - Algoritma 3D Bay-Row-Tier menata penumpukan berdasarkan pelabuhan tujuan dan jadwal keberangkatan kereta api.</a:t>
            </a:r>
            <a:br/>
            <a:r>
              <a:t>  - Rasio shifting turun dari 1.8 moves/box ➔ 1.1 moves/box.</a:t>
            </a:r>
            <a:br/>
            <a:r>
              <a:t>  - Nilai Bisnis: Menghemat konsumsi Solar HSD Reach Stacker sebesar 22% (efisiensi OPEX Rp 1,06 Miliar per tahun).</a:t>
            </a:r>
            <a:br/>
            <a:br/>
            <a:r>
              <a:t>• Telemetri GPS Alat Berat (RS-01/02/03 &amp; RTG):</a:t>
            </a:r>
            <a:br/>
            <a:r>
              <a:t>  - Mencegah idling time operator dan mengukur utilisasi jam kerja riil.</a:t>
            </a:r>
          </a:p>
        </p:txBody>
      </p:sp>
      <p:sp>
        <p:nvSpPr>
          <p:cNvPr id="8" name="Rounded Rectangle 7"/>
          <p:cNvSpPr/>
          <p:nvPr/>
        </p:nvSpPr>
        <p:spPr>
          <a:xfrm>
            <a:off x="731520" y="5870448"/>
            <a:ext cx="10698480" cy="438912"/>
          </a:xfrm>
          <a:prstGeom prst="roundRect">
            <a:avLst/>
          </a:prstGeom>
          <a:solidFill>
            <a:srgbClr val="FEF3C7"/>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950" b="1">
                <a:solidFill>
                  <a:srgbClr val="B45309"/>
                </a:solidFill>
              </a:defRPr>
            </a:pPr>
            <a:r>
              <a:t>👉  [LIVE DEMO 4]: Buka Menu 'Gate' (pages/gate.php) ➔ Jalankan Simulasi Truk Lolos vs Truk Overload Ditolak SOLAS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20040"/>
            <a:ext cx="10698480" cy="1005840"/>
          </a:xfrm>
          <a:prstGeom prst="rect">
            <a:avLst/>
          </a:prstGeom>
          <a:noFill/>
        </p:spPr>
        <p:txBody>
          <a:bodyPr wrap="square" lIns="0" tIns="0" rIns="0" bIns="0">
            <a:spAutoFit/>
          </a:bodyPr>
          <a:lstStyle/>
          <a:p>
            <a:pPr>
              <a:defRPr sz="950" b="1">
                <a:solidFill>
                  <a:srgbClr val="0170B9"/>
                </a:solidFill>
              </a:defRPr>
            </a:pPr>
            <a:r>
              <a:t>CONCLUSION SUPPLY CHAIN CONSULTANT — STRATEGIC BUSINESS BLUEPRINT</a:t>
            </a:r>
          </a:p>
          <a:p>
            <a:pPr>
              <a:spcBef>
                <a:spcPts val="200"/>
              </a:spcBef>
              <a:defRPr sz="1900" b="1">
                <a:solidFill>
                  <a:srgbClr val="002F5E"/>
                </a:solidFill>
              </a:defRPr>
            </a:pPr>
            <a:r>
              <a:t>Dashboard Intelligence 3: Mitigasi Risiko Cold Chain, Pabean &amp; CFS</a:t>
            </a:r>
          </a:p>
        </p:txBody>
      </p:sp>
      <p:sp>
        <p:nvSpPr>
          <p:cNvPr id="3" name="TextBox 2"/>
          <p:cNvSpPr txBox="1"/>
          <p:nvPr/>
        </p:nvSpPr>
        <p:spPr>
          <a:xfrm>
            <a:off x="731520" y="6446520"/>
            <a:ext cx="10698480" cy="320040"/>
          </a:xfrm>
          <a:prstGeom prst="rect">
            <a:avLst/>
          </a:prstGeom>
          <a:noFill/>
        </p:spPr>
        <p:txBody>
          <a:bodyPr wrap="square" lIns="0" tIns="0" rIns="0" bIns="0">
            <a:spAutoFit/>
          </a:bodyPr>
          <a:lstStyle/>
          <a:p>
            <a:pPr>
              <a:defRPr sz="850">
                <a:solidFill>
                  <a:srgbClr val="64748B"/>
                </a:solidFill>
              </a:defRPr>
            </a:pPr>
            <a:r>
              <a:t>Conclusion Supply Chain Consultant  •  Naufal Andika Heditya &amp; Zulfikar J. Fatah  •  Topik 7: CIDP 35 Ha                    Slide 10 of 12</a:t>
            </a:r>
          </a:p>
        </p:txBody>
      </p:sp>
      <p:sp>
        <p:nvSpPr>
          <p:cNvPr id="4" name="Rounded Rectangle 3"/>
          <p:cNvSpPr/>
          <p:nvPr/>
        </p:nvSpPr>
        <p:spPr>
          <a:xfrm>
            <a:off x="731520" y="1508760"/>
            <a:ext cx="3383280" cy="4114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3017520" cy="3749040"/>
          </a:xfrm>
          <a:prstGeom prst="rect">
            <a:avLst/>
          </a:prstGeom>
          <a:noFill/>
        </p:spPr>
        <p:txBody>
          <a:bodyPr wrap="square">
            <a:spAutoFit/>
          </a:bodyPr>
          <a:lstStyle/>
          <a:p>
            <a:pPr>
              <a:defRPr sz="950" b="1">
                <a:solidFill>
                  <a:srgbClr val="0170B9"/>
                </a:solidFill>
              </a:defRPr>
            </a:pPr>
            <a:r>
              <a:t>COLD CHAIN (page=reefer)</a:t>
            </a:r>
          </a:p>
          <a:p>
            <a:pPr>
              <a:spcBef>
                <a:spcPts val="200"/>
              </a:spcBef>
              <a:defRPr sz="1200" b="1">
                <a:solidFill>
                  <a:srgbClr val="002F5E"/>
                </a:solidFill>
              </a:defRPr>
            </a:pPr>
            <a:r>
              <a:t>Mitigasi Klaim Rusak Kargo</a:t>
            </a:r>
          </a:p>
          <a:p>
            <a:pPr>
              <a:spcBef>
                <a:spcPts val="400"/>
              </a:spcBef>
              <a:defRPr sz="850">
                <a:solidFill>
                  <a:srgbClr val="1E293B"/>
                </a:solidFill>
              </a:defRPr>
            </a:pPr>
            <a:r>
              <a:t>• 300 Plugs &amp; IoT LoRaWAN:</a:t>
            </a:r>
            <a:br/>
            <a:r>
              <a:t>  Monitoring suhu real-time (target -18°C hingga -25°C) setiap 60 detik.</a:t>
            </a:r>
            <a:br/>
            <a:br/>
            <a:r>
              <a:t>• Nilai Bisnis BA:</a:t>
            </a:r>
            <a:br/>
            <a:r>
              <a:t>  Mencegah pembusukan produk beku (daging, seafood, vaksin farmasi). Menghindari risiko klaim ganti rugi asuransi kargo bernilai hingga $100.000+ per kontainer.</a:t>
            </a:r>
            <a:br/>
            <a:br/>
            <a:r>
              <a:t>• Pendapatan: Jasa plugging Rp 250rb/shift.</a:t>
            </a:r>
          </a:p>
        </p:txBody>
      </p:sp>
      <p:sp>
        <p:nvSpPr>
          <p:cNvPr id="6" name="Rounded Rectangle 5"/>
          <p:cNvSpPr/>
          <p:nvPr/>
        </p:nvSpPr>
        <p:spPr>
          <a:xfrm>
            <a:off x="4389120" y="1508760"/>
            <a:ext cx="3383280" cy="4114800"/>
          </a:xfrm>
          <a:prstGeom prst="roundRect">
            <a:avLst/>
          </a:prstGeom>
          <a:solidFill>
            <a:srgbClr val="EFF6FF"/>
          </a:solidFill>
          <a:ln w="12700">
            <a:solidFill>
              <a:srgbClr val="0170B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0" y="1691640"/>
            <a:ext cx="3017520" cy="3749040"/>
          </a:xfrm>
          <a:prstGeom prst="rect">
            <a:avLst/>
          </a:prstGeom>
          <a:noFill/>
        </p:spPr>
        <p:txBody>
          <a:bodyPr wrap="square">
            <a:spAutoFit/>
          </a:bodyPr>
          <a:lstStyle/>
          <a:p>
            <a:pPr>
              <a:defRPr sz="950" b="1">
                <a:solidFill>
                  <a:srgbClr val="0170B9"/>
                </a:solidFill>
              </a:defRPr>
            </a:pPr>
            <a:r>
              <a:t>KEPABEANAN (page=customs)</a:t>
            </a:r>
          </a:p>
          <a:p>
            <a:pPr>
              <a:spcBef>
                <a:spcPts val="200"/>
              </a:spcBef>
              <a:defRPr sz="1200" b="1">
                <a:solidFill>
                  <a:srgbClr val="002F5E"/>
                </a:solidFill>
              </a:defRPr>
            </a:pPr>
            <a:r>
              <a:t>Kepatuhan PMK 190/2022</a:t>
            </a:r>
          </a:p>
          <a:p>
            <a:pPr>
              <a:spcBef>
                <a:spcPts val="400"/>
              </a:spcBef>
              <a:defRPr sz="850">
                <a:solidFill>
                  <a:srgbClr val="1E293B"/>
                </a:solidFill>
              </a:defRPr>
            </a:pPr>
            <a:r>
              <a:t>• Bifurkasi Hijau vs Merah:</a:t>
            </a:r>
            <a:br/>
            <a:r>
              <a:t>  - Jalur Hijau (94,2%): Rilis SPPB instan &lt;5 menit via webhook REST API.</a:t>
            </a:r>
            <a:br/>
            <a:r>
              <a:t>  - Jalur Merah (5,8%): Kunci sistemik CUSTOMS HOLD &amp; Gantry X-Ray 6 MeV penetrasi 300 mm.</a:t>
            </a:r>
            <a:br/>
            <a:br/>
            <a:r>
              <a:t>• Smart GPS E-Seal:</a:t>
            </a:r>
            <a:br/>
            <a:r>
              <a:t>  Pengamanan kargo transit rel KA dari Tanjung Priok (tamper alert otomatis jika kawat dipotong).</a:t>
            </a:r>
          </a:p>
        </p:txBody>
      </p:sp>
      <p:sp>
        <p:nvSpPr>
          <p:cNvPr id="8" name="Rounded Rectangle 7"/>
          <p:cNvSpPr/>
          <p:nvPr/>
        </p:nvSpPr>
        <p:spPr>
          <a:xfrm>
            <a:off x="8046720" y="1508760"/>
            <a:ext cx="3383280" cy="4114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1691640"/>
            <a:ext cx="3017520" cy="3749040"/>
          </a:xfrm>
          <a:prstGeom prst="rect">
            <a:avLst/>
          </a:prstGeom>
          <a:noFill/>
        </p:spPr>
        <p:txBody>
          <a:bodyPr wrap="square">
            <a:spAutoFit/>
          </a:bodyPr>
          <a:lstStyle/>
          <a:p>
            <a:pPr>
              <a:defRPr sz="950" b="1">
                <a:solidFill>
                  <a:srgbClr val="6366F1"/>
                </a:solidFill>
              </a:defRPr>
            </a:pPr>
            <a:r>
              <a:t>GUDANG CFS (page=cfs)</a:t>
            </a:r>
          </a:p>
          <a:p>
            <a:pPr>
              <a:spcBef>
                <a:spcPts val="200"/>
              </a:spcBef>
              <a:defRPr sz="1200" b="1">
                <a:solidFill>
                  <a:srgbClr val="002F5E"/>
                </a:solidFill>
              </a:defRPr>
            </a:pPr>
            <a:r>
              <a:t>Pusat Konsolidasi Ekspor LCL</a:t>
            </a:r>
          </a:p>
          <a:p>
            <a:pPr>
              <a:spcBef>
                <a:spcPts val="400"/>
              </a:spcBef>
              <a:defRPr sz="850">
                <a:solidFill>
                  <a:srgbClr val="1E293B"/>
                </a:solidFill>
              </a:defRPr>
            </a:pPr>
            <a:r>
              <a:t>• Fasilitas 4.000 m² &amp; 5 Rampa:</a:t>
            </a:r>
            <a:br/>
            <a:r>
              <a:t>  Dock hidrolik D1-D5 melayani stripping FCL impor dan konsolidasi ekspor UMKM.</a:t>
            </a:r>
            <a:br/>
            <a:br/>
            <a:r>
              <a:t>• Digital e-Tally Sheet:</a:t>
            </a:r>
            <a:br/>
            <a:r>
              <a:t>  Pencatatan kerusakan kargo dan overage/shortage instan via tablet tally.</a:t>
            </a:r>
            <a:br/>
            <a:br/>
            <a:r>
              <a:t>• Nilai Bisnis: Kontribusi pendapatan jasa CFS Rp 8,10 Miliar per tahun.</a:t>
            </a:r>
          </a:p>
        </p:txBody>
      </p:sp>
      <p:sp>
        <p:nvSpPr>
          <p:cNvPr id="10" name="Rounded Rectangle 9"/>
          <p:cNvSpPr/>
          <p:nvPr/>
        </p:nvSpPr>
        <p:spPr>
          <a:xfrm>
            <a:off x="731520" y="5870448"/>
            <a:ext cx="10698480" cy="438912"/>
          </a:xfrm>
          <a:prstGeom prst="roundRect">
            <a:avLst/>
          </a:prstGeom>
          <a:solidFill>
            <a:srgbClr val="FEF3C7"/>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950" b="1">
                <a:solidFill>
                  <a:srgbClr val="B45309"/>
                </a:solidFill>
              </a:defRPr>
            </a:pPr>
            <a:r>
              <a:t>👉  [LIVE DEMO 5]: Buka Menu 'Reefer' (page=reefer) &amp; 'Kepabeanan' (page=customs) ➔ Tunjukkan Telemetri Suhu &amp; Rilis SPPB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20040"/>
            <a:ext cx="10698480" cy="1005840"/>
          </a:xfrm>
          <a:prstGeom prst="rect">
            <a:avLst/>
          </a:prstGeom>
          <a:noFill/>
        </p:spPr>
        <p:txBody>
          <a:bodyPr wrap="square" lIns="0" tIns="0" rIns="0" bIns="0">
            <a:spAutoFit/>
          </a:bodyPr>
          <a:lstStyle/>
          <a:p>
            <a:pPr>
              <a:defRPr sz="950" b="1">
                <a:solidFill>
                  <a:srgbClr val="0170B9"/>
                </a:solidFill>
              </a:defRPr>
            </a:pPr>
            <a:r>
              <a:t>CONCLUSION SUPPLY CHAIN CONSULTANT — STRATEGIC BUSINESS BLUEPRINT</a:t>
            </a:r>
          </a:p>
          <a:p>
            <a:pPr>
              <a:spcBef>
                <a:spcPts val="200"/>
              </a:spcBef>
              <a:defRPr sz="1900" b="1">
                <a:solidFill>
                  <a:srgbClr val="002F5E"/>
                </a:solidFill>
              </a:defRPr>
            </a:pPr>
            <a:r>
              <a:t>Penjaminan Mutu Sistem (QA Testing Matrix) &amp; Kepatuhan SLA</a:t>
            </a:r>
          </a:p>
        </p:txBody>
      </p:sp>
      <p:sp>
        <p:nvSpPr>
          <p:cNvPr id="3" name="TextBox 2"/>
          <p:cNvSpPr txBox="1"/>
          <p:nvPr/>
        </p:nvSpPr>
        <p:spPr>
          <a:xfrm>
            <a:off x="731520" y="6446520"/>
            <a:ext cx="10698480" cy="320040"/>
          </a:xfrm>
          <a:prstGeom prst="rect">
            <a:avLst/>
          </a:prstGeom>
          <a:noFill/>
        </p:spPr>
        <p:txBody>
          <a:bodyPr wrap="square" lIns="0" tIns="0" rIns="0" bIns="0">
            <a:spAutoFit/>
          </a:bodyPr>
          <a:lstStyle/>
          <a:p>
            <a:pPr>
              <a:defRPr sz="850">
                <a:solidFill>
                  <a:srgbClr val="64748B"/>
                </a:solidFill>
              </a:defRPr>
            </a:pPr>
            <a:r>
              <a:t>Conclusion Supply Chain Consultant  •  Naufal Andika Heditya &amp; Zulfikar J. Fatah  •  Topik 7: CIDP 35 Ha                    Slide 11 of 12</a:t>
            </a:r>
          </a:p>
        </p:txBody>
      </p:sp>
      <p:graphicFrame>
        <p:nvGraphicFramePr>
          <p:cNvPr id="4" name="Table 3"/>
          <p:cNvGraphicFramePr>
            <a:graphicFrameLocks noGrp="1"/>
          </p:cNvGraphicFramePr>
          <p:nvPr/>
        </p:nvGraphicFramePr>
        <p:xfrm>
          <a:off x="731520" y="1508760"/>
          <a:ext cx="10698480" cy="3931920"/>
        </p:xfrm>
        <a:graphic>
          <a:graphicData uri="http://schemas.openxmlformats.org/drawingml/2006/table">
            <a:tbl>
              <a:tblPr firstRow="1" bandRow="1">
                <a:tableStyleId>{5C22544A-7EE6-4342-B048-85BDC9FD1C3A}</a:tableStyleId>
              </a:tblPr>
              <a:tblGrid>
                <a:gridCol w="1371600"/>
                <a:gridCol w="3108960"/>
                <a:gridCol w="4572000"/>
                <a:gridCol w="1645920"/>
              </a:tblGrid>
              <a:tr h="491490">
                <a:tc>
                  <a:txBody>
                    <a:bodyPr/>
                    <a:lstStyle/>
                    <a:p>
                      <a:pPr>
                        <a:defRPr sz="950" b="1">
                          <a:solidFill>
                            <a:srgbClr val="FFFFFF"/>
                          </a:solidFill>
                        </a:defRPr>
                      </a:pPr>
                      <a:r>
                        <a:t>Test ID</a:t>
                      </a:r>
                    </a:p>
                  </a:txBody>
                  <a:tcPr>
                    <a:solidFill>
                      <a:srgbClr val="002F5E"/>
                    </a:solidFill>
                  </a:tcPr>
                </a:tc>
                <a:tc>
                  <a:txBody>
                    <a:bodyPr/>
                    <a:lstStyle/>
                    <a:p>
                      <a:pPr>
                        <a:defRPr sz="950" b="1">
                          <a:solidFill>
                            <a:srgbClr val="FFFFFF"/>
                          </a:solidFill>
                        </a:defRPr>
                      </a:pPr>
                      <a:r>
                        <a:t>Skenario Uji Operasional</a:t>
                      </a:r>
                    </a:p>
                  </a:txBody>
                  <a:tcPr>
                    <a:solidFill>
                      <a:srgbClr val="002F5E"/>
                    </a:solidFill>
                  </a:tcPr>
                </a:tc>
                <a:tc>
                  <a:txBody>
                    <a:bodyPr/>
                    <a:lstStyle/>
                    <a:p>
                      <a:pPr>
                        <a:defRPr sz="950" b="1">
                          <a:solidFill>
                            <a:srgbClr val="FFFFFF"/>
                          </a:solidFill>
                        </a:defRPr>
                      </a:pPr>
                      <a:r>
                        <a:t>Perilaku Sistem yang Diharapkan (Expected Result)</a:t>
                      </a:r>
                    </a:p>
                  </a:txBody>
                  <a:tcPr>
                    <a:solidFill>
                      <a:srgbClr val="002F5E"/>
                    </a:solidFill>
                  </a:tcPr>
                </a:tc>
                <a:tc>
                  <a:txBody>
                    <a:bodyPr/>
                    <a:lstStyle/>
                    <a:p>
                      <a:pPr>
                        <a:defRPr sz="950" b="1">
                          <a:solidFill>
                            <a:srgbClr val="FFFFFF"/>
                          </a:solidFill>
                        </a:defRPr>
                      </a:pPr>
                      <a:r>
                        <a:t>Status Uji</a:t>
                      </a:r>
                    </a:p>
                  </a:txBody>
                  <a:tcPr>
                    <a:solidFill>
                      <a:srgbClr val="002F5E"/>
                    </a:solidFill>
                  </a:tcPr>
                </a:tc>
              </a:tr>
              <a:tr h="491490">
                <a:tc>
                  <a:txBody>
                    <a:bodyPr/>
                    <a:lstStyle/>
                    <a:p>
                      <a:pPr>
                        <a:defRPr sz="850">
                          <a:solidFill>
                            <a:srgbClr val="1E293B"/>
                          </a:solidFill>
                        </a:defRPr>
                      </a:pPr>
                      <a:r>
                        <a:t>QA-TC-01</a:t>
                      </a:r>
                    </a:p>
                  </a:txBody>
                  <a:tcPr>
                    <a:solidFill>
                      <a:srgbClr val="FFFFFF"/>
                    </a:solidFill>
                  </a:tcPr>
                </a:tc>
                <a:tc>
                  <a:txBody>
                    <a:bodyPr/>
                    <a:lstStyle/>
                    <a:p>
                      <a:pPr>
                        <a:defRPr sz="850">
                          <a:solidFill>
                            <a:srgbClr val="1E293B"/>
                          </a:solidFill>
                        </a:defRPr>
                      </a:pPr>
                      <a:r>
                        <a:t>Truk Gate-In Normal (&lt;34t)</a:t>
                      </a:r>
                    </a:p>
                  </a:txBody>
                  <a:tcPr>
                    <a:solidFill>
                      <a:srgbClr val="FFFFFF"/>
                    </a:solidFill>
                  </a:tcPr>
                </a:tc>
                <a:tc>
                  <a:txBody>
                    <a:bodyPr/>
                    <a:lstStyle/>
                    <a:p>
                      <a:pPr>
                        <a:defRPr sz="850">
                          <a:solidFill>
                            <a:srgbClr val="1E293B"/>
                          </a:solidFill>
                        </a:defRPr>
                      </a:pPr>
                      <a:r>
                        <a:t>ANPR + OCR lolos, timbangan validasi SOLAS Pass, palang gate terbuka otomatis (&lt;30 detik)</a:t>
                      </a:r>
                    </a:p>
                  </a:txBody>
                  <a:tcPr>
                    <a:solidFill>
                      <a:srgbClr val="FFFFFF"/>
                    </a:solidFill>
                  </a:tcPr>
                </a:tc>
                <a:tc>
                  <a:txBody>
                    <a:bodyPr/>
                    <a:lstStyle/>
                    <a:p>
                      <a:pPr>
                        <a:defRPr sz="850" b="1">
                          <a:solidFill>
                            <a:srgbClr val="10B981"/>
                          </a:solidFill>
                        </a:defRPr>
                      </a:pPr>
                      <a:r>
                        <a:t>PASS (100%)</a:t>
                      </a:r>
                    </a:p>
                  </a:txBody>
                  <a:tcPr>
                    <a:solidFill>
                      <a:srgbClr val="FFFFFF"/>
                    </a:solidFill>
                  </a:tcPr>
                </a:tc>
              </a:tr>
              <a:tr h="491490">
                <a:tc>
                  <a:txBody>
                    <a:bodyPr/>
                    <a:lstStyle/>
                    <a:p>
                      <a:pPr>
                        <a:defRPr sz="850">
                          <a:solidFill>
                            <a:srgbClr val="1E293B"/>
                          </a:solidFill>
                        </a:defRPr>
                      </a:pPr>
                      <a:r>
                        <a:t>QA-TC-02</a:t>
                      </a:r>
                    </a:p>
                  </a:txBody>
                  <a:tcPr>
                    <a:solidFill>
                      <a:srgbClr val="F8FAFC"/>
                    </a:solidFill>
                  </a:tcPr>
                </a:tc>
                <a:tc>
                  <a:txBody>
                    <a:bodyPr/>
                    <a:lstStyle/>
                    <a:p>
                      <a:pPr>
                        <a:defRPr sz="850">
                          <a:solidFill>
                            <a:srgbClr val="1E293B"/>
                          </a:solidFill>
                        </a:defRPr>
                      </a:pPr>
                      <a:r>
                        <a:t>Penolakan Truk Overweight (&gt;34t)</a:t>
                      </a:r>
                    </a:p>
                  </a:txBody>
                  <a:tcPr>
                    <a:solidFill>
                      <a:srgbClr val="F8FAFC"/>
                    </a:solidFill>
                  </a:tcPr>
                </a:tc>
                <a:tc>
                  <a:txBody>
                    <a:bodyPr/>
                    <a:lstStyle/>
                    <a:p>
                      <a:pPr>
                        <a:defRPr sz="850">
                          <a:solidFill>
                            <a:srgbClr val="1E293B"/>
                          </a:solidFill>
                        </a:defRPr>
                      </a:pPr>
                      <a:r>
                        <a:t>Sistem picu alarm merah OVERLOAD ALERT, palang terkunci, LED tolak truk masuk</a:t>
                      </a:r>
                    </a:p>
                  </a:txBody>
                  <a:tcPr>
                    <a:solidFill>
                      <a:srgbClr val="F8FAFC"/>
                    </a:solidFill>
                  </a:tcPr>
                </a:tc>
                <a:tc>
                  <a:txBody>
                    <a:bodyPr/>
                    <a:lstStyle/>
                    <a:p>
                      <a:pPr>
                        <a:defRPr sz="850" b="1">
                          <a:solidFill>
                            <a:srgbClr val="10B981"/>
                          </a:solidFill>
                        </a:defRPr>
                      </a:pPr>
                      <a:r>
                        <a:t>PASS (100%)</a:t>
                      </a:r>
                    </a:p>
                  </a:txBody>
                  <a:tcPr>
                    <a:solidFill>
                      <a:srgbClr val="F8FAFC"/>
                    </a:solidFill>
                  </a:tcPr>
                </a:tc>
              </a:tr>
              <a:tr h="491490">
                <a:tc>
                  <a:txBody>
                    <a:bodyPr/>
                    <a:lstStyle/>
                    <a:p>
                      <a:pPr>
                        <a:defRPr sz="850">
                          <a:solidFill>
                            <a:srgbClr val="1E293B"/>
                          </a:solidFill>
                        </a:defRPr>
                      </a:pPr>
                      <a:r>
                        <a:t>QA-TC-03</a:t>
                      </a:r>
                    </a:p>
                  </a:txBody>
                  <a:tcPr>
                    <a:solidFill>
                      <a:srgbClr val="FFFFFF"/>
                    </a:solidFill>
                  </a:tcPr>
                </a:tc>
                <a:tc>
                  <a:txBody>
                    <a:bodyPr/>
                    <a:lstStyle/>
                    <a:p>
                      <a:pPr>
                        <a:defRPr sz="850">
                          <a:solidFill>
                            <a:srgbClr val="1E293B"/>
                          </a:solidFill>
                        </a:defRPr>
                      </a:pPr>
                      <a:r>
                        <a:t>Validasi Check Digit ISO 6346</a:t>
                      </a:r>
                    </a:p>
                  </a:txBody>
                  <a:tcPr>
                    <a:solidFill>
                      <a:srgbClr val="FFFFFF"/>
                    </a:solidFill>
                  </a:tcPr>
                </a:tc>
                <a:tc>
                  <a:txBody>
                    <a:bodyPr/>
                    <a:lstStyle/>
                    <a:p>
                      <a:pPr>
                        <a:defRPr sz="850">
                          <a:solidFill>
                            <a:srgbClr val="1E293B"/>
                          </a:solidFill>
                        </a:defRPr>
                      </a:pPr>
                      <a:r>
                        <a:t>Algoritma Modulo 11 mendeteksi salah ketik nomor kontainer; pendaftaran ditolak</a:t>
                      </a:r>
                    </a:p>
                  </a:txBody>
                  <a:tcPr>
                    <a:solidFill>
                      <a:srgbClr val="FFFFFF"/>
                    </a:solidFill>
                  </a:tcPr>
                </a:tc>
                <a:tc>
                  <a:txBody>
                    <a:bodyPr/>
                    <a:lstStyle/>
                    <a:p>
                      <a:pPr>
                        <a:defRPr sz="850" b="1">
                          <a:solidFill>
                            <a:srgbClr val="10B981"/>
                          </a:solidFill>
                        </a:defRPr>
                      </a:pPr>
                      <a:r>
                        <a:t>PASS (100%)</a:t>
                      </a:r>
                    </a:p>
                  </a:txBody>
                  <a:tcPr>
                    <a:solidFill>
                      <a:srgbClr val="FFFFFF"/>
                    </a:solidFill>
                  </a:tcPr>
                </a:tc>
              </a:tr>
              <a:tr h="491490">
                <a:tc>
                  <a:txBody>
                    <a:bodyPr/>
                    <a:lstStyle/>
                    <a:p>
                      <a:pPr>
                        <a:defRPr sz="850">
                          <a:solidFill>
                            <a:srgbClr val="1E293B"/>
                          </a:solidFill>
                        </a:defRPr>
                      </a:pPr>
                      <a:r>
                        <a:t>QA-TC-04</a:t>
                      </a:r>
                    </a:p>
                  </a:txBody>
                  <a:tcPr>
                    <a:solidFill>
                      <a:srgbClr val="F8FAFC"/>
                    </a:solidFill>
                  </a:tcPr>
                </a:tc>
                <a:tc>
                  <a:txBody>
                    <a:bodyPr/>
                    <a:lstStyle/>
                    <a:p>
                      <a:pPr>
                        <a:defRPr sz="850">
                          <a:solidFill>
                            <a:srgbClr val="1E293B"/>
                          </a:solidFill>
                        </a:defRPr>
                      </a:pPr>
                      <a:r>
                        <a:t>Pemindaian Barcode GS1 SSCC-18</a:t>
                      </a:r>
                    </a:p>
                  </a:txBody>
                  <a:tcPr>
                    <a:solidFill>
                      <a:srgbClr val="F8FAFC"/>
                    </a:solidFill>
                  </a:tcPr>
                </a:tc>
                <a:tc>
                  <a:txBody>
                    <a:bodyPr/>
                    <a:lstStyle/>
                    <a:p>
                      <a:pPr>
                        <a:defRPr sz="850">
                          <a:solidFill>
                            <a:srgbClr val="1E293B"/>
                          </a:solidFill>
                        </a:defRPr>
                      </a:pPr>
                      <a:r>
                        <a:t>Engine optik mem-parsing AI (00), memvalidasi digit cek Modulo 10, dan arahkan ke rak CFS</a:t>
                      </a:r>
                    </a:p>
                  </a:txBody>
                  <a:tcPr>
                    <a:solidFill>
                      <a:srgbClr val="F8FAFC"/>
                    </a:solidFill>
                  </a:tcPr>
                </a:tc>
                <a:tc>
                  <a:txBody>
                    <a:bodyPr/>
                    <a:lstStyle/>
                    <a:p>
                      <a:pPr>
                        <a:defRPr sz="850" b="1">
                          <a:solidFill>
                            <a:srgbClr val="10B981"/>
                          </a:solidFill>
                        </a:defRPr>
                      </a:pPr>
                      <a:r>
                        <a:t>PASS (100%)</a:t>
                      </a:r>
                    </a:p>
                  </a:txBody>
                  <a:tcPr>
                    <a:solidFill>
                      <a:srgbClr val="F8FAFC"/>
                    </a:solidFill>
                  </a:tcPr>
                </a:tc>
              </a:tr>
              <a:tr h="491490">
                <a:tc>
                  <a:txBody>
                    <a:bodyPr/>
                    <a:lstStyle/>
                    <a:p>
                      <a:pPr>
                        <a:defRPr sz="850">
                          <a:solidFill>
                            <a:srgbClr val="1E293B"/>
                          </a:solidFill>
                        </a:defRPr>
                      </a:pPr>
                      <a:r>
                        <a:t>QA-TC-05</a:t>
                      </a:r>
                    </a:p>
                  </a:txBody>
                  <a:tcPr>
                    <a:solidFill>
                      <a:srgbClr val="FFFFFF"/>
                    </a:solidFill>
                  </a:tcPr>
                </a:tc>
                <a:tc>
                  <a:txBody>
                    <a:bodyPr/>
                    <a:lstStyle/>
                    <a:p>
                      <a:pPr>
                        <a:defRPr sz="850">
                          <a:solidFill>
                            <a:srgbClr val="1E293B"/>
                          </a:solidFill>
                        </a:defRPr>
                      </a:pPr>
                      <a:r>
                        <a:t>Pencegahan Tabrakan Slot Yard</a:t>
                      </a:r>
                    </a:p>
                  </a:txBody>
                  <a:tcPr>
                    <a:solidFill>
                      <a:srgbClr val="FFFFFF"/>
                    </a:solidFill>
                  </a:tcPr>
                </a:tc>
                <a:tc>
                  <a:txBody>
                    <a:bodyPr/>
                    <a:lstStyle/>
                    <a:p>
                      <a:pPr>
                        <a:defRPr sz="850">
                          <a:solidFill>
                            <a:srgbClr val="1E293B"/>
                          </a:solidFill>
                        </a:defRPr>
                      </a:pPr>
                      <a:r>
                        <a:t>Algoritma Stacking tolak perintah meletakkan box di Tier 3 tanpa adanya Tier 2 di bawahnya</a:t>
                      </a:r>
                    </a:p>
                  </a:txBody>
                  <a:tcPr>
                    <a:solidFill>
                      <a:srgbClr val="FFFFFF"/>
                    </a:solidFill>
                  </a:tcPr>
                </a:tc>
                <a:tc>
                  <a:txBody>
                    <a:bodyPr/>
                    <a:lstStyle/>
                    <a:p>
                      <a:pPr>
                        <a:defRPr sz="850" b="1">
                          <a:solidFill>
                            <a:srgbClr val="10B981"/>
                          </a:solidFill>
                        </a:defRPr>
                      </a:pPr>
                      <a:r>
                        <a:t>PASS (100%)</a:t>
                      </a:r>
                    </a:p>
                  </a:txBody>
                  <a:tcPr>
                    <a:solidFill>
                      <a:srgbClr val="FFFFFF"/>
                    </a:solidFill>
                  </a:tcPr>
                </a:tc>
              </a:tr>
              <a:tr h="491490">
                <a:tc>
                  <a:txBody>
                    <a:bodyPr/>
                    <a:lstStyle/>
                    <a:p>
                      <a:pPr>
                        <a:defRPr sz="850">
                          <a:solidFill>
                            <a:srgbClr val="1E293B"/>
                          </a:solidFill>
                        </a:defRPr>
                      </a:pPr>
                      <a:r>
                        <a:t>QA-TC-06</a:t>
                      </a:r>
                    </a:p>
                  </a:txBody>
                  <a:tcPr>
                    <a:solidFill>
                      <a:srgbClr val="F8FAFC"/>
                    </a:solidFill>
                  </a:tcPr>
                </a:tc>
                <a:tc>
                  <a:txBody>
                    <a:bodyPr/>
                    <a:lstStyle/>
                    <a:p>
                      <a:pPr>
                        <a:defRPr sz="850">
                          <a:solidFill>
                            <a:srgbClr val="1E293B"/>
                          </a:solidFill>
                        </a:defRPr>
                      </a:pPr>
                      <a:r>
                        <a:t>Penguncian Kontainer Jalur Merah</a:t>
                      </a:r>
                    </a:p>
                  </a:txBody>
                  <a:tcPr>
                    <a:solidFill>
                      <a:srgbClr val="F8FAFC"/>
                    </a:solidFill>
                  </a:tcPr>
                </a:tc>
                <a:tc>
                  <a:txBody>
                    <a:bodyPr/>
                    <a:lstStyle/>
                    <a:p>
                      <a:pPr>
                        <a:defRPr sz="850">
                          <a:solidFill>
                            <a:srgbClr val="1E293B"/>
                          </a:solidFill>
                        </a:defRPr>
                      </a:pPr>
                      <a:r>
                        <a:t>Kontainer berstatus CUSTOMS HOLD dilarang keras Gate-Out sebelum ada rilis resmi SPPB</a:t>
                      </a:r>
                    </a:p>
                  </a:txBody>
                  <a:tcPr>
                    <a:solidFill>
                      <a:srgbClr val="F8FAFC"/>
                    </a:solidFill>
                  </a:tcPr>
                </a:tc>
                <a:tc>
                  <a:txBody>
                    <a:bodyPr/>
                    <a:lstStyle/>
                    <a:p>
                      <a:pPr>
                        <a:defRPr sz="850" b="1">
                          <a:solidFill>
                            <a:srgbClr val="10B981"/>
                          </a:solidFill>
                        </a:defRPr>
                      </a:pPr>
                      <a:r>
                        <a:t>PASS (100%)</a:t>
                      </a:r>
                    </a:p>
                  </a:txBody>
                  <a:tcPr>
                    <a:solidFill>
                      <a:srgbClr val="F8FAFC"/>
                    </a:solidFill>
                  </a:tcPr>
                </a:tc>
              </a:tr>
              <a:tr h="491490">
                <a:tc>
                  <a:txBody>
                    <a:bodyPr/>
                    <a:lstStyle/>
                    <a:p>
                      <a:pPr>
                        <a:defRPr sz="850">
                          <a:solidFill>
                            <a:srgbClr val="1E293B"/>
                          </a:solidFill>
                        </a:defRPr>
                      </a:pPr>
                      <a:r>
                        <a:t>QA-TC-07</a:t>
                      </a:r>
                    </a:p>
                  </a:txBody>
                  <a:tcPr>
                    <a:solidFill>
                      <a:srgbClr val="FFFFFF"/>
                    </a:solidFill>
                  </a:tcPr>
                </a:tc>
                <a:tc>
                  <a:txBody>
                    <a:bodyPr/>
                    <a:lstStyle/>
                    <a:p>
                      <a:pPr>
                        <a:defRPr sz="850">
                          <a:solidFill>
                            <a:srgbClr val="1E293B"/>
                          </a:solidFill>
                        </a:defRPr>
                      </a:pPr>
                      <a:r>
                        <a:t>Kalkulasi Tarif Dwell Inap Progresif</a:t>
                      </a:r>
                    </a:p>
                  </a:txBody>
                  <a:tcPr>
                    <a:solidFill>
                      <a:srgbClr val="FFFFFF"/>
                    </a:solidFill>
                  </a:tcPr>
                </a:tc>
                <a:tc>
                  <a:txBody>
                    <a:bodyPr/>
                    <a:lstStyle/>
                    <a:p>
                      <a:pPr>
                        <a:defRPr sz="850">
                          <a:solidFill>
                            <a:srgbClr val="1E293B"/>
                          </a:solidFill>
                        </a:defRPr>
                      </a:pPr>
                      <a:r>
                        <a:t>Menghitung durasi Masa I (Rp 0), Masa II (Rp 45rb), dan Masa III (Rp 90rb) tanpa bocor</a:t>
                      </a:r>
                    </a:p>
                  </a:txBody>
                  <a:tcPr>
                    <a:solidFill>
                      <a:srgbClr val="FFFFFF"/>
                    </a:solidFill>
                  </a:tcPr>
                </a:tc>
                <a:tc>
                  <a:txBody>
                    <a:bodyPr/>
                    <a:lstStyle/>
                    <a:p>
                      <a:pPr>
                        <a:defRPr sz="850" b="1">
                          <a:solidFill>
                            <a:srgbClr val="10B981"/>
                          </a:solidFill>
                        </a:defRPr>
                      </a:pPr>
                      <a:r>
                        <a:t>PASS (100%)</a:t>
                      </a:r>
                    </a:p>
                  </a:txBody>
                  <a:tcPr>
                    <a:solidFill>
                      <a:srgbClr val="FFFFFF"/>
                    </a:solidFill>
                  </a:tcPr>
                </a:tc>
              </a:tr>
            </a:tbl>
          </a:graphicData>
        </a:graphic>
      </p:graphicFrame>
      <p:sp>
        <p:nvSpPr>
          <p:cNvPr id="5" name="Rounded Rectangle 4"/>
          <p:cNvSpPr/>
          <p:nvPr/>
        </p:nvSpPr>
        <p:spPr>
          <a:xfrm>
            <a:off x="731520" y="5623560"/>
            <a:ext cx="10698480" cy="594360"/>
          </a:xfrm>
          <a:prstGeom prst="roundRect">
            <a:avLst/>
          </a:prstGeom>
          <a:solidFill>
            <a:srgbClr val="ECFDF5"/>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065F46"/>
                </a:solidFill>
              </a:defRPr>
            </a:pPr>
            <a:r>
              <a:t>PENJAMINAN MUTU NON-FUNGSIONAL: Waktu Respon API 85 ms (&lt;150 ms)  •  Siklus Gate 92s (&lt;120s)  •  Zero Revenue Leakage (0% Bocor)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20040"/>
            <a:ext cx="10698480" cy="1005840"/>
          </a:xfrm>
          <a:prstGeom prst="rect">
            <a:avLst/>
          </a:prstGeom>
          <a:noFill/>
        </p:spPr>
        <p:txBody>
          <a:bodyPr wrap="square" lIns="0" tIns="0" rIns="0" bIns="0">
            <a:spAutoFit/>
          </a:bodyPr>
          <a:lstStyle/>
          <a:p>
            <a:pPr>
              <a:defRPr sz="950" b="1">
                <a:solidFill>
                  <a:srgbClr val="0170B9"/>
                </a:solidFill>
              </a:defRPr>
            </a:pPr>
            <a:r>
              <a:t>CONCLUSION SUPPLY CHAIN CONSULTANT — STRATEGIC BUSINESS BLUEPRINT</a:t>
            </a:r>
          </a:p>
          <a:p>
            <a:pPr>
              <a:spcBef>
                <a:spcPts val="200"/>
              </a:spcBef>
              <a:defRPr sz="1900" b="1">
                <a:solidFill>
                  <a:srgbClr val="002F5E"/>
                </a:solidFill>
              </a:defRPr>
            </a:pPr>
            <a:r>
              <a:t>Kesimpulan Eksekutif Business Analyst &amp; Rekomendasi Konsultan</a:t>
            </a:r>
          </a:p>
        </p:txBody>
      </p:sp>
      <p:sp>
        <p:nvSpPr>
          <p:cNvPr id="3" name="TextBox 2"/>
          <p:cNvSpPr txBox="1"/>
          <p:nvPr/>
        </p:nvSpPr>
        <p:spPr>
          <a:xfrm>
            <a:off x="731520" y="6446520"/>
            <a:ext cx="10698480" cy="320040"/>
          </a:xfrm>
          <a:prstGeom prst="rect">
            <a:avLst/>
          </a:prstGeom>
          <a:noFill/>
        </p:spPr>
        <p:txBody>
          <a:bodyPr wrap="square" lIns="0" tIns="0" rIns="0" bIns="0">
            <a:spAutoFit/>
          </a:bodyPr>
          <a:lstStyle/>
          <a:p>
            <a:pPr>
              <a:defRPr sz="850">
                <a:solidFill>
                  <a:srgbClr val="64748B"/>
                </a:solidFill>
              </a:defRPr>
            </a:pPr>
            <a:r>
              <a:t>Conclusion Supply Chain Consultant  •  Naufal Andika Heditya &amp; Zulfikar J. Fatah  •  Topik 7: CIDP 35 Ha                    Slide 12 of 12</a:t>
            </a:r>
          </a:p>
        </p:txBody>
      </p:sp>
      <p:sp>
        <p:nvSpPr>
          <p:cNvPr id="4" name="Rounded Rectangle 3"/>
          <p:cNvSpPr/>
          <p:nvPr/>
        </p:nvSpPr>
        <p:spPr>
          <a:xfrm>
            <a:off x="731520" y="1508760"/>
            <a:ext cx="2514600" cy="31089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1691640"/>
            <a:ext cx="2295144" cy="2743200"/>
          </a:xfrm>
          <a:prstGeom prst="rect">
            <a:avLst/>
          </a:prstGeom>
          <a:noFill/>
        </p:spPr>
        <p:txBody>
          <a:bodyPr wrap="square">
            <a:spAutoFit/>
          </a:bodyPr>
          <a:lstStyle/>
          <a:p>
            <a:pPr>
              <a:defRPr sz="850" b="1">
                <a:solidFill>
                  <a:srgbClr val="0170B9"/>
                </a:solidFill>
              </a:defRPr>
            </a:pPr>
            <a:r>
              <a:t>1. KELAYAKAN FINANSIAL</a:t>
            </a:r>
          </a:p>
          <a:p>
            <a:pPr>
              <a:spcBef>
                <a:spcPts val="200"/>
              </a:spcBef>
              <a:defRPr sz="1300" b="1">
                <a:solidFill>
                  <a:srgbClr val="002F5E"/>
                </a:solidFill>
              </a:defRPr>
            </a:pPr>
            <a:r>
              <a:t>Balik Modal 5.8 Tahun</a:t>
            </a:r>
          </a:p>
          <a:p>
            <a:pPr>
              <a:spcBef>
                <a:spcPts val="400"/>
              </a:spcBef>
              <a:defRPr sz="800">
                <a:solidFill>
                  <a:srgbClr val="1E293B"/>
                </a:solidFill>
              </a:defRPr>
            </a:pPr>
            <a:r>
              <a:t>• CAPEX Rp 250 M lunas dalam 5,84 tahun.</a:t>
            </a:r>
            <a:br/>
            <a:r>
              <a:t>• Net Profit Rp 30,2 M/thn.</a:t>
            </a:r>
            <a:br/>
            <a:r>
              <a:t>• NPV Positif +Rp 13 Miliar.</a:t>
            </a:r>
            <a:br/>
            <a:r>
              <a:t>• IRR 11,42% di atas bunga bank 8,5%.</a:t>
            </a:r>
          </a:p>
        </p:txBody>
      </p:sp>
      <p:sp>
        <p:nvSpPr>
          <p:cNvPr id="6" name="Rounded Rectangle 5"/>
          <p:cNvSpPr/>
          <p:nvPr/>
        </p:nvSpPr>
        <p:spPr>
          <a:xfrm>
            <a:off x="3456432" y="1508760"/>
            <a:ext cx="2514600" cy="31089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66160" y="1691640"/>
            <a:ext cx="2295144" cy="2743200"/>
          </a:xfrm>
          <a:prstGeom prst="rect">
            <a:avLst/>
          </a:prstGeom>
          <a:noFill/>
        </p:spPr>
        <p:txBody>
          <a:bodyPr wrap="square">
            <a:spAutoFit/>
          </a:bodyPr>
          <a:lstStyle/>
          <a:p>
            <a:pPr>
              <a:defRPr sz="850" b="1">
                <a:solidFill>
                  <a:srgbClr val="6366F1"/>
                </a:solidFill>
              </a:defRPr>
            </a:pPr>
            <a:r>
              <a:t>2. EFISIENSI PROSES (BPR)</a:t>
            </a:r>
          </a:p>
          <a:p>
            <a:pPr>
              <a:spcBef>
                <a:spcPts val="200"/>
              </a:spcBef>
              <a:defRPr sz="1300" b="1">
                <a:solidFill>
                  <a:srgbClr val="002F5E"/>
                </a:solidFill>
              </a:defRPr>
            </a:pPr>
            <a:r>
              <a:t>Dwell Time Pangkas 66%</a:t>
            </a:r>
          </a:p>
          <a:p>
            <a:pPr>
              <a:spcBef>
                <a:spcPts val="400"/>
              </a:spcBef>
              <a:defRPr sz="800">
                <a:solidFill>
                  <a:srgbClr val="1E293B"/>
                </a:solidFill>
              </a:defRPr>
            </a:pPr>
            <a:r>
              <a:t>• Waktu gate turun 15 mnt ➔ 90 detik.</a:t>
            </a:r>
            <a:br/>
            <a:r>
              <a:t>• Dwell time turun 6,8 ➔ 2,3 hari.</a:t>
            </a:r>
            <a:br/>
            <a:r>
              <a:t>• Eliminasi 100% box terselip via alokasi 3D Bay-Row-Tier.</a:t>
            </a:r>
          </a:p>
        </p:txBody>
      </p:sp>
      <p:sp>
        <p:nvSpPr>
          <p:cNvPr id="8" name="Rounded Rectangle 7"/>
          <p:cNvSpPr/>
          <p:nvPr/>
        </p:nvSpPr>
        <p:spPr>
          <a:xfrm>
            <a:off x="6181344" y="1508760"/>
            <a:ext cx="2514600" cy="31089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91072" y="1691640"/>
            <a:ext cx="2295144" cy="2743200"/>
          </a:xfrm>
          <a:prstGeom prst="rect">
            <a:avLst/>
          </a:prstGeom>
          <a:noFill/>
        </p:spPr>
        <p:txBody>
          <a:bodyPr wrap="square">
            <a:spAutoFit/>
          </a:bodyPr>
          <a:lstStyle/>
          <a:p>
            <a:pPr>
              <a:defRPr sz="850" b="1">
                <a:solidFill>
                  <a:srgbClr val="9333EA"/>
                </a:solidFill>
              </a:defRPr>
            </a:pPr>
            <a:r>
              <a:t>3. STANDAR &amp; KEPATUHAN</a:t>
            </a:r>
          </a:p>
          <a:p>
            <a:pPr>
              <a:spcBef>
                <a:spcPts val="200"/>
              </a:spcBef>
              <a:defRPr sz="1300" b="1">
                <a:solidFill>
                  <a:srgbClr val="002F5E"/>
                </a:solidFill>
              </a:defRPr>
            </a:pPr>
            <a:r>
              <a:t>GS1 SSCC &amp; CEISA 4.0</a:t>
            </a:r>
          </a:p>
          <a:p>
            <a:pPr>
              <a:spcBef>
                <a:spcPts val="400"/>
              </a:spcBef>
              <a:defRPr sz="800">
                <a:solidFill>
                  <a:srgbClr val="1E293B"/>
                </a:solidFill>
              </a:defRPr>
            </a:pPr>
            <a:r>
              <a:t>• Standar global GS1 AI (00) &amp; ISO 6346.</a:t>
            </a:r>
            <a:br/>
            <a:r>
              <a:t>• Kepatuhan PMK 190/2022 DJBC.</a:t>
            </a:r>
            <a:br/>
            <a:r>
              <a:t>• Otomasi SPPB 94,2% &amp; Smart E-Seal transit KA.</a:t>
            </a:r>
          </a:p>
        </p:txBody>
      </p:sp>
      <p:sp>
        <p:nvSpPr>
          <p:cNvPr id="10" name="Rounded Rectangle 9"/>
          <p:cNvSpPr/>
          <p:nvPr/>
        </p:nvSpPr>
        <p:spPr>
          <a:xfrm>
            <a:off x="8906256" y="1508760"/>
            <a:ext cx="2514600" cy="31089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015984" y="1691640"/>
            <a:ext cx="2295144" cy="2743200"/>
          </a:xfrm>
          <a:prstGeom prst="rect">
            <a:avLst/>
          </a:prstGeom>
          <a:noFill/>
        </p:spPr>
        <p:txBody>
          <a:bodyPr wrap="square">
            <a:spAutoFit/>
          </a:bodyPr>
          <a:lstStyle/>
          <a:p>
            <a:pPr>
              <a:defRPr sz="850" b="1">
                <a:solidFill>
                  <a:srgbClr val="10B981"/>
                </a:solidFill>
              </a:defRPr>
            </a:pPr>
            <a:r>
              <a:t>4. PENJAMINAN MUTU (QA)</a:t>
            </a:r>
          </a:p>
          <a:p>
            <a:pPr>
              <a:spcBef>
                <a:spcPts val="200"/>
              </a:spcBef>
              <a:defRPr sz="1300" b="1">
                <a:solidFill>
                  <a:srgbClr val="002F5E"/>
                </a:solidFill>
              </a:defRPr>
            </a:pPr>
            <a:r>
              <a:t>Zero Revenue Leakage</a:t>
            </a:r>
          </a:p>
          <a:p>
            <a:pPr>
              <a:spcBef>
                <a:spcPts val="400"/>
              </a:spcBef>
              <a:defRPr sz="800">
                <a:solidFill>
                  <a:srgbClr val="1E293B"/>
                </a:solidFill>
              </a:defRPr>
            </a:pPr>
            <a:r>
              <a:t>• 100% kasus ekstrem tertangani (SOLAS overload &amp; cek digit).</a:t>
            </a:r>
            <a:br/>
            <a:r>
              <a:t>• Palang Gate-Out kunci tagihan belum lunas.</a:t>
            </a:r>
          </a:p>
        </p:txBody>
      </p:sp>
      <p:sp>
        <p:nvSpPr>
          <p:cNvPr id="12" name="Rounded Rectangle 11"/>
          <p:cNvSpPr/>
          <p:nvPr/>
        </p:nvSpPr>
        <p:spPr>
          <a:xfrm>
            <a:off x="731520" y="4800600"/>
            <a:ext cx="10698480" cy="1417320"/>
          </a:xfrm>
          <a:prstGeom prst="roundRect">
            <a:avLst/>
          </a:prstGeom>
          <a:solidFill>
            <a:srgbClr val="002F5E"/>
          </a:solidFill>
          <a:ln w="12700">
            <a:solidFill>
              <a:srgbClr val="0170B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38BDF8"/>
                </a:solidFill>
              </a:defRPr>
            </a:pPr>
            <a:r>
              <a:t>REKOMENDASI FINAL STRATEGIS CONCLUSION SUPPLY CHAIN CONSULTANT</a:t>
            </a:r>
          </a:p>
          <a:p>
            <a:pPr>
              <a:spcBef>
                <a:spcPts val="300"/>
              </a:spcBef>
              <a:defRPr sz="850">
                <a:solidFill>
                  <a:srgbClr val="E2E8F0"/>
                </a:solidFill>
              </a:defRPr>
            </a:pPr>
            <a:r>
              <a:t>Sistem CIDP YMS terbukti secara empiris dan kuantitatif SANGAT LAYAK (FEASIBLE) untuk dilanjutkan ke tahap implementasi komersial. Solusi ini menyelesaikan inefisiensi pelabuhan konvensional, menjamin keuntungan finansial pemodal, dan memenuhi seluruh standar regulasi logistik nasional maupun internasional.</a:t>
            </a:r>
          </a:p>
          <a:p>
            <a:pPr algn="ctr">
              <a:spcBef>
                <a:spcPts val="400"/>
              </a:spcBef>
              <a:defRPr sz="950" b="1">
                <a:solidFill>
                  <a:srgbClr val="F59E0B"/>
                </a:solidFill>
              </a:defRPr>
            </a:pPr>
            <a:r>
              <a:t>SESI TANYA JAWAB (Q&amp;A)  •  DOSEN PENGAMPU: DR. TIGOR FRANKY, S.T., M.T.  •  TERIMA KASIH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