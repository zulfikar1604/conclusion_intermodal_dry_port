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5852160"/>
          </a:xfrm>
          <a:prstGeom prst="rect">
            <a:avLst/>
          </a:prstGeom>
          <a:solidFill>
            <a:srgbClr val="017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4241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93C5FD"/>
                </a:solidFill>
              </a:defRPr>
            </a:pPr>
            <a:r>
              <a:t>TOPIK 7 — INLAND CONTAINER DEPOT (ICD) &amp; DRY PORT MANAGEMENT</a:t>
            </a:r>
          </a:p>
          <a:p>
            <a:pPr>
              <a:spcBef>
                <a:spcPts val="400"/>
              </a:spcBef>
              <a:defRPr sz="2100" b="1">
                <a:solidFill>
                  <a:srgbClr val="FFFFFF"/>
                </a:solidFill>
              </a:defRPr>
            </a:pPr>
            <a:r>
              <a:t>Sistem Manajemen Lapangan Penumpukan (Yard Management System / YMS) pada Conclusion Intermodal Dry Port (CIDP) 35 Ha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</a:defRPr>
            </a:pPr>
            <a:r>
              <a:t>PROGRES MINGGU INI: ARSITEKTUR SOFTWARE, INGESTION DATA HARDWARE &amp; LIVE DEMO SISTEM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560320"/>
            <a:ext cx="10424160" cy="3108960"/>
          </a:xfrm>
          <a:prstGeom prst="roundRect">
            <a:avLst/>
          </a:prstGeom>
          <a:solidFill>
            <a:srgbClr val="0F1E3C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697480"/>
            <a:ext cx="1005840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TIM PENGEMBANG &amp; KONSULTAN (CONCLUSION SUPPLY CHAIN CONSULTANT):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1. Zulfikar Jafarudin Fatah (24D507001001) — Lead System Architect (Ketua Tim)</a:t>
            </a:r>
            <a:br/>
            <a:r>
              <a:t>   Fokus: Arsitektur Sistem Web YMS, Database MySQL, Dashboard Eksekutif, &amp; 3D Three.js Engine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2. Armansyah Muchtarrom (24D507001010) — Hardware &amp; Infrastructure Specialist</a:t>
            </a:r>
            <a:br/>
            <a:r>
              <a:t>   Fokus: Pemetaan Protokol Sensor Lapangan (RS-232, TCP/IP, LoRaWAN) &amp; Spesifikasi IoT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3. Afriansayah Ayubi (24D507001026) — Software &amp; ERP Process Specialist (Presenter)</a:t>
            </a:r>
            <a:br/>
            <a:r>
              <a:t>   Fokus: Logika Penanganan Peti Kemas, Terminal Tariff Engine (Lo-Lo, Storage, VGM), &amp; Integrasi Odoo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4. Juan Gamaliel (24D507001016) — Data Integration Specialist (Presenter)</a:t>
            </a:r>
            <a:br/>
            <a:r>
              <a:t>   Fokus: Arsitektur REST API Gateway, Pemodelan JSON Payload, Stacking Matrix &amp; Collision Detection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5. Naufal Andika Heditya (24D507001012) — Business Analyst &amp; QA Specialist</a:t>
            </a:r>
            <a:br/>
            <a:r>
              <a:t>   Fokus: Standardisasi AIDC (GS1-128, SSCC-18, ISO 6346), Integrasi CEISA 4.0 Bea Cukai, &amp; QA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806440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BD5E1"/>
                </a:solidFill>
              </a:defRPr>
            </a:pPr>
            <a:r>
              <a:t>Mata Kuliah: Teknologi dan Perangkat Lunak Logistik  •  Dosen Pengampu: Dr. Tigor Franky, S.T., M.T.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Program Studi S1 Manajemen Logistik  •  Institut Transportasi dan Logistik (ITL) Trisakti  •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300"/>
              </a:spcBef>
              <a:defRPr sz="1900" b="1">
                <a:solidFill>
                  <a:srgbClr val="002F5E"/>
                </a:solidFill>
              </a:defRPr>
            </a:pPr>
            <a:r>
              <a:t>Taksonomi 4-Layer IT Logistik &amp; Pengelolaan 3 Aliran Utama Terminal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Conclusion Supply Chain Consultant — CIDP 35 Ha | Presentasi &amp; Skenario Live Demo Web                    Slide 2 of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SINKRONISASI 3 ALIRAN</a:t>
            </a:r>
          </a:p>
          <a:p>
            <a:pPr>
              <a:spcBef>
                <a:spcPts val="300"/>
              </a:spcBef>
              <a:defRPr sz="1300" b="1">
                <a:solidFill>
                  <a:srgbClr val="002F5E"/>
                </a:solidFill>
              </a:defRPr>
            </a:pPr>
            <a:r>
              <a:t>Aliran Logistik Terpadu</a:t>
            </a:r>
          </a:p>
          <a:p>
            <a:pPr>
              <a:spcBef>
                <a:spcPts val="600"/>
              </a:spcBef>
              <a:defRPr sz="919">
                <a:solidFill>
                  <a:srgbClr val="1E293B"/>
                </a:solidFill>
              </a:defRPr>
            </a:pPr>
            <a:r>
              <a:t>1. Goods Flow (Fisik 35 Ha):</a:t>
            </a:r>
            <a:br/>
            <a:r>
              <a:t>Pergerakan kontainer di gerbang masuk, jembatan timbang 80t, lapangan penumpukan Blok A-E, hingga gerbong kereta api logistik.</a:t>
            </a:r>
            <a:br/>
            <a:br/>
            <a:r>
              <a:t>2. Information Flow (Data Telemetri):</a:t>
            </a:r>
            <a:br/>
            <a:r>
              <a:t>Data instan sensor (OCR, ANPR, DGPS, Twistlock, Suhu) yang diolah menjadi koordinat Bay-Row-Tier.</a:t>
            </a:r>
            <a:br/>
            <a:br/>
            <a:r>
              <a:t>3. Financial Flow (Billing &amp; ERP):</a:t>
            </a:r>
            <a:br/>
            <a:r>
              <a:t>Penerbitan piutang &amp; e-Faktur jasa terminal (Lo-Lo, penumpukan progresif, reefer) ke ERP Odoo.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3657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9164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TAKSONOMI 4 LAPISAN IT</a:t>
            </a:r>
          </a:p>
          <a:p>
            <a:pPr>
              <a:spcBef>
                <a:spcPts val="300"/>
              </a:spcBef>
              <a:defRPr sz="1300" b="1">
                <a:solidFill>
                  <a:srgbClr val="002F5E"/>
                </a:solidFill>
              </a:defRPr>
            </a:pPr>
            <a:r>
              <a:t>Kerangka Kerja Dr. Tigor Franky</a:t>
            </a:r>
          </a:p>
          <a:p>
            <a:pPr>
              <a:spcBef>
                <a:spcPts val="600"/>
              </a:spcBef>
              <a:defRPr sz="919">
                <a:solidFill>
                  <a:srgbClr val="1E293B"/>
                </a:solidFill>
              </a:defRPr>
            </a:pPr>
            <a:r>
              <a:t>• Layer 1: Sensing &amp; Capture</a:t>
            </a:r>
            <a:br/>
            <a:r>
              <a:t>  26 Item hardware (kamera OCR, timbangan 80t, RFID UHF, twistlock, DGPS RTK).</a:t>
            </a:r>
            <a:br/>
            <a:br/>
            <a:r>
              <a:t>• Layer 2: Connectivity Protocols</a:t>
            </a:r>
            <a:br/>
            <a:r>
              <a:t>  Wi-Fi 7, 4G LTE, LoRaWAN, RS-232, TCP/IP.</a:t>
            </a:r>
            <a:br/>
            <a:br/>
            <a:r>
              <a:t>• Layer 3: Application Systems (Core YMS)</a:t>
            </a:r>
            <a:br/>
            <a:r>
              <a:t>  Software YMS, 3D WebGL Engine, Stacking Rules, dan Terminal Tariff Engine.</a:t>
            </a:r>
            <a:br/>
            <a:br/>
            <a:r>
              <a:t>• Layer 4: Integration Protocols</a:t>
            </a:r>
            <a:br/>
            <a:r>
              <a:t>  REST API, JSON Payload, CEISA 4.0 Bea Cukai, SAKA PT KAI, dan Odoo ERP.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9164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NILAI STRATEGIS SOFTWARE</a:t>
            </a:r>
          </a:p>
          <a:p>
            <a:pPr>
              <a:spcBef>
                <a:spcPts val="300"/>
              </a:spcBef>
              <a:defRPr sz="1300" b="1">
                <a:solidFill>
                  <a:srgbClr val="002F5E"/>
                </a:solidFill>
              </a:defRPr>
            </a:pPr>
            <a:r>
              <a:t>Otak Pengolah Data Mentah</a:t>
            </a:r>
          </a:p>
          <a:p>
            <a:pPr>
              <a:spcBef>
                <a:spcPts val="600"/>
              </a:spcBef>
              <a:defRPr sz="919">
                <a:solidFill>
                  <a:srgbClr val="1E293B"/>
                </a:solidFill>
              </a:defRPr>
            </a:pPr>
            <a:r>
              <a:t>• Menjawab Arahan Dosen:</a:t>
            </a:r>
            <a:br/>
            <a:r>
              <a:t>  Membuktikan bagaimana software menerima data mentah hardware dan mengolahnya menjadi kecerdasan operasional.</a:t>
            </a:r>
            <a:br/>
            <a:br/>
            <a:r>
              <a:t>• Transformasi Nilai Bisnis:</a:t>
            </a:r>
            <a:br/>
            <a:r>
              <a:t>  1. Mengubah sinyal bobot ➔ Status SOLAS VGM.</a:t>
            </a:r>
            <a:br/>
            <a:r>
              <a:t>  2. Mengubah koordinat DGPS ➔ Slot Blok-Bay-Row-Tier.</a:t>
            </a:r>
            <a:br/>
            <a:r>
              <a:t>  3. Mengubah pelepasan boks ➔ Tagihan Lo-Lo Rp 250rb.</a:t>
            </a:r>
            <a:br/>
            <a:r>
              <a:t>  4. Mengubah masa inap ➔ Audit dwell time &amp; heatmap.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468112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B45309"/>
                </a:solidFill>
              </a:defRPr>
            </a:pPr>
            <a:r>
              <a:t>💻 LIVE DEMO WEB: STRUKTUR DASBOR &amp; 4 KLUSTER MENU</a:t>
            </a:r>
          </a:p>
          <a:p>
            <a:pPr>
              <a:spcBef>
                <a:spcPts val="100"/>
              </a:spcBef>
              <a:defRPr sz="850">
                <a:solidFill>
                  <a:srgbClr val="1E293B"/>
                </a:solidFill>
              </a:defRPr>
            </a:pPr>
            <a:r>
              <a:t>Buka web browser di dashboard.php. Tunjukkan 4 kluster navigasi sidebar: Eksekutif &amp; Visualisasi, Operasional Utama (Core YMS), Fasilitas Khusus &amp; Pabean, serta Komersial &amp; Sistem.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300"/>
              </a:spcBef>
              <a:defRPr sz="1900" b="1">
                <a:solidFill>
                  <a:srgbClr val="002F5E"/>
                </a:solidFill>
              </a:defRPr>
            </a:pPr>
            <a:r>
              <a:t>Arsitektur Teknologi Software: Decoupled Stack &amp; Virtual IoT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Conclusion Supply Chain Consultant — CIDP 35 Ha | Presentasi &amp; Skenario Live Demo Web                    Slide 3 of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3657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FILOSOFI DESAIN ARSITEKTUR</a:t>
            </a:r>
          </a:p>
          <a:p>
            <a:pPr>
              <a:spcBef>
                <a:spcPts val="300"/>
              </a:spcBef>
              <a:defRPr sz="1300" b="1">
                <a:solidFill>
                  <a:srgbClr val="002F5E"/>
                </a:solidFill>
              </a:defRPr>
            </a:pPr>
            <a:r>
              <a:t>Decoupled Architecture &amp; Virtual Sandbox</a:t>
            </a:r>
          </a:p>
          <a:p>
            <a:pPr>
              <a:spcBef>
                <a:spcPts val="600"/>
              </a:spcBef>
              <a:defRPr sz="919">
                <a:solidFill>
                  <a:srgbClr val="1E293B"/>
                </a:solidFill>
              </a:defRPr>
            </a:pPr>
            <a:r>
              <a:t>• Mengapa Harus Decoupled (Terpisah)?</a:t>
            </a:r>
            <a:br/>
            <a:r>
              <a:t>  Software YMS tidak pernah mengikatkan diri langsung ke kabel fisik sensor lapangan. Komunikasi selalu dijembatani oleh IoT Edge Gateway berbasis standar REST API &amp; JSON Payload.</a:t>
            </a:r>
            <a:br/>
            <a:br/>
            <a:r>
              <a:t>• Uji Coba Virtual Sandbox Standar Enterprise:</a:t>
            </a:r>
            <a:br/>
            <a:r>
              <a:t>  Dalam industri maritim dunia (misal Navis N4), software selalu diuji menggunakan Virtual Simulator Payload. Struktur JSON yang kami uji menggunakan Postman 100% identik dengan sinyal gateway fisik Advantech nantinya.</a:t>
            </a:r>
            <a:br/>
            <a:br/>
            <a:r>
              <a:t>• Transisi Plug-and-Play ke Lapangan:</a:t>
            </a:r>
            <a:br/>
            <a:r>
              <a:t>  Saat hardware fisik terpasang di terminal Cikarang, alat tinggal menembak endpoint API yang sama tanpa mengubah 1 baris kode software YMS!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170B9"/>
                </a:solidFill>
              </a:defRPr>
            </a:pPr>
            <a:r>
              <a:t>KOMPONEN SOFTWARE &amp; LIBRARY LENGKAP</a:t>
            </a:r>
          </a:p>
          <a:p>
            <a:pPr>
              <a:spcBef>
                <a:spcPts val="300"/>
              </a:spcBef>
              <a:defRPr sz="1300" b="1">
                <a:solidFill>
                  <a:srgbClr val="002F5E"/>
                </a:solidFill>
              </a:defRPr>
            </a:pPr>
            <a:r>
              <a:t>Stack Teknologi yang Digunakan di Proyek</a:t>
            </a:r>
          </a:p>
          <a:p>
            <a:pPr>
              <a:spcBef>
                <a:spcPts val="500"/>
              </a:spcBef>
              <a:defRPr sz="850">
                <a:solidFill>
                  <a:srgbClr val="1E293B"/>
                </a:solidFill>
              </a:defRPr>
            </a:pPr>
            <a:r>
              <a:t>• Backend &amp; DB: PHP 8.2 Enterprise Engine dengan PDO MySQL (Prepared Statements, ACID Transactions, Zero SQL Injection), MySQL 8.0 InnoDB.</a:t>
            </a:r>
            <a:br/>
            <a:r>
              <a:t>• 3D Digital Twin: Three.js r128 (WebGL 60 FPS), OrbitControls 360°, Tween.js untuk animasi kinematik derek, Raycaster 3D Inspector.</a:t>
            </a:r>
            <a:br/>
            <a:r>
              <a:t>• 2D GIS &amp; Denah: Leaflet.js v1.9 untuk denah terminal 35 Ha dan plotting GPS armada.</a:t>
            </a:r>
            <a:br/>
            <a:r>
              <a:t>• Frontend UI/UX: Tailwind CSS 3.4, Vanilla ES6 JS, Google Font Plus Jakarta Sans.</a:t>
            </a:r>
            <a:br/>
            <a:r>
              <a:t>• Analitik &amp; Visual: Chart.js 4.4 untuk tren gate, okupansi yard, dan pendapatan.</a:t>
            </a:r>
            <a:br/>
            <a:r>
              <a:t>• Dokumen &amp; Pass: QRCode.js untuk generasi e-Gate Pass, export-utils.js (Excel/PDF).</a:t>
            </a:r>
            <a:br/>
            <a:r>
              <a:t>• Testing &amp; Mocking: Postman v11 API Suite untuk otomasi pengujian asersi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468112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B45309"/>
                </a:solidFill>
              </a:defRPr>
            </a:pPr>
            <a:r>
              <a:t>💻 LIVE DEMO WEB: PENGATURAN GLOBAL &amp; KONEKTIVITAS SISTEM</a:t>
            </a:r>
          </a:p>
          <a:p>
            <a:pPr>
              <a:spcBef>
                <a:spcPts val="100"/>
              </a:spcBef>
              <a:defRPr sz="850">
                <a:solidFill>
                  <a:srgbClr val="1E293B"/>
                </a:solidFill>
              </a:defRPr>
            </a:pPr>
            <a:r>
              <a:t>Buka menu Pengaturan Global (dashboard.php?page=settings). Tunjukkan status live basis data MySQL PDO, parameter terminal 35 Ha, dan matriks penanggung jawab tim.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300"/>
              </a:spcBef>
              <a:defRPr sz="1900" b="1">
                <a:solidFill>
                  <a:srgbClr val="002F5E"/>
                </a:solidFill>
              </a:defRPr>
            </a:pPr>
            <a:r>
              <a:t>Pipeline Ingestion Data: Bagaimana Software Menerima Sinyal 11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Conclusion Supply Chain Consultant — CIDP 35 Ha | Presentasi &amp; Skenario Live Demo Web                    Slide 4 of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KLASTER 1: OTOMASI GERBANG</a:t>
            </a:r>
          </a:p>
          <a:p>
            <a:pPr>
              <a:spcBef>
                <a:spcPts val="200"/>
              </a:spcBef>
              <a:defRPr sz="1250" b="1">
                <a:solidFill>
                  <a:srgbClr val="002F5E"/>
                </a:solidFill>
              </a:defRPr>
            </a:pPr>
            <a:r>
              <a:t>Ingestion 6 Hardware Gate</a:t>
            </a:r>
          </a:p>
          <a:p>
            <a:pPr>
              <a:spcBef>
                <a:spcPts val="500"/>
              </a:spcBef>
              <a:defRPr sz="850">
                <a:solidFill>
                  <a:srgbClr val="1E293B"/>
                </a:solidFill>
              </a:defRPr>
            </a:pPr>
            <a:r>
              <a:t>• Kamera ANPR (#1): Mengirim string plat nomor via TCP/IP HTTP POST.</a:t>
            </a:r>
            <a:br/>
            <a:r>
              <a:t>• Kamera OCR (#2): Memancarkan kode ISO 6346 boks via socket ethernet.</a:t>
            </a:r>
            <a:br/>
            <a:r>
              <a:t>• Timbangan 80t (#6): Stream berat bruto kendaraan via serial RS-232 Modbus RTU.</a:t>
            </a:r>
            <a:br/>
            <a:r>
              <a:t>• RFID Reader 20m (#7): Mengirim tag ID supir via Wiegand-34 interface.</a:t>
            </a:r>
            <a:br/>
            <a:r>
              <a:t>• Edge AI PC (#18): Mengagregasi sensor gerbang menjadi 1 payload JSON ke endpoint YMS.</a:t>
            </a:r>
            <a:br/>
            <a:r>
              <a:t>• LED Display (#10): Menerima perintah serial untuk menampilkan instruksi blok penumpukan.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3657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9164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170B9"/>
                </a:solidFill>
              </a:defRPr>
            </a:pPr>
            <a:r>
              <a:t>KLASTER 2: ALAT BERAT &amp; YARD</a:t>
            </a:r>
          </a:p>
          <a:p>
            <a:pPr>
              <a:spcBef>
                <a:spcPts val="200"/>
              </a:spcBef>
              <a:defRPr sz="1250" b="1">
                <a:solidFill>
                  <a:srgbClr val="002F5E"/>
                </a:solidFill>
              </a:defRPr>
            </a:pPr>
            <a:r>
              <a:t>Ingestion Telemetri Derek</a:t>
            </a:r>
          </a:p>
          <a:p>
            <a:pPr>
              <a:spcBef>
                <a:spcPts val="500"/>
              </a:spcBef>
              <a:defRPr sz="850">
                <a:solidFill>
                  <a:srgbClr val="1E293B"/>
                </a:solidFill>
              </a:defRPr>
            </a:pPr>
            <a:r>
              <a:t>• DGPS RTK Receiver (#21):</a:t>
            </a:r>
            <a:br/>
            <a:r>
              <a:t>  Mengirim koordinat NMEA-0183 ($GNGGA) akurasi sentimeter (&lt;2 cm) dari boom Reach Stacker.</a:t>
            </a:r>
            <a:br/>
            <a:br/>
            <a:r>
              <a:t>• Spreader Twistlock Sensor (#22):</a:t>
            </a:r>
            <a:br/>
            <a:r>
              <a:t>  Mengirim status pin hidrolik via bus CANopen (0 = UNLOCKED, 1 = LOCKED) dan load cell tonase.</a:t>
            </a:r>
            <a:br/>
            <a:br/>
            <a:r>
              <a:t>• Logika Perkawinan Sinyal:</a:t>
            </a:r>
            <a:br/>
            <a:r>
              <a:t>  Software mendeteksi perubahan LOCKED ➔ UNLOCKED sebagai penanda mutlak pelepasan kontainer di yard, mengunci koordinat DGPS detik itu juga!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9164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33EA"/>
                </a:solidFill>
              </a:defRPr>
            </a:pPr>
            <a:r>
              <a:t>KLASTER 3, 4, &amp; 5: FASILITAS KHUSUS</a:t>
            </a:r>
          </a:p>
          <a:p>
            <a:pPr>
              <a:spcBef>
                <a:spcPts val="200"/>
              </a:spcBef>
              <a:defRPr sz="1250" b="1">
                <a:solidFill>
                  <a:srgbClr val="002F5E"/>
                </a:solidFill>
              </a:defRPr>
            </a:pPr>
            <a:r>
              <a:t>Reefer, Rel KA, &amp; E-Seal</a:t>
            </a:r>
          </a:p>
          <a:p>
            <a:pPr>
              <a:spcBef>
                <a:spcPts val="500"/>
              </a:spcBef>
              <a:defRPr sz="850">
                <a:solidFill>
                  <a:srgbClr val="1E293B"/>
                </a:solidFill>
              </a:defRPr>
            </a:pPr>
            <a:r>
              <a:t>• Smart Reefer Socket (#23):</a:t>
            </a:r>
            <a:br/>
            <a:r>
              <a:t>  Ingestion arus ampere, daya kWh, dan suhu pendingin kompresor (-18°C) via LoRaWAN/Modbus setiap 5 detik.</a:t>
            </a:r>
            <a:br/>
            <a:br/>
            <a:r>
              <a:t>• Rail Axle Counter (#25):</a:t>
            </a:r>
            <a:br/>
            <a:r>
              <a:t>  Ingestion pulsa roda kereta dari sensor leher rel Frauscher, dikonversi menjadi hitungan gerbong.</a:t>
            </a:r>
            <a:br/>
            <a:br/>
            <a:r>
              <a:t>• Smart E-Seal GPS (#26):</a:t>
            </a:r>
            <a:br/>
            <a:r>
              <a:t>  Ingestion koordinat GPS rute Priok-CIDP dan status loop kawat segel via MQTT jaringan 4G.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468112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B45309"/>
                </a:solidFill>
              </a:defRPr>
            </a:pPr>
            <a:r>
              <a:t>💻 LIVE DEMO WEB: SIMULASI GERBANG &amp; TELEMETRI SENSOR LAPANGAN</a:t>
            </a:r>
          </a:p>
          <a:p>
            <a:pPr>
              <a:spcBef>
                <a:spcPts val="100"/>
              </a:spcBef>
              <a:defRPr sz="850">
                <a:solidFill>
                  <a:srgbClr val="1E293B"/>
                </a:solidFill>
              </a:defRPr>
            </a:pPr>
            <a:r>
              <a:t>Buka menu Manajemen Gate (dashboard.php?page=gate). Tunjukkan Tab 1: Jalankan simulasi Skenario Truk 1 (40HC) &amp; Skenario 3 (Overweight Alert), lihat live feed ANPR, OCR, VGM, &amp; LED. Lalu buka Tab 3: Tunjukkan telemetri IoT Reach Stacker, Reefer, Siding KA, &amp; E-Seal.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300"/>
              </a:spcBef>
              <a:defRPr sz="1900" b="1">
                <a:solidFill>
                  <a:srgbClr val="002F5E"/>
                </a:solidFill>
              </a:defRPr>
            </a:pPr>
            <a:r>
              <a:t>Core Engine 1: Dynamic Yard Allocation &amp; 3D Stacking Matrix (Bay-Row-Tier)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Conclusion Supply Chain Consultant — CIDP 35 Ha | Presentasi &amp; Skenario Live Demo Web                    Slide 5 of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3657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FOKUS EVALUASI SILABUS TOPIK 7</a:t>
            </a:r>
          </a:p>
          <a:p>
            <a:pPr>
              <a:spcBef>
                <a:spcPts val="300"/>
              </a:spcBef>
              <a:defRPr sz="1300" b="1">
                <a:solidFill>
                  <a:srgbClr val="002F5E"/>
                </a:solidFill>
              </a:defRPr>
            </a:pPr>
            <a:r>
              <a:t>Algoritma Pembaruan Posisi Stacking Yard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</a:defRPr>
            </a:pPr>
            <a:r>
              <a:t>• Transformasi Koordinat Spasial:</a:t>
            </a:r>
            <a:br/>
            <a:r>
              <a:t>  Mengonversi sinyal DGPS satelit mentah (X, Y, Z) menjadi matriks standar terminal peti kemas dunia:</a:t>
            </a:r>
            <a:br/>
            <a:r>
              <a:t>  Block [A - E] ➔ Bay [01 - 12] ➔ Row [01 - 04] ➔ Tier [01 - 04].</a:t>
            </a:r>
            <a:br/>
            <a:br/>
            <a:r>
              <a:t>• Aturan Penumpukan Cerdas (Stacking Rules):</a:t>
            </a:r>
            <a:br/>
            <a:r>
              <a:t>  1. Heavy-on-Bottom Rule: Peti kemas bermuatan berat (Laden 25-32 ton) wajib di Tier 1 &amp; 2; boks kosong (Empty) di Tier 3 &amp; 4.</a:t>
            </a:r>
            <a:br/>
            <a:r>
              <a:t>  2. Anti-Overhang Check: Kontainer 40ft dilarang ditumpuk di atas kontainer 20ft.</a:t>
            </a:r>
            <a:br/>
            <a:r>
              <a:t>  3. Segregasi Kelas Bahaya: Kontainer DG otomatis dialokasikan ke Blok DG terisolasi.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LOGIKA VALIDASI SISTEM</a:t>
            </a:r>
          </a:p>
          <a:p>
            <a:pPr>
              <a:spcBef>
                <a:spcPts val="300"/>
              </a:spcBef>
              <a:defRPr sz="1300" b="1">
                <a:solidFill>
                  <a:srgbClr val="002F5E"/>
                </a:solidFill>
              </a:defRPr>
            </a:pPr>
            <a:r>
              <a:t>Deteksi Tabrakan Slot &amp; Sinkronisasi Atomik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</a:defRPr>
            </a:pPr>
            <a:r>
              <a:t>• Deteksi Tabrakan Slot (Collision Prevention):</a:t>
            </a:r>
            <a:br/>
            <a:r>
              <a:t>  Software memvalidasi ketersediaan slot sebelum eksekusi:</a:t>
            </a:r>
            <a:br/>
            <a:r>
              <a:t>  SELECT id FROM containers WHERE block=? AND bay=? AND row=? AND tier=? AND status='in_yard';</a:t>
            </a:r>
            <a:br/>
            <a:r>
              <a:t>  Jika terisi, perintah relokasi ditolak demi keamanan!</a:t>
            </a:r>
            <a:br/>
            <a:br/>
            <a:r>
              <a:t>• Transaksi Basis Data Atomik (ACID):</a:t>
            </a:r>
            <a:br/>
            <a:r>
              <a:t>  1. Update koordinat kontainer.</a:t>
            </a:r>
            <a:br/>
            <a:r>
              <a:t>  2. Pelepasan status alat berat Reach Stacker.</a:t>
            </a:r>
            <a:br/>
            <a:r>
              <a:t>  3. Pencatatan audit trail &amp; biaya Lo-Lo Rp 250.000 ke tabel yard_events.</a:t>
            </a:r>
            <a:br/>
            <a:br/>
            <a:r>
              <a:t>• Sinkronisasi Seketika ke WebGL 3D:</a:t>
            </a:r>
            <a:br/>
            <a:r>
              <a:t>  Data hasil mutasi database langsung memicu event listener Three.js untuk memindahkan mesh 3D kontainer secara halus.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468112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B45309"/>
                </a:solidFill>
              </a:defRPr>
            </a:pPr>
            <a:r>
              <a:t>💻 LIVE DEMO WEB: PANEL SIMULASI 3D VIRTUAL TERMINAL</a:t>
            </a:r>
          </a:p>
          <a:p>
            <a:pPr>
              <a:spcBef>
                <a:spcPts val="100"/>
              </a:spcBef>
              <a:defRPr sz="850">
                <a:solidFill>
                  <a:srgbClr val="1E293B"/>
                </a:solidFill>
              </a:defRPr>
            </a:pPr>
            <a:r>
              <a:t>Buka menu Panel Simulasi IoT (dashboard.php?page=simulator). Klik tombol 'Pindahkan Box (RS)', pilih slot tujuan. Tunjukkan animasi crane Three.js mengangkat boks, update koordinat DB, dan klik kontainer 3D untuk inspeksi metadata Raycasting.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300"/>
              </a:spcBef>
              <a:defRPr sz="1900" b="1">
                <a:solidFill>
                  <a:srgbClr val="002F5E"/>
                </a:solidFill>
              </a:defRPr>
            </a:pPr>
            <a:r>
              <a:t>Core Engine 2: Otomasi Gerbang, Kalkulasi VGM SOLAS &amp; e-Gate Pass (&lt;28 Detik)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Conclusion Supply Chain Consultant — CIDP 35 Ha | Presentasi &amp; Skenario Live Demo Web                    Slide 6 of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170B9"/>
                </a:solidFill>
              </a:defRPr>
            </a:pPr>
            <a:r>
              <a:t>TAHAP 1: MATCHING</a:t>
            </a:r>
          </a:p>
          <a:p>
            <a:pPr>
              <a:spcBef>
                <a:spcPts val="200"/>
              </a:spcBef>
              <a:defRPr sz="1150" b="1">
                <a:solidFill>
                  <a:srgbClr val="002F5E"/>
                </a:solidFill>
              </a:defRPr>
            </a:pPr>
            <a:r>
              <a:t>Data Matching &amp; OCR</a:t>
            </a:r>
          </a:p>
          <a:p>
            <a:pPr>
              <a:spcBef>
                <a:spcPts val="500"/>
              </a:spcBef>
              <a:defRPr sz="850">
                <a:solidFill>
                  <a:srgbClr val="1E293B"/>
                </a:solidFill>
              </a:defRPr>
            </a:pPr>
            <a:r>
              <a:t>• Loop detector memicu ANPR.</a:t>
            </a:r>
            <a:br/>
            <a:r>
              <a:t>• Matching plat nomor truk dengan Odoo Fleet.</a:t>
            </a:r>
            <a:br/>
            <a:r>
              <a:t>• Kamera OCR membaca nomor kontainer ISO 6346 ➔ mencocokkan status Delivery Order (DO) di database.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554480"/>
            <a:ext cx="24688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69164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TAHAP 2: KALKULASI VGM</a:t>
            </a:r>
          </a:p>
          <a:p>
            <a:pPr>
              <a:spcBef>
                <a:spcPts val="200"/>
              </a:spcBef>
              <a:defRPr sz="1150" b="1">
                <a:solidFill>
                  <a:srgbClr val="002F5E"/>
                </a:solidFill>
              </a:defRPr>
            </a:pPr>
            <a:r>
              <a:t>Validasi SOLAS 80 Ton</a:t>
            </a:r>
          </a:p>
          <a:p>
            <a:pPr>
              <a:spcBef>
                <a:spcPts val="500"/>
              </a:spcBef>
              <a:defRPr sz="850">
                <a:solidFill>
                  <a:srgbClr val="1E293B"/>
                </a:solidFill>
              </a:defRPr>
            </a:pPr>
            <a:r>
              <a:t>• Timbangan membaca berat kotor.</a:t>
            </a:r>
            <a:br/>
            <a:r>
              <a:t>• Net VGM = Gross - Tare.</a:t>
            </a:r>
            <a:br/>
            <a:r>
              <a:t>• Lolos jika Net &lt;= 34 ton (VERIFIED_PASS); Tolak jika overload (&gt;34t).</a:t>
            </a:r>
            <a:br/>
            <a:r>
              <a:t>• Membebankan Jasa Timbang VGM Rp 50.000.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24688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69164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366F1"/>
                </a:solidFill>
              </a:defRPr>
            </a:pPr>
            <a:r>
              <a:t>TAHAP 3: ALOKASI BLOK</a:t>
            </a:r>
          </a:p>
          <a:p>
            <a:pPr>
              <a:spcBef>
                <a:spcPts val="200"/>
              </a:spcBef>
              <a:defRPr sz="1150" b="1">
                <a:solidFill>
                  <a:srgbClr val="002F5E"/>
                </a:solidFill>
              </a:defRPr>
            </a:pPr>
            <a:r>
              <a:t>Smart Routing Engine</a:t>
            </a:r>
          </a:p>
          <a:p>
            <a:pPr>
              <a:spcBef>
                <a:spcPts val="500"/>
              </a:spcBef>
              <a:defRPr sz="850">
                <a:solidFill>
                  <a:srgbClr val="1E293B"/>
                </a:solidFill>
              </a:defRPr>
            </a:pPr>
            <a:r>
              <a:t>• Memeriksa jenis muatan: Dry ➔ Blok A/B/C; Reefer ➔ Blok Reefer; DG ➔ Blok Bahaya.</a:t>
            </a:r>
            <a:br/>
            <a:r>
              <a:t>• Memilih slot kosong terdekat guna menghemat konsumsi BBM solar crane.</a:t>
            </a:r>
            <a:br/>
            <a:r>
              <a:t>• Teks LED: 'SILAHKAN MASUK B04'.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554480"/>
            <a:ext cx="24688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69164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333EA"/>
                </a:solidFill>
              </a:defRPr>
            </a:pPr>
            <a:r>
              <a:t>TAHAP 4: OTOMASI PASS</a:t>
            </a:r>
          </a:p>
          <a:p>
            <a:pPr>
              <a:spcBef>
                <a:spcPts val="200"/>
              </a:spcBef>
              <a:defRPr sz="1150" b="1">
                <a:solidFill>
                  <a:srgbClr val="002F5E"/>
                </a:solidFill>
              </a:defRPr>
            </a:pPr>
            <a:r>
              <a:t>E-Gate Pass &amp; Barrier</a:t>
            </a:r>
          </a:p>
          <a:p>
            <a:pPr>
              <a:spcBef>
                <a:spcPts val="500"/>
              </a:spcBef>
              <a:defRPr sz="850">
                <a:solidFill>
                  <a:srgbClr val="1E293B"/>
                </a:solidFill>
              </a:defRPr>
            </a:pPr>
            <a:r>
              <a:t>• Edge PC memicu relay mengangkat palang gerbang (1.2 detik).</a:t>
            </a:r>
            <a:br/>
            <a:r>
              <a:t>• QRCode.js Engine: Menerbitkan tiket digital e-Gate Pass berkode QR (format GP-YYYYMMDD-XXXX) ke supir.</a:t>
            </a:r>
            <a:br/>
            <a:r>
              <a:t>• Transaksi selesai dalam 28 detik!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468112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B45309"/>
                </a:solidFill>
              </a:defRPr>
            </a:pPr>
            <a:r>
              <a:t>💻 LIVE DEMO WEB: PELACAKAN KONTAINER &amp; MANAJEMEN TRUCKING</a:t>
            </a:r>
          </a:p>
          <a:p>
            <a:pPr>
              <a:spcBef>
                <a:spcPts val="100"/>
              </a:spcBef>
              <a:defRPr sz="850">
                <a:solidFill>
                  <a:srgbClr val="1E293B"/>
                </a:solidFill>
              </a:defRPr>
            </a:pPr>
            <a:r>
              <a:t>Buka menu Pelacakan Kontainer (dashboard.php?page=kontainer) &amp; Manajemen Trucking (page=trucking). Tunjukkan daftar nomor ISO 6346, tag RFID, status kepabeanan SPPB, dan tiket e-Gate Pass berkode QR hasil generasi QRCode.js.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300"/>
              </a:spcBef>
              <a:defRPr sz="1900" b="1">
                <a:solidFill>
                  <a:srgbClr val="002F5E"/>
                </a:solidFill>
              </a:defRPr>
            </a:pPr>
            <a:r>
              <a:t>Business Intelligence &amp; Integrasi Finansial ERP Odoo (Zero Revenue Leakage)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Conclusion Supply Chain Consultant — CIDP 35 Ha | Presentasi &amp; Skenario Live Demo Web                    Slide 7 of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BUSINESS INTELLIGENCE OPERASIONAL</a:t>
            </a:r>
          </a:p>
          <a:p>
            <a:pPr>
              <a:spcBef>
                <a:spcPts val="300"/>
              </a:spcBef>
              <a:defRPr sz="1300" b="1">
                <a:solidFill>
                  <a:srgbClr val="002F5E"/>
                </a:solidFill>
              </a:defRPr>
            </a:pPr>
            <a:r>
              <a:t>Transformasi Data Mentah Jadi Wawasan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1. Audit Dwell Time Real-Time:</a:t>
            </a:r>
            <a:br/>
            <a:r>
              <a:t>Menghitung masa inap: Dwell = NOW() - Gate_In_Time.</a:t>
            </a:r>
            <a:br/>
            <a:r>
              <a:t>Audit 3 Masa Tarif: Masa I Free (1-3 hari), Masa II Rp 45rb/hari (4-10 hari), Masa III Rp 90rb/hari (&gt;10 hari). Heatmap yard menyoroti boks overstay agar rata-rata dwell time ditekan ke 2.1 hari!</a:t>
            </a:r>
            <a:br/>
            <a:br/>
            <a:r>
              <a:t>2. Okupansi Blok Yard (Dynamic Load Balancing):</a:t>
            </a:r>
            <a:br/>
            <a:r>
              <a:t>Menghitung % keterisian 200 slot. Jika Blok A &gt;80%, sistem otomatis memindahkan alokasi kontainer baru ke Blok B/C.</a:t>
            </a:r>
            <a:br/>
            <a:br/>
            <a:r>
              <a:t>3. Produktivitas Alat Berat (OEE):</a:t>
            </a:r>
            <a:br/>
            <a:r>
              <a:t>Melacak Moves per Hour (&gt;22 box/jam) &amp; konsumsi solar per gerakan kontainer.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36576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EVENT-DRIVEN ERP ODOO SYNC</a:t>
            </a:r>
          </a:p>
          <a:p>
            <a:pPr>
              <a:spcBef>
                <a:spcPts val="300"/>
              </a:spcBef>
              <a:defRPr sz="1300" b="1">
                <a:solidFill>
                  <a:srgbClr val="002F5E"/>
                </a:solidFill>
              </a:defRPr>
            </a:pPr>
            <a:r>
              <a:t>Akuntabilitas Finansial Tanpa Bocor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Setiap mutasi fisik otomatis menjadi entri jurnal finansial Odoo:</a:t>
            </a:r>
            <a:br/>
            <a:r>
              <a:t>• Truk Masuk Timbangan ➔ Jasa VGM SOLAS Rp 50.000.</a:t>
            </a:r>
            <a:br/>
            <a:r>
              <a:t>• RS Angkat/Lepas Box ➔ Jasa Lift-Off / Lo-Lo Rp 250.000.</a:t>
            </a:r>
            <a:br/>
            <a:r>
              <a:t>• Inap Yard Hari Ke-5 ➔ Jasa Penumpukan Masa II Rp 45.000/hari.</a:t>
            </a:r>
            <a:br/>
            <a:r>
              <a:t>• Steker Reefer Aktif ➔ Jasa Listrik Dingin Rp 250.000 / shift.</a:t>
            </a:r>
            <a:br/>
            <a:r>
              <a:t>• Alih Muat Kereta Api ➔ Jasa Rail Stevedoring Rp 350.000 / box.</a:t>
            </a:r>
            <a:br/>
            <a:br/>
            <a:r>
              <a:t>Prinsip Zero Revenue Leakage:</a:t>
            </a:r>
            <a:br/>
            <a:r>
              <a:t>Tidak ada jasa fisik yang luput dari penagihan. Semua terkonversi menjadi piutang dan e-Faktur resmi di Odoo Invoicing!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468112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B45309"/>
                </a:solidFill>
              </a:defRPr>
            </a:pPr>
            <a:r>
              <a:t>💻 LIVE DEMO WEB: DASBOR BERANDA EKSEKUTIF &amp; BILLING FINANSIAL</a:t>
            </a:r>
          </a:p>
          <a:p>
            <a:pPr>
              <a:spcBef>
                <a:spcPts val="100"/>
              </a:spcBef>
              <a:defRPr sz="850">
                <a:solidFill>
                  <a:srgbClr val="1E293B"/>
                </a:solidFill>
              </a:defRPr>
            </a:pPr>
            <a:r>
              <a:t>Buka menu Beranda Eksekutif (dashboard.php?page=beranda). Tunjukkan 6 kartu KPI ringkas, grafik tren gate Chart.js, gauge utilisasi yard (63%), rata-rata dwell time (2.1 hari), dan ringkasan gross revenue harian.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170B9"/>
                </a:solidFill>
              </a:defRPr>
            </a:pPr>
            <a:r>
              <a:t>TOPIK 7: INLAND CONTAINER DEPOT (ICD) &amp; DRY PORT MANAGEMENT</a:t>
            </a:r>
          </a:p>
          <a:p>
            <a:pPr>
              <a:spcBef>
                <a:spcPts val="300"/>
              </a:spcBef>
              <a:defRPr sz="1900" b="1">
                <a:solidFill>
                  <a:srgbClr val="002F5E"/>
                </a:solidFill>
              </a:defRPr>
            </a:pPr>
            <a:r>
              <a:t>Cheat Sheet Panduan Live Demo Web &amp; Kesimpulan Nilai Tambah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Conclusion Supply Chain Consultant — CIDP 35 Ha | Presentasi &amp; Skenario Live Demo Web                    Slide 8 of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685800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CHEAT SHEET PANDUAN LIVE DEMO WEB (UNTUK PRESENTER)</a:t>
            </a:r>
          </a:p>
          <a:p>
            <a:pPr>
              <a:spcBef>
                <a:spcPts val="200"/>
              </a:spcBef>
              <a:defRPr sz="1200" b="1">
                <a:solidFill>
                  <a:srgbClr val="002F5E"/>
                </a:solidFill>
              </a:defRPr>
            </a:pPr>
            <a:r>
              <a:t>Matriks Rujukan Saat Demonstrasi Langsung di Depan Dosen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Alur Live Demo Berurutan:</a:t>
            </a:r>
          </a:p>
          <a:p>
            <a:pPr>
              <a:spcBef>
                <a:spcPts val="200"/>
              </a:spcBef>
              <a:defRPr sz="819">
                <a:solidFill>
                  <a:srgbClr val="1E293B"/>
                </a:solidFill>
              </a:defRPr>
            </a:pPr>
            <a:r>
              <a:t>• 1. Beranda Eksekutif [page=beranda]:</a:t>
            </a:r>
            <a:br/>
            <a:r>
              <a:t>   Tunjukkan rata-rata Dwell 2.1 hari &amp; Gross Revenue Rp 47.2M (Chart.js, KPI Cards, Dwell Meter)</a:t>
            </a:r>
          </a:p>
          <a:p>
            <a:pPr>
              <a:spcBef>
                <a:spcPts val="200"/>
              </a:spcBef>
              <a:defRPr sz="819">
                <a:solidFill>
                  <a:srgbClr val="1E293B"/>
                </a:solidFill>
              </a:defRPr>
            </a:pPr>
            <a:r>
              <a:t>• 2. Manajemen Gate [page=gate]:</a:t>
            </a:r>
            <a:br/>
            <a:r>
              <a:t>   Jalankan simulasi Truk 1 (Lolos) &amp; Truk 3 (Overweight Alert &gt;34t) (Otomasi 5-Tahap, Timbangan, LED)</a:t>
            </a:r>
          </a:p>
          <a:p>
            <a:pPr>
              <a:spcBef>
                <a:spcPts val="200"/>
              </a:spcBef>
              <a:defRPr sz="819">
                <a:solidFill>
                  <a:srgbClr val="1E293B"/>
                </a:solidFill>
              </a:defRPr>
            </a:pPr>
            <a:r>
              <a:t>• 3. Panel Simulasi 3D [page=simulator]:</a:t>
            </a:r>
            <a:br/>
            <a:r>
              <a:t>   Klik 'Pindahkan Box (RS)', tunjukkan animasi crane &amp; klik boks 3D (Three.js WebGL, Tween.js, Raycaster)</a:t>
            </a:r>
          </a:p>
          <a:p>
            <a:pPr>
              <a:spcBef>
                <a:spcPts val="200"/>
              </a:spcBef>
              <a:defRPr sz="819">
                <a:solidFill>
                  <a:srgbClr val="1E293B"/>
                </a:solidFill>
              </a:defRPr>
            </a:pPr>
            <a:r>
              <a:t>• 4. Pelacakan Kontainer [page=kontainer]:</a:t>
            </a:r>
            <a:br/>
            <a:r>
              <a:t>   Tunjukkan koordinat 3D Bay-Row-Tier &amp; status kepabeanan SPPB (Tabel Kontainer, RFID Tag, GS1 SSCC)</a:t>
            </a:r>
          </a:p>
          <a:p>
            <a:pPr>
              <a:spcBef>
                <a:spcPts val="200"/>
              </a:spcBef>
              <a:defRPr sz="819">
                <a:solidFill>
                  <a:srgbClr val="1E293B"/>
                </a:solidFill>
              </a:defRPr>
            </a:pPr>
            <a:r>
              <a:t>• 5. Manajemen Trucking [page=trucking]:</a:t>
            </a:r>
            <a:br/>
            <a:r>
              <a:t>   Tunjukkan verifikasi berat jembatan timbang &amp; QR Code supir (Armada Truk, Tara/Bruto, e-Pass)</a:t>
            </a:r>
          </a:p>
          <a:p>
            <a:pPr>
              <a:spcBef>
                <a:spcPts val="200"/>
              </a:spcBef>
              <a:defRPr sz="819">
                <a:solidFill>
                  <a:srgbClr val="1E293B"/>
                </a:solidFill>
              </a:defRPr>
            </a:pPr>
            <a:r>
              <a:t>• 6. Lokasi Alat Berat [page=alat]:</a:t>
            </a:r>
            <a:br/>
            <a:r>
              <a:t>   Tunjukkan posisi Reach Stacker RS-01/02/03 &amp; level BBM solar (Radar 2D Terminal, GPS Koordinat)</a:t>
            </a:r>
          </a:p>
          <a:p>
            <a:pPr>
              <a:spcBef>
                <a:spcPts val="200"/>
              </a:spcBef>
              <a:defRPr sz="819">
                <a:solidFill>
                  <a:srgbClr val="1E293B"/>
                </a:solidFill>
              </a:defRPr>
            </a:pPr>
            <a:r>
              <a:t>• 7. Pengaturan Global [page=settings]:</a:t>
            </a:r>
            <a:br/>
            <a:r>
              <a:t>   Tunjukkan status Live DB MySQL &amp; matriks tanggung jawab tim (Koneksi PDO, Parameter 35 Ha)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554480"/>
            <a:ext cx="3657600" cy="4709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17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169164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170B9"/>
                </a:solidFill>
              </a:defRPr>
            </a:pPr>
            <a:r>
              <a:t>4 PILAR NILAI STRATEGIS</a:t>
            </a:r>
          </a:p>
          <a:p>
            <a:pPr>
              <a:spcBef>
                <a:spcPts val="200"/>
              </a:spcBef>
              <a:defRPr sz="1200" b="1">
                <a:solidFill>
                  <a:srgbClr val="002F5E"/>
                </a:solidFill>
              </a:defRPr>
            </a:pPr>
            <a:r>
              <a:t>Keunggulan CIDP YMS</a:t>
            </a:r>
          </a:p>
          <a:p>
            <a:pPr>
              <a:spcBef>
                <a:spcPts val="600"/>
              </a:spcBef>
              <a:defRPr sz="880">
                <a:solidFill>
                  <a:srgbClr val="1E293B"/>
                </a:solidFill>
              </a:defRPr>
            </a:pPr>
            <a:r>
              <a:t>1. Kecepatan Operasional:</a:t>
            </a:r>
            <a:br/>
            <a:r>
              <a:t>Otomasi gate 28 detik &amp; alokasi yard cerdas memangkas dwell time ke 2.1 hari.</a:t>
            </a:r>
            <a:br/>
            <a:br/>
            <a:r>
              <a:t>2. Integritas Data Absolut:</a:t>
            </a:r>
            <a:br/>
            <a:r>
              <a:t>100% data ditangkap otomatis oleh sensor tanpa salah ketik manual.</a:t>
            </a:r>
            <a:br/>
            <a:br/>
            <a:r>
              <a:t>3. Zero Revenue Leakage:</a:t>
            </a:r>
            <a:br/>
            <a:r>
              <a:t>Setiap gerakan fisik alat berat langsung tercatat menjadi faktur resmi di ERP Odoo.</a:t>
            </a:r>
            <a:br/>
            <a:br/>
            <a:r>
              <a:t>4. Multimoda Terpadu:</a:t>
            </a:r>
            <a:br/>
            <a:r>
              <a:t>Sinkronisasi mulus truk jalan raya, kereta api logistik, dan kepabeanan DJBC CEISA 4.0.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