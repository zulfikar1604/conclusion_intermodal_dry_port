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177684"/>
            <a:ext cx="7611592" cy="2183524"/>
          </a:xfrm>
          <a:prstGeom prst="rect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7040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TOPIK 7 — INLAND CONTAINER DEPOT (ICD) &amp; DRY PORT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ARSITEKTUR SOFTWARE YARD MANAGEMENT SYSTEM (YMS)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61488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CIDP 35 Ha  |  Decoupled Architecture  |  IoT Ingestion  |  3D Yard  |  ERP Odoo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8932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Conclusion Supply Chain Consultant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45152" y="43891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3769"/>
                </a:solidFill>
                <a:latin typeface="Aptos"/>
              </a:rPr>
              <a:t>3 aliran terminal + 4 layer IT = satu alur keputusan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02 /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914400" cy="50292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33101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4008" cy="123444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719072"/>
            <a:ext cx="3054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01  GOODS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66544"/>
            <a:ext cx="3054096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Pergerakan kontainer di gerbang masuk, jembatan timbang 80t, lapangan penumpukan Blok A-E, hingga gerbong kereta api logistik.</a:t>
            </a:r>
            <a:br>
              <a:rPr lang="id-ID" sz="1100" dirty="0"/>
            </a:b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627632"/>
            <a:ext cx="33101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27632"/>
            <a:ext cx="64008" cy="123444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1719072"/>
            <a:ext cx="3054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02  INFORMATION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066544"/>
            <a:ext cx="3054096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Data instan sensor (OCR, ANPR, DGPS, </a:t>
            </a:r>
            <a:r>
              <a:rPr lang="id-ID" sz="1100" dirty="0" err="1"/>
              <a:t>Twistlock</a:t>
            </a:r>
            <a:r>
              <a:rPr lang="id-ID" sz="1100" dirty="0"/>
              <a:t>, Suhu) yang diolah menjadi koordinat Bay-</a:t>
            </a:r>
            <a:r>
              <a:rPr lang="id-ID" sz="1100" dirty="0" err="1"/>
              <a:t>Row</a:t>
            </a:r>
            <a:r>
              <a:rPr lang="id-ID" sz="1100" dirty="0"/>
              <a:t>-</a:t>
            </a:r>
            <a:r>
              <a:rPr lang="id-ID" sz="1100" dirty="0" err="1"/>
              <a:t>Tier</a:t>
            </a:r>
            <a:r>
              <a:rPr lang="id-ID" sz="1100" dirty="0"/>
              <a:t>.</a:t>
            </a:r>
            <a:br>
              <a:rPr lang="id-ID" sz="1100" dirty="0"/>
            </a:b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36992" y="1627632"/>
            <a:ext cx="33101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36992" y="1627632"/>
            <a:ext cx="64008" cy="123444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1719072"/>
            <a:ext cx="3054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03  FINANCIAL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6544"/>
            <a:ext cx="305409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Penerbitan piutang &amp; e-Faktur jasa terminal (Lo-Lo, penumpukan progresif, </a:t>
            </a:r>
            <a:r>
              <a:rPr lang="id-ID" sz="1100" dirty="0" err="1"/>
              <a:t>reefer</a:t>
            </a:r>
            <a:r>
              <a:rPr lang="id-ID" sz="1100" dirty="0"/>
              <a:t>) ke ERP </a:t>
            </a:r>
            <a:r>
              <a:rPr lang="id-ID" sz="1100" dirty="0" err="1"/>
              <a:t>Odoo</a:t>
            </a:r>
            <a:r>
              <a:rPr lang="id-ID" sz="1100" dirty="0"/>
              <a:t>.</a:t>
            </a: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TAKSONOMI 4-LAYER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20440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520440"/>
            <a:ext cx="64008" cy="132588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61188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3769"/>
                </a:solidFill>
                <a:latin typeface="Aptos"/>
              </a:rPr>
              <a:t>L1  Sensing &amp; 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395" y="3959352"/>
            <a:ext cx="223113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000" dirty="0">
                <a:latin typeface="Aptos" panose="020B0004020202020204" pitchFamily="34" charset="0"/>
              </a:rPr>
              <a:t>26 Item </a:t>
            </a:r>
            <a:r>
              <a:rPr lang="id-ID" sz="1000" dirty="0" err="1">
                <a:latin typeface="Aptos" panose="020B0004020202020204" pitchFamily="34" charset="0"/>
              </a:rPr>
              <a:t>hardware</a:t>
            </a:r>
            <a:r>
              <a:rPr lang="id-ID" sz="1000" dirty="0">
                <a:latin typeface="Aptos" panose="020B0004020202020204" pitchFamily="34" charset="0"/>
              </a:rPr>
              <a:t> (kamera OCR, timbangan 80t, RFID UHF, </a:t>
            </a:r>
            <a:r>
              <a:rPr lang="id-ID" sz="1000" dirty="0" err="1">
                <a:latin typeface="Aptos" panose="020B0004020202020204" pitchFamily="34" charset="0"/>
              </a:rPr>
              <a:t>twistlock</a:t>
            </a:r>
            <a:r>
              <a:rPr lang="id-ID" sz="1000" dirty="0">
                <a:latin typeface="Aptos" panose="020B0004020202020204" pitchFamily="34" charset="0"/>
              </a:rPr>
              <a:t>, DGPS RTK).</a:t>
            </a:r>
            <a:endParaRPr sz="1000" b="0" dirty="0">
              <a:solidFill>
                <a:srgbClr val="50697D"/>
              </a:solidFill>
              <a:latin typeface="Aptos" panose="020B0004020202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01568" y="3520440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01568" y="3520440"/>
            <a:ext cx="64008" cy="1325880"/>
          </a:xfrm>
          <a:prstGeom prst="rect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47872" y="361188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3769"/>
                </a:solidFill>
                <a:latin typeface="Aptos"/>
              </a:rPr>
              <a:t>L2  Connectivity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1588" y="3941064"/>
            <a:ext cx="223113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000" dirty="0" err="1"/>
              <a:t>Wi-Fi</a:t>
            </a:r>
            <a:r>
              <a:rPr lang="id-ID" sz="1000" dirty="0"/>
              <a:t> 7, 4G LTE, </a:t>
            </a:r>
            <a:r>
              <a:rPr lang="id-ID" sz="1000" dirty="0" err="1"/>
              <a:t>LoRaWAN</a:t>
            </a:r>
            <a:r>
              <a:rPr lang="id-ID" sz="1000" dirty="0"/>
              <a:t>, RS-232, TCP/IP.</a:t>
            </a:r>
            <a:br>
              <a:rPr lang="id-ID" sz="1000" dirty="0"/>
            </a:br>
            <a:endParaRPr lang="id-ID" sz="10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44768" y="3520440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44768" y="3520440"/>
            <a:ext cx="64008" cy="132588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361188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3769"/>
                </a:solidFill>
                <a:latin typeface="Aptos"/>
              </a:rPr>
              <a:t>L3 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3959352"/>
            <a:ext cx="223113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dirty="0"/>
              <a:t>Software YMS, 3D WebGL Engine, Stacking Rules, dan Terminal Tariff Engine.</a:t>
            </a:r>
            <a:br>
              <a:rPr lang="en-US" sz="1000" dirty="0"/>
            </a:br>
            <a:endParaRPr sz="10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887968" y="3520440"/>
            <a:ext cx="24871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87968" y="3520440"/>
            <a:ext cx="64008" cy="13258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34272" y="361188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3769"/>
                </a:solidFill>
                <a:latin typeface="Aptos"/>
              </a:rPr>
              <a:t>L4 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959352"/>
            <a:ext cx="22311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000" dirty="0"/>
              <a:t>REST API, JSON </a:t>
            </a:r>
            <a:r>
              <a:rPr lang="id-ID" sz="1000" dirty="0" err="1"/>
              <a:t>Payload</a:t>
            </a:r>
            <a:r>
              <a:rPr lang="id-ID" sz="1000" dirty="0"/>
              <a:t>, CEISA 4.0 Bea Cukai, SAKA PT KAI, dan </a:t>
            </a:r>
            <a:r>
              <a:rPr lang="id-ID" sz="1000" dirty="0" err="1"/>
              <a:t>Odoo</a:t>
            </a:r>
            <a:r>
              <a:rPr lang="id-ID" sz="1000" dirty="0"/>
              <a:t> ERP.</a:t>
            </a:r>
            <a:endParaRPr sz="10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72768" y="516541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NILAI UTAMA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542239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0697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Sinyal</a:t>
            </a:r>
            <a:r>
              <a:rPr dirty="0"/>
              <a:t> </a:t>
            </a:r>
            <a:r>
              <a:rPr dirty="0" err="1"/>
              <a:t>bobot</a:t>
            </a:r>
            <a:r>
              <a:rPr dirty="0"/>
              <a:t> → SOLAS VGM</a:t>
            </a:r>
          </a:p>
          <a:p>
            <a:pPr>
              <a:spcAft>
                <a:spcPts val="200"/>
              </a:spcAft>
              <a:defRPr sz="1100">
                <a:solidFill>
                  <a:srgbClr val="50697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Koordinat</a:t>
            </a:r>
            <a:r>
              <a:rPr dirty="0"/>
              <a:t> DGPS → Block-Bay-Row-Tier</a:t>
            </a:r>
          </a:p>
          <a:p>
            <a:pPr>
              <a:spcAft>
                <a:spcPts val="200"/>
              </a:spcAft>
              <a:defRPr sz="1100">
                <a:solidFill>
                  <a:srgbClr val="50697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Pelepasan</a:t>
            </a:r>
            <a:r>
              <a:rPr dirty="0"/>
              <a:t> </a:t>
            </a:r>
            <a:r>
              <a:rPr dirty="0" err="1"/>
              <a:t>boks</a:t>
            </a:r>
            <a:r>
              <a:rPr dirty="0"/>
              <a:t> → Lo-Lo Rp 250.000</a:t>
            </a:r>
          </a:p>
          <a:p>
            <a:pPr>
              <a:spcAft>
                <a:spcPts val="200"/>
              </a:spcAft>
              <a:defRPr sz="1100">
                <a:solidFill>
                  <a:srgbClr val="50697D"/>
                </a:solidFill>
                <a:latin typeface="Aptos"/>
              </a:defRPr>
            </a:pPr>
            <a:r>
              <a:rPr dirty="0"/>
              <a:t>• Masa </a:t>
            </a:r>
            <a:r>
              <a:rPr dirty="0" err="1"/>
              <a:t>inap</a:t>
            </a:r>
            <a:r>
              <a:rPr dirty="0"/>
              <a:t> → dwell time &amp; heatmap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0680" y="662940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45152" y="53035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3769"/>
                </a:solidFill>
                <a:latin typeface="Aptos"/>
              </a:rPr>
              <a:t>Decoupled stack: aman diuji di sandbox, siap plug-and-play ke lapangan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03 /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64008" cy="132588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2075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67712"/>
            <a:ext cx="20756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697D"/>
                </a:solidFill>
                <a:latin typeface="Aptos"/>
              </a:rPr>
              <a:t>Sensor &amp; kamera
RS-232 / TCP-IP / LoRaWAN</a:t>
            </a:r>
          </a:p>
        </p:txBody>
      </p:sp>
      <p:sp>
        <p:nvSpPr>
          <p:cNvPr id="12" name="Chevron 11"/>
          <p:cNvSpPr/>
          <p:nvPr/>
        </p:nvSpPr>
        <p:spPr>
          <a:xfrm>
            <a:off x="2990088" y="2240280"/>
            <a:ext cx="384048" cy="384048"/>
          </a:xfrm>
          <a:prstGeom prst="chevron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01568" y="182880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1828800"/>
            <a:ext cx="64008" cy="1325880"/>
          </a:xfrm>
          <a:prstGeom prst="rect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920240"/>
            <a:ext cx="2075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EDGE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267712"/>
            <a:ext cx="20756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697D"/>
                </a:solidFill>
                <a:latin typeface="Aptos"/>
              </a:rPr>
              <a:t>Normalisasi payload
REST API + JSON</a:t>
            </a:r>
          </a:p>
        </p:txBody>
      </p:sp>
      <p:sp>
        <p:nvSpPr>
          <p:cNvPr id="17" name="Chevron 16"/>
          <p:cNvSpPr/>
          <p:nvPr/>
        </p:nvSpPr>
        <p:spPr>
          <a:xfrm>
            <a:off x="5733288" y="2240280"/>
            <a:ext cx="384048" cy="384048"/>
          </a:xfrm>
          <a:prstGeom prst="chevron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44768" y="182880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4768" y="1828800"/>
            <a:ext cx="64008" cy="132588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1920240"/>
            <a:ext cx="2075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YMS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267712"/>
            <a:ext cx="20756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697D"/>
                </a:solidFill>
                <a:latin typeface="Aptos"/>
              </a:rPr>
              <a:t>Business rules
DB MySQL + API</a:t>
            </a:r>
          </a:p>
        </p:txBody>
      </p:sp>
      <p:sp>
        <p:nvSpPr>
          <p:cNvPr id="22" name="Chevron 21"/>
          <p:cNvSpPr/>
          <p:nvPr/>
        </p:nvSpPr>
        <p:spPr>
          <a:xfrm>
            <a:off x="8476488" y="2240280"/>
            <a:ext cx="384048" cy="384048"/>
          </a:xfrm>
          <a:prstGeom prst="chevron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887968" y="182880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87968" y="1828800"/>
            <a:ext cx="64008" cy="13258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2" y="1920240"/>
            <a:ext cx="2075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267712"/>
            <a:ext cx="20756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697D"/>
                </a:solidFill>
                <a:latin typeface="Aptos"/>
              </a:rPr>
              <a:t>3D • Dashboard • Odoo
Audit &amp; billing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03320"/>
            <a:ext cx="5074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3703320"/>
            <a:ext cx="64008" cy="132588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3794760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769"/>
                </a:solidFill>
                <a:latin typeface="Aptos"/>
              </a:rPr>
              <a:t>VIRTUAL IOT 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142232"/>
            <a:ext cx="48188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697D"/>
                </a:solidFill>
                <a:latin typeface="Aptos"/>
              </a:rPr>
              <a:t>Postman menguji struktur JSON yang sama dengan payload gateway fisik. Hardware dapat diganti tanpa mengubah inti YMS.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703320"/>
            <a:ext cx="5074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703320"/>
            <a:ext cx="64008" cy="13258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9904" y="3794760"/>
            <a:ext cx="48188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769"/>
                </a:solidFill>
                <a:latin typeface="Aptos"/>
              </a:rPr>
              <a:t>STACK SOFTWARE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142232"/>
            <a:ext cx="4818888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697D"/>
                </a:solidFill>
                <a:latin typeface="Aptos"/>
              </a:rPr>
              <a:t>PHP 8.2 • MySQL 8.0 • Three.js r128 • Leaflet 1.9 • Tailwind 3.4 • Chart.js 4.4 • QRCode.js • Postman v11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413248"/>
            <a:ext cx="1508760" cy="310896"/>
          </a:xfrm>
          <a:prstGeom prst="round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5413248"/>
            <a:ext cx="1508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PLUG-AND-PLAY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413248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Saat hardware fisik terpasang, endpoint API tetap sama.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78608" y="662940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7428" y="512064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3769"/>
                </a:solidFill>
                <a:latin typeface="Aptos"/>
              </a:rPr>
              <a:t>11 hardware masuk ke software melalui 3 klaster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04 /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914400" cy="50292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64008" cy="1874519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631527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A3769"/>
                </a:solidFill>
                <a:latin typeface="Aptos"/>
              </a:rPr>
              <a:t>01  OTOMASI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06005"/>
            <a:ext cx="3081528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rPr lang="id-ID" sz="800" dirty="0">
                <a:latin typeface="Aptos" panose="020B0004020202020204" pitchFamily="34" charset="0"/>
              </a:rPr>
              <a:t>• Kamera ANPR (#1): Mengirim </a:t>
            </a:r>
            <a:r>
              <a:rPr lang="id-ID" sz="800" dirty="0" err="1">
                <a:latin typeface="Aptos" panose="020B0004020202020204" pitchFamily="34" charset="0"/>
              </a:rPr>
              <a:t>string</a:t>
            </a:r>
            <a:r>
              <a:rPr lang="id-ID" sz="800" dirty="0">
                <a:latin typeface="Aptos" panose="020B0004020202020204" pitchFamily="34" charset="0"/>
              </a:rPr>
              <a:t> </a:t>
            </a:r>
            <a:r>
              <a:rPr lang="id-ID" sz="800" dirty="0" err="1">
                <a:latin typeface="Aptos" panose="020B0004020202020204" pitchFamily="34" charset="0"/>
              </a:rPr>
              <a:t>plat</a:t>
            </a:r>
            <a:r>
              <a:rPr lang="id-ID" sz="800" dirty="0">
                <a:latin typeface="Aptos" panose="020B0004020202020204" pitchFamily="34" charset="0"/>
              </a:rPr>
              <a:t> nomor via TCP/IP HTTP POST.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Kamera OCR (#2): Memancarkan kode ISO 6346 boks via </a:t>
            </a:r>
            <a:r>
              <a:rPr lang="id-ID" sz="800" dirty="0" err="1">
                <a:latin typeface="Aptos" panose="020B0004020202020204" pitchFamily="34" charset="0"/>
              </a:rPr>
              <a:t>socket</a:t>
            </a:r>
            <a:r>
              <a:rPr lang="id-ID" sz="800" dirty="0">
                <a:latin typeface="Aptos" panose="020B0004020202020204" pitchFamily="34" charset="0"/>
              </a:rPr>
              <a:t> </a:t>
            </a:r>
            <a:r>
              <a:rPr lang="id-ID" sz="800" dirty="0" err="1">
                <a:latin typeface="Aptos" panose="020B0004020202020204" pitchFamily="34" charset="0"/>
              </a:rPr>
              <a:t>ethernet</a:t>
            </a:r>
            <a:r>
              <a:rPr lang="id-ID" sz="800" dirty="0">
                <a:latin typeface="Aptos" panose="020B0004020202020204" pitchFamily="34" charset="0"/>
              </a:rPr>
              <a:t>.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Timbangan 80t (#6): </a:t>
            </a:r>
            <a:r>
              <a:rPr lang="id-ID" sz="800" dirty="0" err="1">
                <a:latin typeface="Aptos" panose="020B0004020202020204" pitchFamily="34" charset="0"/>
              </a:rPr>
              <a:t>Stream</a:t>
            </a:r>
            <a:r>
              <a:rPr lang="id-ID" sz="800" dirty="0">
                <a:latin typeface="Aptos" panose="020B0004020202020204" pitchFamily="34" charset="0"/>
              </a:rPr>
              <a:t> berat bruto kendaraan via serial RS-232 </a:t>
            </a:r>
            <a:r>
              <a:rPr lang="id-ID" sz="800" dirty="0" err="1">
                <a:latin typeface="Aptos" panose="020B0004020202020204" pitchFamily="34" charset="0"/>
              </a:rPr>
              <a:t>Modbus</a:t>
            </a:r>
            <a:r>
              <a:rPr lang="id-ID" sz="800" dirty="0">
                <a:latin typeface="Aptos" panose="020B0004020202020204" pitchFamily="34" charset="0"/>
              </a:rPr>
              <a:t> RTU.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RFID </a:t>
            </a:r>
            <a:r>
              <a:rPr lang="id-ID" sz="800" dirty="0" err="1">
                <a:latin typeface="Aptos" panose="020B0004020202020204" pitchFamily="34" charset="0"/>
              </a:rPr>
              <a:t>Reader</a:t>
            </a:r>
            <a:r>
              <a:rPr lang="id-ID" sz="800" dirty="0">
                <a:latin typeface="Aptos" panose="020B0004020202020204" pitchFamily="34" charset="0"/>
              </a:rPr>
              <a:t> 20m (#7): Mengirim </a:t>
            </a:r>
            <a:r>
              <a:rPr lang="id-ID" sz="800" dirty="0" err="1">
                <a:latin typeface="Aptos" panose="020B0004020202020204" pitchFamily="34" charset="0"/>
              </a:rPr>
              <a:t>tag</a:t>
            </a:r>
            <a:r>
              <a:rPr lang="id-ID" sz="800" dirty="0">
                <a:latin typeface="Aptos" panose="020B0004020202020204" pitchFamily="34" charset="0"/>
              </a:rPr>
              <a:t> ID </a:t>
            </a:r>
            <a:r>
              <a:rPr lang="id-ID" sz="800" dirty="0" err="1">
                <a:latin typeface="Aptos" panose="020B0004020202020204" pitchFamily="34" charset="0"/>
              </a:rPr>
              <a:t>supir</a:t>
            </a:r>
            <a:r>
              <a:rPr lang="id-ID" sz="800" dirty="0">
                <a:latin typeface="Aptos" panose="020B0004020202020204" pitchFamily="34" charset="0"/>
              </a:rPr>
              <a:t> via Wiegand-34 </a:t>
            </a:r>
            <a:r>
              <a:rPr lang="id-ID" sz="800" dirty="0" err="1">
                <a:latin typeface="Aptos" panose="020B0004020202020204" pitchFamily="34" charset="0"/>
              </a:rPr>
              <a:t>interface</a:t>
            </a:r>
            <a:r>
              <a:rPr lang="id-ID" sz="800" dirty="0">
                <a:latin typeface="Aptos" panose="020B0004020202020204" pitchFamily="34" charset="0"/>
              </a:rPr>
              <a:t>.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</a:t>
            </a:r>
            <a:r>
              <a:rPr lang="id-ID" sz="800" dirty="0" err="1">
                <a:latin typeface="Aptos" panose="020B0004020202020204" pitchFamily="34" charset="0"/>
              </a:rPr>
              <a:t>Edge</a:t>
            </a:r>
            <a:r>
              <a:rPr lang="id-ID" sz="800" dirty="0">
                <a:latin typeface="Aptos" panose="020B0004020202020204" pitchFamily="34" charset="0"/>
              </a:rPr>
              <a:t> AI PC (#18): Mengagregasi sensor gerbang menjadi 1 </a:t>
            </a:r>
            <a:r>
              <a:rPr lang="id-ID" sz="800" dirty="0" err="1">
                <a:latin typeface="Aptos" panose="020B0004020202020204" pitchFamily="34" charset="0"/>
              </a:rPr>
              <a:t>payload</a:t>
            </a:r>
            <a:r>
              <a:rPr lang="id-ID" sz="800" dirty="0">
                <a:latin typeface="Aptos" panose="020B0004020202020204" pitchFamily="34" charset="0"/>
              </a:rPr>
              <a:t> JSON ke </a:t>
            </a:r>
            <a:r>
              <a:rPr lang="id-ID" sz="800" dirty="0" err="1">
                <a:latin typeface="Aptos" panose="020B0004020202020204" pitchFamily="34" charset="0"/>
              </a:rPr>
              <a:t>endpoint</a:t>
            </a:r>
            <a:r>
              <a:rPr lang="id-ID" sz="800" dirty="0">
                <a:latin typeface="Aptos" panose="020B0004020202020204" pitchFamily="34" charset="0"/>
              </a:rPr>
              <a:t> YMS.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LED </a:t>
            </a:r>
            <a:r>
              <a:rPr lang="id-ID" sz="800" dirty="0" err="1">
                <a:latin typeface="Aptos" panose="020B0004020202020204" pitchFamily="34" charset="0"/>
              </a:rPr>
              <a:t>Display</a:t>
            </a:r>
            <a:r>
              <a:rPr lang="id-ID" sz="800" dirty="0">
                <a:latin typeface="Aptos" panose="020B0004020202020204" pitchFamily="34" charset="0"/>
              </a:rPr>
              <a:t> (#10): Menerima perintah serial untuk menampilkan instruksi blok penumpukan.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160020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87952" y="1600200"/>
            <a:ext cx="64008" cy="1874519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9684" y="1635785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A3769"/>
                </a:solidFill>
                <a:latin typeface="Aptos"/>
              </a:rPr>
              <a:t>02  YARD &amp; ALAT BERAT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4820" y="1895916"/>
            <a:ext cx="3273552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rPr lang="id-ID" sz="800" dirty="0">
                <a:latin typeface="Aptos" panose="020B0004020202020204" pitchFamily="34" charset="0"/>
              </a:rPr>
              <a:t>• DGPS RTK </a:t>
            </a:r>
            <a:r>
              <a:rPr lang="id-ID" sz="800" dirty="0" err="1">
                <a:latin typeface="Aptos" panose="020B0004020202020204" pitchFamily="34" charset="0"/>
              </a:rPr>
              <a:t>Receiver</a:t>
            </a:r>
            <a:r>
              <a:rPr lang="id-ID" sz="800" dirty="0">
                <a:latin typeface="Aptos" panose="020B0004020202020204" pitchFamily="34" charset="0"/>
              </a:rPr>
              <a:t> (#21):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  Mengirim koordinat NMEA-0183 ($GNGGA) akurasi sentimeter (&lt;2 cm) dari </a:t>
            </a:r>
            <a:r>
              <a:rPr lang="id-ID" sz="800" dirty="0" err="1">
                <a:latin typeface="Aptos" panose="020B0004020202020204" pitchFamily="34" charset="0"/>
              </a:rPr>
              <a:t>boom</a:t>
            </a:r>
            <a:r>
              <a:rPr lang="id-ID" sz="800" dirty="0">
                <a:latin typeface="Aptos" panose="020B0004020202020204" pitchFamily="34" charset="0"/>
              </a:rPr>
              <a:t> </a:t>
            </a:r>
            <a:r>
              <a:rPr lang="id-ID" sz="800" dirty="0" err="1">
                <a:latin typeface="Aptos" panose="020B0004020202020204" pitchFamily="34" charset="0"/>
              </a:rPr>
              <a:t>Reach</a:t>
            </a:r>
            <a:r>
              <a:rPr lang="id-ID" sz="800" dirty="0">
                <a:latin typeface="Aptos" panose="020B0004020202020204" pitchFamily="34" charset="0"/>
              </a:rPr>
              <a:t> </a:t>
            </a:r>
            <a:r>
              <a:rPr lang="id-ID" sz="800" dirty="0" err="1">
                <a:latin typeface="Aptos" panose="020B0004020202020204" pitchFamily="34" charset="0"/>
              </a:rPr>
              <a:t>Stacker</a:t>
            </a:r>
            <a:r>
              <a:rPr lang="id-ID" sz="800" dirty="0">
                <a:latin typeface="Aptos" panose="020B0004020202020204" pitchFamily="34" charset="0"/>
              </a:rPr>
              <a:t>.</a:t>
            </a:r>
            <a:br>
              <a:rPr lang="id-ID" sz="800" dirty="0">
                <a:latin typeface="Aptos" panose="020B0004020202020204" pitchFamily="34" charset="0"/>
              </a:rPr>
            </a:b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</a:t>
            </a:r>
            <a:r>
              <a:rPr lang="id-ID" sz="800" dirty="0" err="1">
                <a:latin typeface="Aptos" panose="020B0004020202020204" pitchFamily="34" charset="0"/>
              </a:rPr>
              <a:t>Spreader</a:t>
            </a:r>
            <a:r>
              <a:rPr lang="id-ID" sz="800" dirty="0">
                <a:latin typeface="Aptos" panose="020B0004020202020204" pitchFamily="34" charset="0"/>
              </a:rPr>
              <a:t> </a:t>
            </a:r>
            <a:r>
              <a:rPr lang="id-ID" sz="800" dirty="0" err="1">
                <a:latin typeface="Aptos" panose="020B0004020202020204" pitchFamily="34" charset="0"/>
              </a:rPr>
              <a:t>Twistlock</a:t>
            </a:r>
            <a:r>
              <a:rPr lang="id-ID" sz="800" dirty="0">
                <a:latin typeface="Aptos" panose="020B0004020202020204" pitchFamily="34" charset="0"/>
              </a:rPr>
              <a:t> Sensor (#22):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  Mengirim status </a:t>
            </a:r>
            <a:r>
              <a:rPr lang="id-ID" sz="800" dirty="0" err="1">
                <a:latin typeface="Aptos" panose="020B0004020202020204" pitchFamily="34" charset="0"/>
              </a:rPr>
              <a:t>pin</a:t>
            </a:r>
            <a:r>
              <a:rPr lang="id-ID" sz="800" dirty="0">
                <a:latin typeface="Aptos" panose="020B0004020202020204" pitchFamily="34" charset="0"/>
              </a:rPr>
              <a:t> hidrolik via bus </a:t>
            </a:r>
            <a:r>
              <a:rPr lang="id-ID" sz="800" dirty="0" err="1">
                <a:latin typeface="Aptos" panose="020B0004020202020204" pitchFamily="34" charset="0"/>
              </a:rPr>
              <a:t>CANopen</a:t>
            </a:r>
            <a:r>
              <a:rPr lang="id-ID" sz="800" dirty="0">
                <a:latin typeface="Aptos" panose="020B0004020202020204" pitchFamily="34" charset="0"/>
              </a:rPr>
              <a:t> (0 = UNLOCKED, 1 = LOCKED) dan </a:t>
            </a:r>
            <a:r>
              <a:rPr lang="id-ID" sz="800" dirty="0" err="1">
                <a:latin typeface="Aptos" panose="020B0004020202020204" pitchFamily="34" charset="0"/>
              </a:rPr>
              <a:t>load</a:t>
            </a:r>
            <a:r>
              <a:rPr lang="id-ID" sz="800" dirty="0">
                <a:latin typeface="Aptos" panose="020B0004020202020204" pitchFamily="34" charset="0"/>
              </a:rPr>
              <a:t> </a:t>
            </a:r>
            <a:r>
              <a:rPr lang="id-ID" sz="800" dirty="0" err="1">
                <a:latin typeface="Aptos" panose="020B0004020202020204" pitchFamily="34" charset="0"/>
              </a:rPr>
              <a:t>cell</a:t>
            </a:r>
            <a:r>
              <a:rPr lang="id-ID" sz="800" dirty="0">
                <a:latin typeface="Aptos" panose="020B0004020202020204" pitchFamily="34" charset="0"/>
              </a:rPr>
              <a:t> tonase.</a:t>
            </a:r>
            <a:br>
              <a:rPr lang="id-ID" sz="800" dirty="0">
                <a:latin typeface="Aptos" panose="020B0004020202020204" pitchFamily="34" charset="0"/>
              </a:rPr>
            </a:b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• Logika Perkawinan Sinyal:</a:t>
            </a:r>
            <a:br>
              <a:rPr lang="id-ID" sz="800" dirty="0">
                <a:latin typeface="Aptos" panose="020B0004020202020204" pitchFamily="34" charset="0"/>
              </a:rPr>
            </a:br>
            <a:r>
              <a:rPr lang="id-ID" sz="800" dirty="0">
                <a:latin typeface="Aptos" panose="020B0004020202020204" pitchFamily="34" charset="0"/>
              </a:rPr>
              <a:t>  </a:t>
            </a:r>
            <a:r>
              <a:rPr lang="id-ID" sz="800" dirty="0" err="1">
                <a:latin typeface="Aptos" panose="020B0004020202020204" pitchFamily="34" charset="0"/>
              </a:rPr>
              <a:t>Software</a:t>
            </a:r>
            <a:r>
              <a:rPr lang="id-ID" sz="800" dirty="0">
                <a:latin typeface="Aptos" panose="020B0004020202020204" pitchFamily="34" charset="0"/>
              </a:rPr>
              <a:t> mendeteksi perubahan LOCKED ➔ UNLOCKED sebagai penanda mutlak pelepasan kontainer di yard, mengunci koordinat DGPS detik itu juga!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1600200"/>
            <a:ext cx="330098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17536" y="1600200"/>
            <a:ext cx="64008" cy="1874519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1691640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769"/>
                </a:solidFill>
                <a:latin typeface="Aptos"/>
              </a:rPr>
              <a:t>03  FASILITAS KHUSUS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039112"/>
            <a:ext cx="3044952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rPr lang="id-ID" sz="800" dirty="0"/>
              <a:t>• </a:t>
            </a:r>
            <a:r>
              <a:rPr lang="id-ID" sz="800" dirty="0" err="1">
                <a:latin typeface="Aptos" panose="020B0004020202020204" pitchFamily="34" charset="0"/>
              </a:rPr>
              <a:t>Smart</a:t>
            </a:r>
            <a:r>
              <a:rPr lang="id-ID" sz="800" dirty="0"/>
              <a:t> </a:t>
            </a:r>
            <a:r>
              <a:rPr lang="id-ID" sz="800" dirty="0" err="1"/>
              <a:t>Reefer</a:t>
            </a:r>
            <a:r>
              <a:rPr lang="id-ID" sz="800" dirty="0"/>
              <a:t> </a:t>
            </a:r>
            <a:r>
              <a:rPr lang="id-ID" sz="800" dirty="0" err="1"/>
              <a:t>Socket</a:t>
            </a:r>
            <a:r>
              <a:rPr lang="id-ID" sz="800" dirty="0"/>
              <a:t> (#23):</a:t>
            </a:r>
            <a:br>
              <a:rPr lang="id-ID" sz="800" dirty="0"/>
            </a:br>
            <a:r>
              <a:rPr lang="id-ID" sz="800" dirty="0"/>
              <a:t>  </a:t>
            </a:r>
            <a:r>
              <a:rPr lang="id-ID" sz="800" dirty="0" err="1"/>
              <a:t>Ingestion</a:t>
            </a:r>
            <a:r>
              <a:rPr lang="id-ID" sz="800" dirty="0"/>
              <a:t> arus ampere, daya kWh, dan suhu pendingin kompresor (-18°C) via </a:t>
            </a:r>
            <a:r>
              <a:rPr lang="id-ID" sz="800" dirty="0" err="1"/>
              <a:t>LoRaWAN</a:t>
            </a:r>
            <a:r>
              <a:rPr lang="id-ID" sz="800" dirty="0"/>
              <a:t>/</a:t>
            </a:r>
            <a:r>
              <a:rPr lang="id-ID" sz="800" dirty="0" err="1"/>
              <a:t>Modbus</a:t>
            </a:r>
            <a:r>
              <a:rPr lang="id-ID" sz="800" dirty="0"/>
              <a:t> setiap 5 detik.</a:t>
            </a:r>
            <a:br>
              <a:rPr lang="id-ID" sz="800" dirty="0"/>
            </a:br>
            <a:br>
              <a:rPr lang="id-ID" sz="800" dirty="0"/>
            </a:br>
            <a:r>
              <a:rPr lang="id-ID" sz="800" dirty="0"/>
              <a:t>• </a:t>
            </a:r>
            <a:r>
              <a:rPr lang="id-ID" sz="800" dirty="0" err="1"/>
              <a:t>Rail</a:t>
            </a:r>
            <a:r>
              <a:rPr lang="id-ID" sz="800" dirty="0"/>
              <a:t> </a:t>
            </a:r>
            <a:r>
              <a:rPr lang="id-ID" sz="800" dirty="0" err="1"/>
              <a:t>Axle</a:t>
            </a:r>
            <a:r>
              <a:rPr lang="id-ID" sz="800" dirty="0"/>
              <a:t> </a:t>
            </a:r>
            <a:r>
              <a:rPr lang="id-ID" sz="800" dirty="0" err="1"/>
              <a:t>Counter</a:t>
            </a:r>
            <a:r>
              <a:rPr lang="id-ID" sz="800" dirty="0"/>
              <a:t> (#25):</a:t>
            </a:r>
            <a:br>
              <a:rPr lang="id-ID" sz="800" dirty="0"/>
            </a:br>
            <a:r>
              <a:rPr lang="id-ID" sz="800" dirty="0"/>
              <a:t>  </a:t>
            </a:r>
            <a:r>
              <a:rPr lang="id-ID" sz="800" dirty="0" err="1"/>
              <a:t>Ingestion</a:t>
            </a:r>
            <a:r>
              <a:rPr lang="id-ID" sz="800" dirty="0"/>
              <a:t> pulsa roda kereta dari sensor leher rel </a:t>
            </a:r>
            <a:r>
              <a:rPr lang="id-ID" sz="800" dirty="0" err="1"/>
              <a:t>Frauscher</a:t>
            </a:r>
            <a:r>
              <a:rPr lang="id-ID" sz="800" dirty="0"/>
              <a:t>, dikonversi menjadi hitungan gerbong.</a:t>
            </a:r>
            <a:br>
              <a:rPr lang="id-ID" sz="800" dirty="0"/>
            </a:br>
            <a:br>
              <a:rPr lang="id-ID" sz="800" dirty="0"/>
            </a:br>
            <a:r>
              <a:rPr lang="id-ID" sz="800" dirty="0"/>
              <a:t>• </a:t>
            </a:r>
            <a:r>
              <a:rPr lang="id-ID" sz="800" dirty="0" err="1"/>
              <a:t>Smart</a:t>
            </a:r>
            <a:r>
              <a:rPr lang="id-ID" sz="800" dirty="0"/>
              <a:t> E-</a:t>
            </a:r>
            <a:r>
              <a:rPr lang="id-ID" sz="800" dirty="0" err="1"/>
              <a:t>Seal</a:t>
            </a:r>
            <a:r>
              <a:rPr lang="id-ID" sz="800" dirty="0"/>
              <a:t> GPS (#26):</a:t>
            </a:r>
            <a:br>
              <a:rPr lang="id-ID" sz="800" dirty="0"/>
            </a:br>
            <a:r>
              <a:rPr lang="id-ID" sz="800" dirty="0"/>
              <a:t>  </a:t>
            </a:r>
            <a:r>
              <a:rPr lang="id-ID" sz="800" dirty="0" err="1"/>
              <a:t>Ingestion</a:t>
            </a:r>
            <a:r>
              <a:rPr lang="id-ID" sz="800" dirty="0"/>
              <a:t> koordinat GPS rute Priok-CIDP dan status </a:t>
            </a:r>
            <a:r>
              <a:rPr lang="id-ID" sz="800" dirty="0" err="1"/>
              <a:t>loop</a:t>
            </a:r>
            <a:r>
              <a:rPr lang="id-ID" sz="800" dirty="0"/>
              <a:t> kawat segel via MQTT jaringan 4G.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40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3769"/>
                </a:solidFill>
                <a:latin typeface="Aptos"/>
              </a:rPr>
              <a:t>LOGIKA PERKAWINAN SINYAL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114300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279392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3769"/>
                </a:solidFill>
                <a:latin typeface="Aptos"/>
              </a:rPr>
              <a:t>DGPS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6344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0697D"/>
                </a:solidFill>
                <a:latin typeface="Aptos"/>
              </a:rPr>
              <a:t>X,Y,Z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847088" y="4361688"/>
            <a:ext cx="457200" cy="228600"/>
          </a:xfrm>
          <a:prstGeom prst="rightArrow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72968" y="4279392"/>
            <a:ext cx="114300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72968" y="4279392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3769"/>
                </a:solidFill>
                <a:latin typeface="Aptos"/>
              </a:rPr>
              <a:t>TWISTLOCK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466344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0697D"/>
                </a:solidFill>
                <a:latin typeface="Aptos"/>
              </a:rPr>
              <a:t>LOCK→UNLOCK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361688" y="4361688"/>
            <a:ext cx="457200" cy="228600"/>
          </a:xfrm>
          <a:prstGeom prst="rightArrow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687568" y="4279392"/>
            <a:ext cx="114300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87568" y="4279392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3769"/>
                </a:solidFill>
                <a:latin typeface="Aptos"/>
              </a:rPr>
              <a:t>YMS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68" y="466344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0697D"/>
                </a:solidFill>
                <a:latin typeface="Aptos"/>
              </a:rPr>
              <a:t>LOCK POSITION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76288" y="4361688"/>
            <a:ext cx="457200" cy="228600"/>
          </a:xfrm>
          <a:prstGeom prst="rightArrow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02168" y="4279392"/>
            <a:ext cx="114300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2168" y="4279392"/>
            <a:ext cx="1143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3769"/>
                </a:solidFill>
                <a:latin typeface="Aptos"/>
              </a:rPr>
              <a:t>3D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466344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0697D"/>
                </a:solidFill>
                <a:latin typeface="Aptos"/>
              </a:rPr>
              <a:t>UPDATE MESH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096512"/>
            <a:ext cx="2880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4096512"/>
            <a:ext cx="64008" cy="96012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84464" y="4187952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LIVE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4535424"/>
            <a:ext cx="262432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697D"/>
                </a:solidFill>
                <a:latin typeface="Aptos"/>
              </a:rPr>
              <a:t>Gate + telemetry sensor feed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7000" y="662940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1911" y="5029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CORE ENGINE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3769"/>
                </a:solidFill>
                <a:latin typeface="Aptos"/>
              </a:rPr>
              <a:t>Dynamic Yard Allocation + 3D Stacking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05 /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914400" cy="50292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3769"/>
                </a:solidFill>
                <a:latin typeface="Aptos"/>
              </a:rPr>
              <a:t>BLOCK A–E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438912" cy="384048"/>
          </a:xfrm>
          <a:prstGeom prst="roundRect">
            <a:avLst/>
          </a:prstGeom>
          <a:solidFill>
            <a:srgbClr val="E7F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05740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19" y="2057400"/>
            <a:ext cx="438912" cy="384048"/>
          </a:xfrm>
          <a:prstGeom prst="roundRect">
            <a:avLst/>
          </a:prstGeom>
          <a:solidFill>
            <a:srgbClr val="D2EB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19" y="205740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19072" y="2057400"/>
            <a:ext cx="438912" cy="384048"/>
          </a:xfrm>
          <a:prstGeom prst="roundRect">
            <a:avLst/>
          </a:prstGeom>
          <a:solidFill>
            <a:srgbClr val="E1F2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19072" y="205740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9424" y="2057400"/>
            <a:ext cx="438912" cy="384048"/>
          </a:xfrm>
          <a:prstGeom prst="roundRect">
            <a:avLst/>
          </a:prstGeom>
          <a:solidFill>
            <a:srgbClr val="FFEE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9424" y="205740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41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2057400"/>
            <a:ext cx="438912" cy="384048"/>
          </a:xfrm>
          <a:prstGeom prst="roundRect">
            <a:avLst/>
          </a:prstGeom>
          <a:solidFill>
            <a:srgbClr val="EBE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79776" y="205740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51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560320"/>
            <a:ext cx="438912" cy="384048"/>
          </a:xfrm>
          <a:prstGeom prst="roundRect">
            <a:avLst/>
          </a:prstGeom>
          <a:solidFill>
            <a:srgbClr val="D2EB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256032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19" y="2560320"/>
            <a:ext cx="438912" cy="384048"/>
          </a:xfrm>
          <a:prstGeom prst="roundRect">
            <a:avLst/>
          </a:prstGeom>
          <a:solidFill>
            <a:srgbClr val="E1F2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19" y="256032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2560320"/>
            <a:ext cx="438912" cy="384048"/>
          </a:xfrm>
          <a:prstGeom prst="roundRect">
            <a:avLst/>
          </a:prstGeom>
          <a:solidFill>
            <a:srgbClr val="FFEE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19072" y="256032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9424" y="2560320"/>
            <a:ext cx="438912" cy="384048"/>
          </a:xfrm>
          <a:prstGeom prst="roundRect">
            <a:avLst/>
          </a:prstGeom>
          <a:solidFill>
            <a:srgbClr val="EBE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49424" y="256032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79776" y="2560320"/>
            <a:ext cx="438912" cy="384048"/>
          </a:xfrm>
          <a:prstGeom prst="roundRect">
            <a:avLst/>
          </a:prstGeom>
          <a:solidFill>
            <a:srgbClr val="E7F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79776" y="256032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52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063240"/>
            <a:ext cx="438912" cy="384048"/>
          </a:xfrm>
          <a:prstGeom prst="roundRect">
            <a:avLst/>
          </a:prstGeom>
          <a:solidFill>
            <a:srgbClr val="E1F2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306324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19" y="3063240"/>
            <a:ext cx="438912" cy="384048"/>
          </a:xfrm>
          <a:prstGeom prst="roundRect">
            <a:avLst/>
          </a:prstGeom>
          <a:solidFill>
            <a:srgbClr val="FFEE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19" y="306324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063240"/>
            <a:ext cx="438912" cy="384048"/>
          </a:xfrm>
          <a:prstGeom prst="roundRect">
            <a:avLst/>
          </a:prstGeom>
          <a:solidFill>
            <a:srgbClr val="EBE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19072" y="306324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33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9424" y="3063240"/>
            <a:ext cx="438912" cy="384048"/>
          </a:xfrm>
          <a:prstGeom prst="roundRect">
            <a:avLst/>
          </a:prstGeom>
          <a:solidFill>
            <a:srgbClr val="E7F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49424" y="306324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43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79776" y="3063240"/>
            <a:ext cx="438912" cy="384048"/>
          </a:xfrm>
          <a:prstGeom prst="roundRect">
            <a:avLst/>
          </a:prstGeom>
          <a:solidFill>
            <a:srgbClr val="D2EB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79776" y="306324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53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3566160"/>
            <a:ext cx="438912" cy="384048"/>
          </a:xfrm>
          <a:prstGeom prst="roundRect">
            <a:avLst/>
          </a:prstGeom>
          <a:solidFill>
            <a:srgbClr val="FFEE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356616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19" y="3566160"/>
            <a:ext cx="438912" cy="384048"/>
          </a:xfrm>
          <a:prstGeom prst="roundRect">
            <a:avLst/>
          </a:prstGeom>
          <a:solidFill>
            <a:srgbClr val="EBE6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19" y="356616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19072" y="3566160"/>
            <a:ext cx="438912" cy="384048"/>
          </a:xfrm>
          <a:prstGeom prst="roundRect">
            <a:avLst/>
          </a:prstGeom>
          <a:solidFill>
            <a:srgbClr val="E7F4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719072" y="356616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34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49424" y="3566160"/>
            <a:ext cx="438912" cy="384048"/>
          </a:xfrm>
          <a:prstGeom prst="roundRect">
            <a:avLst/>
          </a:prstGeom>
          <a:solidFill>
            <a:srgbClr val="D2EB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49424" y="356616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44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79776" y="3566160"/>
            <a:ext cx="438912" cy="384048"/>
          </a:xfrm>
          <a:prstGeom prst="roundRect">
            <a:avLst/>
          </a:prstGeom>
          <a:solidFill>
            <a:srgbClr val="E1F2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79776" y="3566160"/>
            <a:ext cx="438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54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42519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697D"/>
                </a:solidFill>
                <a:latin typeface="Aptos"/>
              </a:rPr>
              <a:t>Bay → Row → Tier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20440" y="16002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520440" y="1600200"/>
            <a:ext cx="64008" cy="182880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90392" y="1659636"/>
            <a:ext cx="321868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Aturan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</a:t>
            </a:r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Penumpukan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</a:t>
            </a:r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Cerdas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(Stacking Rules)</a:t>
            </a:r>
            <a:endParaRPr sz="1400" b="1" dirty="0">
              <a:solidFill>
                <a:srgbClr val="0A3769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689919" y="1886772"/>
            <a:ext cx="3218688" cy="1523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br>
              <a:rPr lang="id-ID" sz="800" dirty="0">
                <a:latin typeface="Aptos" panose="020B0004020202020204" pitchFamily="34" charset="0"/>
              </a:rPr>
            </a:br>
            <a:br>
              <a:rPr lang="id-ID" sz="800" dirty="0">
                <a:latin typeface="Aptos" panose="020B0004020202020204" pitchFamily="34" charset="0"/>
              </a:rPr>
            </a:br>
            <a:r>
              <a:rPr lang="id-ID" sz="1100" dirty="0">
                <a:latin typeface="Aptos" panose="020B0004020202020204" pitchFamily="34" charset="0"/>
              </a:rPr>
              <a:t>1. </a:t>
            </a:r>
            <a:r>
              <a:rPr lang="id-ID" sz="1100" dirty="0" err="1">
                <a:latin typeface="Aptos" panose="020B0004020202020204" pitchFamily="34" charset="0"/>
              </a:rPr>
              <a:t>Heavy-on-Bottom</a:t>
            </a:r>
            <a:r>
              <a:rPr lang="id-ID" sz="1100" dirty="0">
                <a:latin typeface="Aptos" panose="020B0004020202020204" pitchFamily="34" charset="0"/>
              </a:rPr>
              <a:t> </a:t>
            </a:r>
            <a:r>
              <a:rPr lang="id-ID" sz="1100" dirty="0" err="1">
                <a:latin typeface="Aptos" panose="020B0004020202020204" pitchFamily="34" charset="0"/>
              </a:rPr>
              <a:t>Rule</a:t>
            </a:r>
            <a:r>
              <a:rPr lang="id-ID" sz="1100" dirty="0">
                <a:latin typeface="Aptos" panose="020B0004020202020204" pitchFamily="34" charset="0"/>
              </a:rPr>
              <a:t>: Peti kemas bermuatan berat (Laden 25-32 ton) wajib di </a:t>
            </a:r>
            <a:r>
              <a:rPr lang="id-ID" sz="1100" dirty="0" err="1">
                <a:latin typeface="Aptos" panose="020B0004020202020204" pitchFamily="34" charset="0"/>
              </a:rPr>
              <a:t>Tier</a:t>
            </a:r>
            <a:r>
              <a:rPr lang="id-ID" sz="1100" dirty="0">
                <a:latin typeface="Aptos" panose="020B0004020202020204" pitchFamily="34" charset="0"/>
              </a:rPr>
              <a:t> 1 &amp; 2; boks kosong (</a:t>
            </a:r>
            <a:r>
              <a:rPr lang="id-ID" sz="1100" dirty="0" err="1">
                <a:latin typeface="Aptos" panose="020B0004020202020204" pitchFamily="34" charset="0"/>
              </a:rPr>
              <a:t>Empty</a:t>
            </a:r>
            <a:r>
              <a:rPr lang="id-ID" sz="1100" dirty="0">
                <a:latin typeface="Aptos" panose="020B0004020202020204" pitchFamily="34" charset="0"/>
              </a:rPr>
              <a:t>) di </a:t>
            </a:r>
            <a:r>
              <a:rPr lang="id-ID" sz="1100" dirty="0" err="1">
                <a:latin typeface="Aptos" panose="020B0004020202020204" pitchFamily="34" charset="0"/>
              </a:rPr>
              <a:t>Tier</a:t>
            </a:r>
            <a:r>
              <a:rPr lang="id-ID" sz="1100" dirty="0">
                <a:latin typeface="Aptos" panose="020B0004020202020204" pitchFamily="34" charset="0"/>
              </a:rPr>
              <a:t> 3 &amp; 4.</a:t>
            </a:r>
            <a:br>
              <a:rPr lang="id-ID" sz="1100" dirty="0">
                <a:latin typeface="Aptos" panose="020B0004020202020204" pitchFamily="34" charset="0"/>
              </a:rPr>
            </a:br>
            <a:r>
              <a:rPr lang="id-ID" sz="1100" dirty="0">
                <a:latin typeface="Aptos" panose="020B0004020202020204" pitchFamily="34" charset="0"/>
              </a:rPr>
              <a:t>  2. Anti-</a:t>
            </a:r>
            <a:r>
              <a:rPr lang="id-ID" sz="1100" dirty="0" err="1">
                <a:latin typeface="Aptos" panose="020B0004020202020204" pitchFamily="34" charset="0"/>
              </a:rPr>
              <a:t>Overhang</a:t>
            </a:r>
            <a:r>
              <a:rPr lang="id-ID" sz="1100" dirty="0">
                <a:latin typeface="Aptos" panose="020B0004020202020204" pitchFamily="34" charset="0"/>
              </a:rPr>
              <a:t> </a:t>
            </a:r>
            <a:r>
              <a:rPr lang="id-ID" sz="1100" dirty="0" err="1">
                <a:latin typeface="Aptos" panose="020B0004020202020204" pitchFamily="34" charset="0"/>
              </a:rPr>
              <a:t>Check</a:t>
            </a:r>
            <a:r>
              <a:rPr lang="id-ID" sz="1100" dirty="0">
                <a:latin typeface="Aptos" panose="020B0004020202020204" pitchFamily="34" charset="0"/>
              </a:rPr>
              <a:t>: Kontainer 40ft dilarang ditumpuk di atas kontainer 20ft.</a:t>
            </a:r>
            <a:br>
              <a:rPr lang="id-ID" sz="1100" dirty="0">
                <a:latin typeface="Aptos" panose="020B0004020202020204" pitchFamily="34" charset="0"/>
              </a:rPr>
            </a:br>
            <a:r>
              <a:rPr lang="id-ID" sz="1100" dirty="0">
                <a:latin typeface="Aptos" panose="020B0004020202020204" pitchFamily="34" charset="0"/>
              </a:rPr>
              <a:t>  3. Segregasi Kelas Bahaya: Kontainer DG otomatis dialokasikan ke Blok DG terisolasi.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78040" y="1600200"/>
            <a:ext cx="3840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178040" y="1600200"/>
            <a:ext cx="64008" cy="182880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60920" y="1652046"/>
            <a:ext cx="358444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Deteksi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</a:t>
            </a:r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Tabrakan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Slot </a:t>
            </a:r>
          </a:p>
          <a:p>
            <a:pPr algn="l"/>
            <a:r>
              <a:rPr lang="en-US" sz="1400" b="1" dirty="0">
                <a:solidFill>
                  <a:srgbClr val="0A3769"/>
                </a:solidFill>
                <a:latin typeface="Aptos"/>
              </a:rPr>
              <a:t>(Collision Prevention)</a:t>
            </a:r>
            <a:endParaRPr sz="1400" b="1" dirty="0">
              <a:solidFill>
                <a:srgbClr val="0A3769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38060" y="2147382"/>
            <a:ext cx="3584448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id-ID" sz="1100" dirty="0" err="1"/>
              <a:t>Software</a:t>
            </a:r>
            <a:r>
              <a:rPr lang="id-ID" sz="1100" dirty="0"/>
              <a:t> memvalidasi ketersediaan </a:t>
            </a:r>
            <a:r>
              <a:rPr lang="id-ID" sz="1100" dirty="0" err="1"/>
              <a:t>slot</a:t>
            </a:r>
            <a:r>
              <a:rPr lang="id-ID" sz="1100" dirty="0"/>
              <a:t> sebelum eksekusi:</a:t>
            </a:r>
            <a:br>
              <a:rPr lang="id-ID" sz="1100" dirty="0"/>
            </a:br>
            <a:r>
              <a:rPr lang="id-ID" sz="1100" dirty="0"/>
              <a:t>  SELECT </a:t>
            </a:r>
            <a:r>
              <a:rPr lang="id-ID" sz="1100" dirty="0" err="1"/>
              <a:t>id</a:t>
            </a:r>
            <a:r>
              <a:rPr lang="id-ID" sz="1100" dirty="0"/>
              <a:t> FROM </a:t>
            </a:r>
            <a:r>
              <a:rPr lang="id-ID" sz="1100" dirty="0" err="1"/>
              <a:t>containers</a:t>
            </a:r>
            <a:r>
              <a:rPr lang="id-ID" sz="1100" dirty="0"/>
              <a:t> WHERE </a:t>
            </a:r>
            <a:r>
              <a:rPr lang="id-ID" sz="1100" dirty="0" err="1"/>
              <a:t>block</a:t>
            </a:r>
            <a:r>
              <a:rPr lang="id-ID" sz="1100" dirty="0"/>
              <a:t>=? AND </a:t>
            </a:r>
            <a:r>
              <a:rPr lang="id-ID" sz="1100" dirty="0" err="1"/>
              <a:t>bay</a:t>
            </a:r>
            <a:r>
              <a:rPr lang="id-ID" sz="1100" dirty="0"/>
              <a:t>=? AND </a:t>
            </a:r>
            <a:r>
              <a:rPr lang="id-ID" sz="1100" dirty="0" err="1"/>
              <a:t>row</a:t>
            </a:r>
            <a:r>
              <a:rPr lang="id-ID" sz="1100" dirty="0"/>
              <a:t>=? AND </a:t>
            </a:r>
            <a:r>
              <a:rPr lang="id-ID" sz="1100" dirty="0" err="1"/>
              <a:t>tier</a:t>
            </a:r>
            <a:r>
              <a:rPr lang="id-ID" sz="1100" dirty="0"/>
              <a:t>=? AND status='</a:t>
            </a:r>
            <a:r>
              <a:rPr lang="id-ID" sz="1100" dirty="0" err="1"/>
              <a:t>in_yard</a:t>
            </a:r>
            <a:r>
              <a:rPr lang="id-ID" sz="1100" dirty="0"/>
              <a:t>';</a:t>
            </a:r>
            <a:br>
              <a:rPr lang="id-ID" sz="1100" dirty="0"/>
            </a:br>
            <a:r>
              <a:rPr lang="id-ID" sz="1100" dirty="0"/>
              <a:t>  Jika terisi, perintah relokasi ditolak demi keamanan!</a:t>
            </a:r>
            <a:br>
              <a:rPr lang="id-ID" sz="1100" dirty="0"/>
            </a:br>
            <a:endParaRPr lang="id-ID"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520440" y="370332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520440" y="3703320"/>
            <a:ext cx="64008" cy="141732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66744" y="3794760"/>
            <a:ext cx="3401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Transaksi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Basis Data </a:t>
            </a:r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Atomik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(ACID)</a:t>
            </a:r>
            <a:endParaRPr sz="1400" b="1" dirty="0">
              <a:solidFill>
                <a:srgbClr val="0A3769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666744" y="4142232"/>
            <a:ext cx="3401568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1. </a:t>
            </a:r>
            <a:r>
              <a:rPr lang="id-ID" sz="1100" dirty="0" err="1"/>
              <a:t>Update</a:t>
            </a:r>
            <a:r>
              <a:rPr lang="id-ID" sz="1100" dirty="0"/>
              <a:t> koordinat kontainer.</a:t>
            </a:r>
            <a:br>
              <a:rPr lang="id-ID" sz="1100" dirty="0"/>
            </a:br>
            <a:r>
              <a:rPr lang="id-ID" sz="1100" dirty="0"/>
              <a:t>2. Pelepasan status alat berat </a:t>
            </a:r>
            <a:r>
              <a:rPr lang="id-ID" sz="1100" dirty="0" err="1"/>
              <a:t>Reach</a:t>
            </a:r>
            <a:r>
              <a:rPr lang="id-ID" sz="1100" dirty="0"/>
              <a:t> </a:t>
            </a:r>
            <a:r>
              <a:rPr lang="id-ID" sz="1100" dirty="0" err="1"/>
              <a:t>Stacker</a:t>
            </a:r>
            <a:r>
              <a:rPr lang="id-ID" sz="1100" dirty="0"/>
              <a:t>.</a:t>
            </a:r>
            <a:br>
              <a:rPr lang="id-ID" sz="1100" dirty="0"/>
            </a:br>
            <a:r>
              <a:rPr lang="id-ID" sz="1100" dirty="0"/>
              <a:t>3. Pencatatan audit trail &amp; biaya Lo-Lo Rp 250.000 ke tabel </a:t>
            </a:r>
            <a:r>
              <a:rPr lang="id-ID" sz="1100" dirty="0" err="1"/>
              <a:t>yard_events</a:t>
            </a:r>
            <a:r>
              <a:rPr lang="id-ID" sz="1100" dirty="0"/>
              <a:t>.</a:t>
            </a:r>
            <a:br>
              <a:rPr lang="id-ID" sz="1100" dirty="0"/>
            </a:b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360920" y="370332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360920" y="3703320"/>
            <a:ext cx="64008" cy="141732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07224" y="3794760"/>
            <a:ext cx="3401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Sinkronisasi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</a:t>
            </a:r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Seketika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</a:t>
            </a:r>
            <a:r>
              <a:rPr lang="en-US" sz="1400" b="1" dirty="0" err="1">
                <a:solidFill>
                  <a:srgbClr val="0A3769"/>
                </a:solidFill>
                <a:latin typeface="Aptos"/>
              </a:rPr>
              <a:t>ke</a:t>
            </a:r>
            <a:r>
              <a:rPr lang="en-US" sz="1400" b="1" dirty="0">
                <a:solidFill>
                  <a:srgbClr val="0A3769"/>
                </a:solidFill>
                <a:latin typeface="Aptos"/>
              </a:rPr>
              <a:t> WebGL 3D</a:t>
            </a:r>
            <a:endParaRPr lang="id-ID" sz="1400" b="1" dirty="0">
              <a:solidFill>
                <a:srgbClr val="0A3769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507224" y="4142232"/>
            <a:ext cx="3401568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Data hasil mutasi </a:t>
            </a:r>
            <a:r>
              <a:rPr lang="id-ID" sz="1100" dirty="0" err="1"/>
              <a:t>database</a:t>
            </a:r>
            <a:r>
              <a:rPr lang="id-ID" sz="1100" dirty="0"/>
              <a:t> langsung memicu </a:t>
            </a:r>
            <a:r>
              <a:rPr lang="id-ID" sz="1100" dirty="0" err="1"/>
              <a:t>event</a:t>
            </a:r>
            <a:r>
              <a:rPr lang="id-ID" sz="1100" dirty="0"/>
              <a:t> </a:t>
            </a:r>
            <a:r>
              <a:rPr lang="id-ID" sz="1100" dirty="0" err="1"/>
              <a:t>listener</a:t>
            </a:r>
            <a:r>
              <a:rPr lang="id-ID" sz="1100" dirty="0"/>
              <a:t> Three.js untuk memindahkan </a:t>
            </a:r>
            <a:r>
              <a:rPr lang="id-ID" sz="1100" dirty="0" err="1"/>
              <a:t>mesh</a:t>
            </a:r>
            <a:r>
              <a:rPr lang="id-ID" sz="1100" dirty="0"/>
              <a:t> 3D kontainer secara halus.</a:t>
            </a: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520440" y="5440680"/>
            <a:ext cx="2423160" cy="310896"/>
          </a:xfrm>
          <a:prstGeom prst="round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20440" y="54406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LIVE DEMO: PINDAHKAN BOX (RS)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0679" y="661111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64608" y="512064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CORE ENGINE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3769"/>
                </a:solidFill>
                <a:latin typeface="Aptos"/>
              </a:rPr>
              <a:t>Gate automation: matching → VGM → routing → e-Gate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06 /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914400" cy="50292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8368" y="1627632"/>
            <a:ext cx="438912" cy="438912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536192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1536192"/>
            <a:ext cx="64008" cy="132588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35024" y="1627632"/>
            <a:ext cx="1892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975104"/>
            <a:ext cx="189280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rPr lang="id-ID" sz="800" dirty="0"/>
              <a:t>• </a:t>
            </a:r>
            <a:r>
              <a:rPr lang="id-ID" sz="800" dirty="0" err="1"/>
              <a:t>Loop</a:t>
            </a:r>
            <a:r>
              <a:rPr lang="id-ID" sz="800" dirty="0"/>
              <a:t> </a:t>
            </a:r>
            <a:r>
              <a:rPr lang="id-ID" sz="800" dirty="0" err="1"/>
              <a:t>detector</a:t>
            </a:r>
            <a:r>
              <a:rPr lang="id-ID" sz="800" dirty="0"/>
              <a:t> memicu ANPR.</a:t>
            </a:r>
            <a:br>
              <a:rPr lang="id-ID" sz="800" dirty="0"/>
            </a:br>
            <a:r>
              <a:rPr lang="id-ID" sz="800" dirty="0"/>
              <a:t>• </a:t>
            </a:r>
            <a:r>
              <a:rPr lang="id-ID" sz="800" dirty="0" err="1"/>
              <a:t>Matching</a:t>
            </a:r>
            <a:r>
              <a:rPr lang="id-ID" sz="800" dirty="0"/>
              <a:t> </a:t>
            </a:r>
            <a:r>
              <a:rPr lang="id-ID" sz="800" dirty="0" err="1"/>
              <a:t>plat</a:t>
            </a:r>
            <a:r>
              <a:rPr lang="id-ID" sz="800" dirty="0"/>
              <a:t> nomor truk dengan </a:t>
            </a:r>
            <a:r>
              <a:rPr lang="id-ID" sz="800" dirty="0" err="1"/>
              <a:t>Odoo</a:t>
            </a:r>
            <a:r>
              <a:rPr lang="id-ID" sz="800" dirty="0"/>
              <a:t> </a:t>
            </a:r>
            <a:r>
              <a:rPr lang="id-ID" sz="800" dirty="0" err="1"/>
              <a:t>Fleet</a:t>
            </a:r>
            <a:r>
              <a:rPr lang="id-ID" sz="800" dirty="0"/>
              <a:t>.</a:t>
            </a:r>
            <a:br>
              <a:rPr lang="id-ID" sz="800" dirty="0"/>
            </a:br>
            <a:r>
              <a:rPr lang="id-ID" sz="800" dirty="0"/>
              <a:t>• Kamera OCR membaca nomor kontainer ISO 6346 ➔ mencocokkan status </a:t>
            </a:r>
            <a:r>
              <a:rPr lang="id-ID" sz="800" dirty="0" err="1"/>
              <a:t>Delivery</a:t>
            </a:r>
            <a:r>
              <a:rPr lang="id-ID" sz="800" dirty="0"/>
              <a:t> Order (DO) di </a:t>
            </a:r>
            <a:r>
              <a:rPr lang="id-ID" sz="800" dirty="0" err="1"/>
              <a:t>database</a:t>
            </a:r>
            <a:r>
              <a:rPr lang="id-ID" sz="800" dirty="0"/>
              <a:t>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90088" y="2029968"/>
            <a:ext cx="365760" cy="201168"/>
          </a:xfrm>
          <a:prstGeom prst="rightArrow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1568" y="1627632"/>
            <a:ext cx="438912" cy="438912"/>
          </a:xfrm>
          <a:prstGeom prst="ellipse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6276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1536192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31920" y="1536192"/>
            <a:ext cx="64008" cy="13258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78224" y="1627632"/>
            <a:ext cx="1892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VGM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2445" y="1892803"/>
            <a:ext cx="1892808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id-ID" sz="800" dirty="0"/>
              <a:t>• Timbangan membaca berat kotor.</a:t>
            </a:r>
            <a:br>
              <a:rPr lang="id-ID" sz="800" dirty="0"/>
            </a:br>
            <a:r>
              <a:rPr lang="id-ID" sz="800" dirty="0"/>
              <a:t>• Net VGM = </a:t>
            </a:r>
            <a:r>
              <a:rPr lang="id-ID" sz="800" dirty="0" err="1"/>
              <a:t>Gross</a:t>
            </a:r>
            <a:r>
              <a:rPr lang="id-ID" sz="800" dirty="0"/>
              <a:t> - </a:t>
            </a:r>
            <a:r>
              <a:rPr lang="id-ID" sz="800" dirty="0" err="1"/>
              <a:t>Tare</a:t>
            </a:r>
            <a:r>
              <a:rPr lang="id-ID" sz="800" dirty="0"/>
              <a:t>.</a:t>
            </a:r>
            <a:br>
              <a:rPr lang="id-ID" sz="800" dirty="0"/>
            </a:br>
            <a:r>
              <a:rPr lang="id-ID" sz="800" dirty="0"/>
              <a:t>• Lolos jika Net &lt;= 34 ton (VERIFIED_PASS); Tolak jika </a:t>
            </a:r>
            <a:r>
              <a:rPr lang="id-ID" sz="800" dirty="0" err="1"/>
              <a:t>overload</a:t>
            </a:r>
            <a:r>
              <a:rPr lang="id-ID" sz="800" dirty="0"/>
              <a:t> (&gt;34t).</a:t>
            </a:r>
            <a:br>
              <a:rPr lang="id-ID" sz="800" dirty="0"/>
            </a:br>
            <a:r>
              <a:rPr lang="id-ID" sz="800" dirty="0"/>
              <a:t>• Membebankan Jasa Timbang VGM Rp 50.000.</a:t>
            </a:r>
          </a:p>
          <a:p>
            <a:pPr algn="l"/>
            <a:endParaRPr sz="10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733288" y="2029968"/>
            <a:ext cx="365760" cy="201168"/>
          </a:xfrm>
          <a:prstGeom prst="rightArrow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44768" y="1627632"/>
            <a:ext cx="438912" cy="438912"/>
          </a:xfrm>
          <a:prstGeom prst="ellipse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16276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536192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75120" y="1536192"/>
            <a:ext cx="64008" cy="132588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21424" y="1627632"/>
            <a:ext cx="1892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5645" y="1943653"/>
            <a:ext cx="189280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rPr lang="id-ID" sz="800" dirty="0"/>
              <a:t>• Memeriksa jenis muatan: </a:t>
            </a:r>
            <a:r>
              <a:rPr lang="id-ID" sz="800" dirty="0" err="1"/>
              <a:t>Dry</a:t>
            </a:r>
            <a:r>
              <a:rPr lang="id-ID" sz="800" dirty="0"/>
              <a:t> ➔ Blok A/B/C; </a:t>
            </a:r>
            <a:r>
              <a:rPr lang="id-ID" sz="800" dirty="0" err="1"/>
              <a:t>Reefer</a:t>
            </a:r>
            <a:r>
              <a:rPr lang="id-ID" sz="800" dirty="0"/>
              <a:t> ➔ Blok </a:t>
            </a:r>
            <a:r>
              <a:rPr lang="id-ID" sz="800" dirty="0" err="1"/>
              <a:t>Reefer</a:t>
            </a:r>
            <a:r>
              <a:rPr lang="id-ID" sz="800" dirty="0"/>
              <a:t>; DG ➔ Blok Bahaya.</a:t>
            </a:r>
            <a:br>
              <a:rPr lang="id-ID" sz="800" dirty="0"/>
            </a:br>
            <a:r>
              <a:rPr lang="id-ID" sz="800" dirty="0"/>
              <a:t>• Memilih </a:t>
            </a:r>
            <a:r>
              <a:rPr lang="id-ID" sz="800" dirty="0" err="1"/>
              <a:t>slot</a:t>
            </a:r>
            <a:r>
              <a:rPr lang="id-ID" sz="800" dirty="0"/>
              <a:t> kosong terdekat guna menghemat konsumsi BBM solar </a:t>
            </a:r>
            <a:r>
              <a:rPr lang="id-ID" sz="800" dirty="0" err="1"/>
              <a:t>crane</a:t>
            </a:r>
            <a:r>
              <a:rPr lang="id-ID" sz="800" dirty="0"/>
              <a:t>.</a:t>
            </a:r>
            <a:br>
              <a:rPr lang="id-ID" sz="800" dirty="0"/>
            </a:br>
            <a:r>
              <a:rPr lang="id-ID" sz="800" dirty="0"/>
              <a:t>• Teks LED: 'SILAHKAN MASUK B04'.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571078" y="2042580"/>
            <a:ext cx="365760" cy="201168"/>
          </a:xfrm>
          <a:prstGeom prst="rightArrow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87968" y="1627632"/>
            <a:ext cx="438912" cy="438912"/>
          </a:xfrm>
          <a:prstGeom prst="ellipse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87968" y="16276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1536192"/>
            <a:ext cx="2148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18320" y="1536192"/>
            <a:ext cx="64008" cy="1325880"/>
          </a:xfrm>
          <a:prstGeom prst="rect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64624" y="1627632"/>
            <a:ext cx="1892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E-PASS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1975104"/>
            <a:ext cx="189280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rPr lang="id-ID" sz="800" dirty="0"/>
              <a:t>• </a:t>
            </a:r>
            <a:r>
              <a:rPr lang="id-ID" sz="800" dirty="0" err="1"/>
              <a:t>Edge</a:t>
            </a:r>
            <a:r>
              <a:rPr lang="id-ID" sz="800" dirty="0"/>
              <a:t> PC memicu </a:t>
            </a:r>
            <a:r>
              <a:rPr lang="id-ID" sz="800" dirty="0" err="1"/>
              <a:t>relay</a:t>
            </a:r>
            <a:r>
              <a:rPr lang="id-ID" sz="800" dirty="0"/>
              <a:t> mengangkat palang gerbang (1.2 detik).</a:t>
            </a:r>
            <a:br>
              <a:rPr lang="id-ID" sz="800" dirty="0"/>
            </a:br>
            <a:r>
              <a:rPr lang="id-ID" sz="800" dirty="0"/>
              <a:t>• QRCode.js </a:t>
            </a:r>
            <a:r>
              <a:rPr lang="id-ID" sz="800" dirty="0" err="1"/>
              <a:t>Engine</a:t>
            </a:r>
            <a:r>
              <a:rPr lang="id-ID" sz="800" dirty="0"/>
              <a:t>: Menerbitkan tiket digital e-</a:t>
            </a:r>
            <a:r>
              <a:rPr lang="id-ID" sz="800" dirty="0" err="1"/>
              <a:t>Gate</a:t>
            </a:r>
            <a:r>
              <a:rPr lang="id-ID" sz="800" dirty="0"/>
              <a:t> Pass berkode QR (format GP-YYYYMMDD-XXXX) ke </a:t>
            </a:r>
            <a:r>
              <a:rPr lang="id-ID" sz="800" dirty="0" err="1"/>
              <a:t>supir</a:t>
            </a:r>
            <a:r>
              <a:rPr lang="id-ID" sz="800" dirty="0"/>
              <a:t>.</a:t>
            </a:r>
            <a:br>
              <a:rPr lang="id-ID" sz="800" dirty="0"/>
            </a:br>
            <a:r>
              <a:rPr lang="id-ID" sz="800" dirty="0"/>
              <a:t>• Transaksi selesai dalam 28 detik!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4290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3429000"/>
            <a:ext cx="64008" cy="123444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3520440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VGM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3867912"/>
            <a:ext cx="312724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0697D"/>
                </a:solidFill>
                <a:latin typeface="Aptos"/>
              </a:rPr>
              <a:t>Rp 50.000 / timbang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4290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51960" y="3429000"/>
            <a:ext cx="64008" cy="123444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98264" y="3520440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PASS FORMAT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867912"/>
            <a:ext cx="312724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0697D"/>
                </a:solidFill>
                <a:latin typeface="Aptos"/>
              </a:rPr>
              <a:t>GP-YYYYMMDD-XXXX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45552" y="3429000"/>
            <a:ext cx="31729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45552" y="3429000"/>
            <a:ext cx="64008" cy="123444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91856" y="3520440"/>
            <a:ext cx="2916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TARGET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91856" y="3867912"/>
            <a:ext cx="2916936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0697D"/>
                </a:solidFill>
                <a:latin typeface="Aptos"/>
              </a:rPr>
              <a:t>Selesai dalam 28 detik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074920"/>
            <a:ext cx="5303520" cy="310896"/>
          </a:xfrm>
          <a:prstGeom prst="round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573760" y="5073182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 DEMO  •  Truk 1: Lolos  |  Truk 3: Overweight Alert &gt;34t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181" y="544068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A3769"/>
                </a:solidFill>
                <a:latin typeface="Aptos"/>
              </a:rPr>
              <a:t>Output: status, slot, LED “SILAHKAN MASUK B04”, dan QR e-Gate Pass.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24328" y="6638544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2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6867" y="470916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3769"/>
                </a:solidFill>
                <a:latin typeface="Aptos"/>
              </a:rPr>
              <a:t>Dari data operasional → insight → billing tanpa revenue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07 / 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64008" cy="160020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691640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A3769"/>
                </a:solidFill>
                <a:latin typeface="Aptos"/>
              </a:rPr>
              <a:t>DWELL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020038"/>
            <a:ext cx="3081528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Menghitung masa inap: </a:t>
            </a:r>
            <a:r>
              <a:rPr lang="id-ID" sz="1100" dirty="0" err="1"/>
              <a:t>Dwell</a:t>
            </a:r>
            <a:r>
              <a:rPr lang="id-ID" sz="1100" dirty="0"/>
              <a:t> = NOW() - </a:t>
            </a:r>
            <a:r>
              <a:rPr lang="id-ID" sz="1100" dirty="0" err="1"/>
              <a:t>Gate_In_Time</a:t>
            </a:r>
            <a:r>
              <a:rPr lang="id-ID" sz="1100" dirty="0"/>
              <a:t>.</a:t>
            </a:r>
            <a:br>
              <a:rPr lang="id-ID" sz="1100" dirty="0"/>
            </a:br>
            <a:r>
              <a:rPr lang="id-ID" sz="1100" dirty="0"/>
              <a:t>Audit 3 Masa Tarif: Masa I </a:t>
            </a:r>
            <a:r>
              <a:rPr lang="id-ID" sz="1100" dirty="0" err="1"/>
              <a:t>Free</a:t>
            </a:r>
            <a:r>
              <a:rPr lang="id-ID" sz="1100" dirty="0"/>
              <a:t> (1-3 hari), Masa II Rp 45rb/hari (4-10 hari), Masa III Rp 90rb/hari (&gt;10 hari). </a:t>
            </a:r>
            <a:r>
              <a:rPr lang="id-ID" sz="1100" dirty="0" err="1"/>
              <a:t>Heatmap</a:t>
            </a:r>
            <a:r>
              <a:rPr lang="id-ID" sz="1100" dirty="0"/>
              <a:t> yard menyoroti boks </a:t>
            </a:r>
            <a:r>
              <a:rPr lang="id-ID" sz="1100" dirty="0" err="1"/>
              <a:t>overstay</a:t>
            </a:r>
            <a:r>
              <a:rPr lang="id-ID" sz="1100" dirty="0"/>
              <a:t> agar rata-rata </a:t>
            </a:r>
            <a:r>
              <a:rPr lang="id-ID" sz="1100" dirty="0" err="1"/>
              <a:t>dwell</a:t>
            </a:r>
            <a:r>
              <a:rPr lang="id-ID" sz="1100" dirty="0"/>
              <a:t> </a:t>
            </a:r>
            <a:r>
              <a:rPr lang="id-ID" sz="1100" dirty="0" err="1"/>
              <a:t>time</a:t>
            </a:r>
            <a:r>
              <a:rPr lang="id-ID" sz="1100" dirty="0"/>
              <a:t> ditekan ke 2.1 hari!</a:t>
            </a: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87952" y="1600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87952" y="1600200"/>
            <a:ext cx="64008" cy="160020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4256" y="1691640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769"/>
                </a:solidFill>
                <a:latin typeface="Aptos"/>
              </a:rPr>
              <a:t>YARD OCCUPANCY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6126" y="2002536"/>
            <a:ext cx="3081528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a-DK" sz="1100" dirty="0"/>
              <a:t>Menghitung % keterisian 200 slot. Jika Blok A &gt;80%, sistem otomatis memindahkan alokasi kontainer baru ke Blok B/C.</a:t>
            </a:r>
            <a:br>
              <a:rPr lang="da-DK" sz="1100" dirty="0"/>
            </a:b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17536" y="1600200"/>
            <a:ext cx="33009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17536" y="1600200"/>
            <a:ext cx="64008" cy="160020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1691640"/>
            <a:ext cx="30449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769"/>
                </a:solidFill>
                <a:latin typeface="Aptos"/>
              </a:rPr>
              <a:t>EQUIPMENT OEE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979991"/>
            <a:ext cx="304495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100" dirty="0"/>
              <a:t>Melacak </a:t>
            </a:r>
            <a:r>
              <a:rPr lang="id-ID" sz="1100" dirty="0" err="1"/>
              <a:t>Moves</a:t>
            </a:r>
            <a:r>
              <a:rPr lang="id-ID" sz="1100" dirty="0"/>
              <a:t> per </a:t>
            </a:r>
            <a:r>
              <a:rPr lang="id-ID" sz="1100" dirty="0" err="1"/>
              <a:t>Hour</a:t>
            </a:r>
            <a:r>
              <a:rPr lang="id-ID" sz="1100" dirty="0"/>
              <a:t> (&gt;22 </a:t>
            </a:r>
            <a:r>
              <a:rPr lang="id-ID" sz="1100" dirty="0" err="1"/>
              <a:t>box</a:t>
            </a:r>
            <a:r>
              <a:rPr lang="id-ID" sz="1100" dirty="0"/>
              <a:t>/jam) &amp; konsumsi solar per gerakan kontainer.</a:t>
            </a:r>
            <a:endParaRPr sz="11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3611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769"/>
                </a:solidFill>
                <a:latin typeface="Aptos"/>
              </a:rPr>
              <a:t>EVENT-DRIVEN ERP ODOO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05072"/>
            <a:ext cx="21488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005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VGM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4005072"/>
            <a:ext cx="19659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07792" y="400507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689DC"/>
                </a:solidFill>
                <a:latin typeface="Aptos"/>
              </a:rPr>
              <a:t>Rp 50.000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61688"/>
            <a:ext cx="21488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361688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Lift-Off / Lo-Lo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2" y="4361688"/>
            <a:ext cx="19659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07792" y="4361688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9B1E"/>
                </a:solidFill>
                <a:latin typeface="Aptos"/>
              </a:rPr>
              <a:t>Rp 250.000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718304"/>
            <a:ext cx="21488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4718304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Storage hari ke-5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07792" y="4718304"/>
            <a:ext cx="19659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07792" y="4718304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89B69"/>
                </a:solidFill>
                <a:latin typeface="Aptos"/>
              </a:rPr>
              <a:t>Rp 45.000/hari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21488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5074920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Reefer listrik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07792" y="5074920"/>
            <a:ext cx="19659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07792" y="507492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4BEEB"/>
                </a:solidFill>
                <a:latin typeface="Aptos"/>
              </a:rPr>
              <a:t>Rp 250.000/shift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31536"/>
            <a:ext cx="21488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5431536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Rail stevedoring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07792" y="5431536"/>
            <a:ext cx="19659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07792" y="543153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Rp 350.000/box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379476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0" y="3794760"/>
            <a:ext cx="64008" cy="141732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32704" y="3886200"/>
            <a:ext cx="527608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0A3769"/>
                </a:solidFill>
                <a:latin typeface="Aptos"/>
              </a:rPr>
              <a:t>PRINSIP </a:t>
            </a:r>
            <a:r>
              <a:rPr sz="1600" b="1" dirty="0">
                <a:solidFill>
                  <a:srgbClr val="0A3769"/>
                </a:solidFill>
                <a:latin typeface="Aptos"/>
              </a:rPr>
              <a:t>ZERO REVENUE LEAKAGE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2704" y="4233672"/>
            <a:ext cx="527608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1400" dirty="0"/>
              <a:t>Tidak ada jasa fisik yang luput dari penagihan. Semua terkonversi menjadi piutang dan e-Faktur resmi di </a:t>
            </a:r>
            <a:r>
              <a:rPr lang="id-ID" sz="1400" dirty="0" err="1"/>
              <a:t>Odoo</a:t>
            </a:r>
            <a:r>
              <a:rPr lang="id-ID" sz="1400" dirty="0"/>
              <a:t> </a:t>
            </a:r>
            <a:r>
              <a:rPr lang="id-ID" sz="1400" dirty="0" err="1"/>
              <a:t>Invoicing</a:t>
            </a:r>
            <a:r>
              <a:rPr lang="id-ID" sz="1400" dirty="0"/>
              <a:t>!</a:t>
            </a:r>
            <a:endParaRPr sz="13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486400" y="5440680"/>
            <a:ext cx="4846320" cy="310896"/>
          </a:xfrm>
          <a:prstGeom prst="round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0" y="5440680"/>
            <a:ext cx="4846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KPI DEMO: YARD 63%  •  DWELL 2,1 HARI  •  GROSS REVENUE Rp 47,2M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0028" y="6627553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54705" y="470916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689DC"/>
                </a:solidFill>
                <a:latin typeface="Aptos"/>
              </a:rPr>
              <a:t>LIVE DEMO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5841" y="669763"/>
            <a:ext cx="841248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rPr lang="id-ID" sz="2800" dirty="0" err="1"/>
              <a:t>Cheat</a:t>
            </a:r>
            <a:r>
              <a:rPr lang="id-ID" sz="2800" dirty="0"/>
              <a:t> </a:t>
            </a:r>
            <a:r>
              <a:rPr lang="id-ID" sz="2800" dirty="0" err="1"/>
              <a:t>Sheet</a:t>
            </a:r>
            <a:r>
              <a:rPr lang="id-ID" sz="2800" dirty="0"/>
              <a:t> Panduan Live Demo Web &amp; Kesimpulan Nilai </a:t>
            </a:r>
            <a:r>
              <a:rPr lang="en-US" sz="2800" dirty="0" err="1"/>
              <a:t>Strategis</a:t>
            </a:r>
            <a:endParaRPr lang="id-ID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9738360" y="585216"/>
            <a:ext cx="132588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585216"/>
            <a:ext cx="1325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769"/>
                </a:solidFill>
                <a:latin typeface="Aptos"/>
              </a:rPr>
              <a:t>08 / SOFTWARE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2768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5448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Beranda Eksekutif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155448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Dwell 2,1 hari +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" y="1874520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187452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Chart.js / KPI</a:t>
            </a:r>
          </a:p>
        </p:txBody>
      </p:sp>
      <p:sp>
        <p:nvSpPr>
          <p:cNvPr id="14" name="Oval 13"/>
          <p:cNvSpPr/>
          <p:nvPr/>
        </p:nvSpPr>
        <p:spPr>
          <a:xfrm>
            <a:off x="5916168" y="1572768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16168" y="15727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55448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Manajemen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55448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Truk 1 &amp; Overweight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874520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87452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ANPR / OCR / VGM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2441448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4414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242316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Panel Simulasi 3D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242316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Pindahkan Box (RS)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1288" y="2743200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61288" y="274320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Three.js / Raycaster</a:t>
            </a:r>
          </a:p>
        </p:txBody>
      </p:sp>
      <p:sp>
        <p:nvSpPr>
          <p:cNvPr id="26" name="Oval 25"/>
          <p:cNvSpPr/>
          <p:nvPr/>
        </p:nvSpPr>
        <p:spPr>
          <a:xfrm>
            <a:off x="5916168" y="2441448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16168" y="24414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42316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Pelacakan Kontainer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42316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Bay-Row-Tier + SPPB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2743200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274320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RFID / GS1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" y="3310128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331012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329184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Manajemen Trucking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0088" y="329184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Berat + QR e-Pass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61288" y="3611880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61288" y="361188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Tara / Bruto</a:t>
            </a:r>
          </a:p>
        </p:txBody>
      </p:sp>
      <p:sp>
        <p:nvSpPr>
          <p:cNvPr id="38" name="Oval 37"/>
          <p:cNvSpPr/>
          <p:nvPr/>
        </p:nvSpPr>
        <p:spPr>
          <a:xfrm>
            <a:off x="5916168" y="3310128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16168" y="331012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29184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Lokasi Alat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29184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RS-01/02/03 + BBM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088" y="3611880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19088" y="361188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GPS / Radar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" y="4178807"/>
            <a:ext cx="365760" cy="365760"/>
          </a:xfrm>
          <a:prstGeom prst="ellipse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417880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" y="4160519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3769"/>
                </a:solidFill>
                <a:latin typeface="Aptos"/>
              </a:rPr>
              <a:t>Pengaturan Global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0088" y="4160519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697D"/>
                </a:solidFill>
                <a:latin typeface="Aptos"/>
              </a:rPr>
              <a:t>Live DB + tim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61288" y="4480559"/>
            <a:ext cx="1920240" cy="310896"/>
          </a:xfrm>
          <a:prstGeom prst="roundRect">
            <a:avLst/>
          </a:prstGeom>
          <a:solidFill>
            <a:srgbClr val="E7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61288" y="4480559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A3769"/>
                </a:solidFill>
                <a:latin typeface="Aptos"/>
              </a:rPr>
              <a:t>MySQL PDO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36008" y="4663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0A3769"/>
                </a:solidFill>
                <a:latin typeface="Aptos"/>
              </a:rPr>
              <a:t>4 PILAR NILAI STRATEGIS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98348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8368" y="4983480"/>
            <a:ext cx="64008" cy="960120"/>
          </a:xfrm>
          <a:prstGeom prst="rect">
            <a:avLst/>
          </a:prstGeom>
          <a:solidFill>
            <a:srgbClr val="16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672" y="507492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3769"/>
                </a:solidFill>
                <a:latin typeface="Aptos"/>
              </a:rPr>
              <a:t>KECEPATAN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5422392"/>
            <a:ext cx="2231136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900" dirty="0" err="1"/>
              <a:t>Otomasi</a:t>
            </a:r>
            <a:r>
              <a:rPr lang="id-ID" sz="900" dirty="0"/>
              <a:t> </a:t>
            </a:r>
            <a:r>
              <a:rPr lang="id-ID" sz="900" dirty="0" err="1"/>
              <a:t>gate</a:t>
            </a:r>
            <a:r>
              <a:rPr lang="id-ID" sz="900" dirty="0"/>
              <a:t> 28 detik &amp; alokasi yard cerdas memangkas </a:t>
            </a:r>
            <a:r>
              <a:rPr lang="id-ID" sz="900" dirty="0" err="1"/>
              <a:t>dwell</a:t>
            </a:r>
            <a:r>
              <a:rPr lang="id-ID" sz="900" dirty="0"/>
              <a:t> </a:t>
            </a:r>
            <a:r>
              <a:rPr lang="id-ID" sz="900" dirty="0" err="1"/>
              <a:t>time</a:t>
            </a:r>
            <a:r>
              <a:rPr lang="id-ID" sz="900" dirty="0"/>
              <a:t> ke 2.1 hari.</a:t>
            </a:r>
            <a:br>
              <a:rPr lang="id-ID" sz="900" dirty="0"/>
            </a:br>
            <a:endParaRPr lang="id-ID" sz="9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401568" y="498348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401568" y="4983480"/>
            <a:ext cx="64008" cy="96012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47872" y="5074920"/>
            <a:ext cx="22311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3769"/>
                </a:solidFill>
                <a:latin typeface="Aptos"/>
              </a:rPr>
              <a:t>INTEGRITAS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47872" y="5422392"/>
            <a:ext cx="2231136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900" dirty="0"/>
              <a:t>100% data ditangkap otomatis oleh sensor tanpa salah ketik manual.</a:t>
            </a:r>
            <a:br>
              <a:rPr lang="id-ID" sz="900" dirty="0"/>
            </a:br>
            <a:endParaRPr sz="9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144768" y="498348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44768" y="4983480"/>
            <a:ext cx="64008" cy="960120"/>
          </a:xfrm>
          <a:prstGeom prst="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91072" y="5074920"/>
            <a:ext cx="223113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0A3769"/>
                </a:solidFill>
                <a:latin typeface="Aptos"/>
              </a:rPr>
              <a:t>ZERO </a:t>
            </a:r>
            <a:r>
              <a:rPr lang="en-US" sz="1000" b="1" dirty="0">
                <a:solidFill>
                  <a:srgbClr val="0A3769"/>
                </a:solidFill>
                <a:latin typeface="Aptos"/>
              </a:rPr>
              <a:t>REVENUE </a:t>
            </a:r>
            <a:r>
              <a:rPr sz="1000" b="1" dirty="0">
                <a:solidFill>
                  <a:srgbClr val="0A3769"/>
                </a:solidFill>
                <a:latin typeface="Aptos"/>
              </a:rPr>
              <a:t>LEAKAGE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2" y="5422392"/>
            <a:ext cx="2231136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900" dirty="0"/>
              <a:t>Setiap gerakan fisik alat berat langsung tercatat menjadi faktur resmi di ERP </a:t>
            </a:r>
            <a:r>
              <a:rPr lang="id-ID" sz="900" dirty="0" err="1"/>
              <a:t>Odoo</a:t>
            </a:r>
            <a:r>
              <a:rPr lang="id-ID" sz="900" dirty="0"/>
              <a:t>.</a:t>
            </a:r>
            <a:br>
              <a:rPr lang="id-ID" sz="900" dirty="0"/>
            </a:br>
            <a:endParaRPr sz="9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887968" y="498348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887968" y="4983480"/>
            <a:ext cx="64008" cy="960120"/>
          </a:xfrm>
          <a:prstGeom prst="rect">
            <a:avLst/>
          </a:prstGeom>
          <a:solidFill>
            <a:srgbClr val="64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034272" y="5074920"/>
            <a:ext cx="223113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0A3769"/>
                </a:solidFill>
                <a:latin typeface="Aptos"/>
              </a:rPr>
              <a:t>MULTIMODA</a:t>
            </a:r>
            <a:r>
              <a:rPr lang="en-US" sz="1000" b="1" dirty="0">
                <a:solidFill>
                  <a:srgbClr val="0A3769"/>
                </a:solidFill>
                <a:latin typeface="Aptos"/>
              </a:rPr>
              <a:t> TERPADU</a:t>
            </a:r>
            <a:endParaRPr sz="1000" b="1" dirty="0">
              <a:solidFill>
                <a:srgbClr val="0A3769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015984" y="5385816"/>
            <a:ext cx="2231136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d-ID" sz="900" dirty="0"/>
              <a:t>Sinkronisasi mulus truk jalan raya, kereta api logistik, dan kepabeanan DJBC CEISA 4.0.</a:t>
            </a:r>
            <a:endParaRPr sz="900" b="0" dirty="0">
              <a:solidFill>
                <a:srgbClr val="50697D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490321" y="661111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50697D"/>
                </a:solidFill>
                <a:latin typeface="Aptos"/>
              </a:rPr>
              <a:t>Teknologi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dan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Perangkat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Lunak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</a:t>
            </a:r>
            <a:r>
              <a:rPr sz="800" b="0" dirty="0" err="1">
                <a:solidFill>
                  <a:srgbClr val="50697D"/>
                </a:solidFill>
                <a:latin typeface="Aptos"/>
              </a:rPr>
              <a:t>Logistik</a:t>
            </a:r>
            <a:r>
              <a:rPr sz="800" b="0" dirty="0">
                <a:solidFill>
                  <a:srgbClr val="50697D"/>
                </a:solidFill>
                <a:latin typeface="Aptos"/>
              </a:rPr>
              <a:t>  •  CIDP 35 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3280" y="2331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89DC"/>
                </a:solidFill>
                <a:latin typeface="Aptos"/>
              </a:rPr>
              <a:t>SOFTWARE YMS CIDP 35 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06040"/>
            <a:ext cx="8412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“ SIAP DIUJI. SIAP DIINTEGRASIKAN. SIAP MENGAMBIL KEPUTUSAN. 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3429000"/>
            <a:ext cx="1920240" cy="310896"/>
          </a:xfrm>
          <a:prstGeom prst="roundRect">
            <a:avLst/>
          </a:prstGeom>
          <a:solidFill>
            <a:srgbClr val="F4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15968" y="3429000"/>
            <a:ext cx="1920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25196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A3769"/>
                </a:solidFill>
                <a:latin typeface="Aptos"/>
              </a:rPr>
              <a:t>Conclusion Supply Chain Consultant  •  Teknologi dan Perangkat Lunak Logistik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1609</Words>
  <Application>Microsoft Office PowerPoint</Application>
  <PresentationFormat>Widescreen</PresentationFormat>
  <Paragraphs>196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Zulfikar Jafarudin Fatah</dc:creator>
  <cp:keywords/>
  <dc:description>generated using python-pptx</dc:description>
  <cp:lastModifiedBy>Armansyah Muchtarrom</cp:lastModifiedBy>
  <cp:revision>7</cp:revision>
  <dcterms:created xsi:type="dcterms:W3CDTF">2013-01-27T09:14:16Z</dcterms:created>
  <dcterms:modified xsi:type="dcterms:W3CDTF">2026-09-29T18:32:26Z</dcterms:modified>
  <cp:category/>
</cp:coreProperties>
</file>