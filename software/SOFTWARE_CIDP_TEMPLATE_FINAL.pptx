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2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9/30/2026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1177684"/>
            <a:ext cx="7611592" cy="2183524"/>
          </a:xfrm>
          <a:prstGeom prst="rect">
            <a:avLst/>
          </a:prstGeom>
          <a:solidFill>
            <a:srgbClr val="64B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58368" y="1554480"/>
            <a:ext cx="704088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Aptos"/>
              </a:rPr>
              <a:t>TOPIK 7 — INLAND CONTAINER DEPOT (ICD) &amp; DRY PORT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67712"/>
            <a:ext cx="67665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Aptos"/>
              </a:rPr>
              <a:t>ARSITEKTUR SOFTWARE YARD MANAGEMENT SYSTEM (YMS)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761488"/>
            <a:ext cx="6766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ptos"/>
              </a:rPr>
              <a:t>CIDP 35 Ha  |  Decoupled Architecture  |  IoT Ingestion  |  3D Yard  |  ERP Odoo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5989320"/>
            <a:ext cx="5486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FFFFFF"/>
                </a:solidFill>
                <a:latin typeface="Aptos"/>
              </a:rPr>
              <a:t>Conclusion Supply Chain Consultant  •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645152" y="438912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dirty="0">
                <a:solidFill>
                  <a:srgbClr val="1689DC"/>
                </a:solidFill>
                <a:latin typeface="Aptos"/>
              </a:rPr>
              <a:t>SYSTEM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58952"/>
            <a:ext cx="8412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A3769"/>
                </a:solidFill>
                <a:latin typeface="Aptos"/>
              </a:rPr>
              <a:t>3 aliran terminal + 4 layer IT = satu alur keputusan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38360" y="585216"/>
            <a:ext cx="1325880" cy="310896"/>
          </a:xfrm>
          <a:prstGeom prst="roundRect">
            <a:avLst/>
          </a:prstGeom>
          <a:solidFill>
            <a:srgbClr val="E7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738360" y="585216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02 / SOFTWARE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53312"/>
            <a:ext cx="914400" cy="50292"/>
          </a:xfrm>
          <a:prstGeom prst="rect">
            <a:avLst/>
          </a:prstGeom>
          <a:solidFill>
            <a:srgbClr val="F4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658368" y="1627632"/>
            <a:ext cx="331012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27632"/>
            <a:ext cx="64008" cy="1234440"/>
          </a:xfrm>
          <a:prstGeom prst="rect">
            <a:avLst/>
          </a:prstGeom>
          <a:solidFill>
            <a:srgbClr val="168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1719072"/>
            <a:ext cx="3054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A3769"/>
                </a:solidFill>
                <a:latin typeface="Aptos"/>
              </a:rPr>
              <a:t>01  GOODS FLOW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066544"/>
            <a:ext cx="3054096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d-ID" sz="1100" dirty="0"/>
              <a:t>Pergerakan kontainer di gerbang masuk, jembatan timbang 80t, lapangan penumpukan Blok A-E, hingga gerbong kereta api logistik.</a:t>
            </a:r>
            <a:br>
              <a:rPr lang="id-ID" sz="1100" dirty="0"/>
            </a:br>
            <a:endParaRPr sz="1100" b="0" dirty="0">
              <a:solidFill>
                <a:srgbClr val="50697D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297680" y="1627632"/>
            <a:ext cx="331012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80" y="1627632"/>
            <a:ext cx="64008" cy="1234440"/>
          </a:xfrm>
          <a:prstGeom prst="rect">
            <a:avLst/>
          </a:prstGeom>
          <a:solidFill>
            <a:srgbClr val="289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43984" y="1719072"/>
            <a:ext cx="3054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A3769"/>
                </a:solidFill>
                <a:latin typeface="Aptos"/>
              </a:rPr>
              <a:t>02  INFORMATION FLOW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43984" y="2066544"/>
            <a:ext cx="3054096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d-ID" sz="1100" dirty="0"/>
              <a:t>Data instan sensor (OCR, ANPR, DGPS, </a:t>
            </a:r>
            <a:r>
              <a:rPr lang="id-ID" sz="1100" dirty="0" err="1"/>
              <a:t>Twistlock</a:t>
            </a:r>
            <a:r>
              <a:rPr lang="id-ID" sz="1100" dirty="0"/>
              <a:t>, Suhu) yang diolah menjadi koordinat Bay-</a:t>
            </a:r>
            <a:r>
              <a:rPr lang="id-ID" sz="1100" dirty="0" err="1"/>
              <a:t>Row</a:t>
            </a:r>
            <a:r>
              <a:rPr lang="id-ID" sz="1100" dirty="0"/>
              <a:t>-</a:t>
            </a:r>
            <a:r>
              <a:rPr lang="id-ID" sz="1100" dirty="0" err="1"/>
              <a:t>Tier</a:t>
            </a:r>
            <a:r>
              <a:rPr lang="id-ID" sz="1100" dirty="0"/>
              <a:t>.</a:t>
            </a:r>
            <a:br>
              <a:rPr lang="id-ID" sz="1100" dirty="0"/>
            </a:br>
            <a:endParaRPr sz="1100" b="0" dirty="0">
              <a:solidFill>
                <a:srgbClr val="50697D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936992" y="1627632"/>
            <a:ext cx="3310128" cy="1234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36992" y="1627632"/>
            <a:ext cx="64008" cy="1234440"/>
          </a:xfrm>
          <a:prstGeom prst="rect">
            <a:avLst/>
          </a:prstGeom>
          <a:solidFill>
            <a:srgbClr val="F4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83296" y="1719072"/>
            <a:ext cx="305409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A3769"/>
                </a:solidFill>
                <a:latin typeface="Aptos"/>
              </a:rPr>
              <a:t>03  FINANCIAL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83296" y="2066544"/>
            <a:ext cx="3054096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d-ID" sz="1100" dirty="0"/>
              <a:t>Penerbitan piutang &amp; e-Faktur jasa terminal (Lo-Lo, penumpukan progresif, </a:t>
            </a:r>
            <a:r>
              <a:rPr lang="id-ID" sz="1100" dirty="0" err="1"/>
              <a:t>reefer</a:t>
            </a:r>
            <a:r>
              <a:rPr lang="id-ID" sz="1100" dirty="0"/>
              <a:t>) ke ERP </a:t>
            </a:r>
            <a:r>
              <a:rPr lang="id-ID" sz="1100" dirty="0" err="1"/>
              <a:t>Odoo</a:t>
            </a:r>
            <a:r>
              <a:rPr lang="id-ID" sz="1100" dirty="0"/>
              <a:t>.</a:t>
            </a:r>
            <a:endParaRPr sz="1100" b="0" dirty="0">
              <a:solidFill>
                <a:srgbClr val="50697D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58368" y="31546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A3769"/>
                </a:solidFill>
                <a:latin typeface="Aptos"/>
              </a:rPr>
              <a:t>TAKSONOMI 4-LAYER IT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3520440"/>
            <a:ext cx="2487168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58368" y="3520440"/>
            <a:ext cx="64008" cy="1325880"/>
          </a:xfrm>
          <a:prstGeom prst="rect">
            <a:avLst/>
          </a:prstGeom>
          <a:solidFill>
            <a:srgbClr val="168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04672" y="3611880"/>
            <a:ext cx="223113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A3769"/>
                </a:solidFill>
                <a:latin typeface="Aptos"/>
              </a:rPr>
              <a:t>L1  Sensing &amp; Capture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8395" y="3959352"/>
            <a:ext cx="2231136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d-ID" sz="1000" dirty="0">
                <a:latin typeface="Aptos" panose="020B0004020202020204" pitchFamily="34" charset="0"/>
              </a:rPr>
              <a:t>26 Item </a:t>
            </a:r>
            <a:r>
              <a:rPr lang="id-ID" sz="1000" dirty="0" err="1">
                <a:latin typeface="Aptos" panose="020B0004020202020204" pitchFamily="34" charset="0"/>
              </a:rPr>
              <a:t>hardware</a:t>
            </a:r>
            <a:r>
              <a:rPr lang="id-ID" sz="1000" dirty="0">
                <a:latin typeface="Aptos" panose="020B0004020202020204" pitchFamily="34" charset="0"/>
              </a:rPr>
              <a:t> (kamera OCR, timbangan 80t, RFID UHF, </a:t>
            </a:r>
            <a:r>
              <a:rPr lang="id-ID" sz="1000" dirty="0" err="1">
                <a:latin typeface="Aptos" panose="020B0004020202020204" pitchFamily="34" charset="0"/>
              </a:rPr>
              <a:t>twistlock</a:t>
            </a:r>
            <a:r>
              <a:rPr lang="id-ID" sz="1000" dirty="0">
                <a:latin typeface="Aptos" panose="020B0004020202020204" pitchFamily="34" charset="0"/>
              </a:rPr>
              <a:t>, DGPS RTK).</a:t>
            </a:r>
            <a:endParaRPr sz="1000" b="0" dirty="0">
              <a:solidFill>
                <a:srgbClr val="50697D"/>
              </a:solidFill>
              <a:latin typeface="Aptos" panose="020B0004020202020204" pitchFamily="34" charset="0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3401568" y="3520440"/>
            <a:ext cx="2487168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401568" y="3520440"/>
            <a:ext cx="64008" cy="1325880"/>
          </a:xfrm>
          <a:prstGeom prst="rect">
            <a:avLst/>
          </a:prstGeom>
          <a:solidFill>
            <a:srgbClr val="64B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47872" y="3611880"/>
            <a:ext cx="223113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A3769"/>
                </a:solidFill>
                <a:latin typeface="Aptos"/>
              </a:rPr>
              <a:t>L2  Connectivity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1588" y="3941064"/>
            <a:ext cx="2231136" cy="55399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d-ID" sz="1000" dirty="0" err="1"/>
              <a:t>Wi-Fi</a:t>
            </a:r>
            <a:r>
              <a:rPr lang="id-ID" sz="1000" dirty="0"/>
              <a:t> 7, 4G LTE, </a:t>
            </a:r>
            <a:r>
              <a:rPr lang="id-ID" sz="1000" dirty="0" err="1"/>
              <a:t>LoRaWAN</a:t>
            </a:r>
            <a:r>
              <a:rPr lang="id-ID" sz="1000" dirty="0"/>
              <a:t>, RS-232, TCP/IP.</a:t>
            </a:r>
            <a:br>
              <a:rPr lang="id-ID" sz="1000" dirty="0"/>
            </a:br>
            <a:endParaRPr lang="id-ID" sz="1000" b="0" dirty="0">
              <a:solidFill>
                <a:srgbClr val="50697D"/>
              </a:solidFill>
              <a:latin typeface="Aptos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144768" y="3520440"/>
            <a:ext cx="2487168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144768" y="3520440"/>
            <a:ext cx="64008" cy="1325880"/>
          </a:xfrm>
          <a:prstGeom prst="rect">
            <a:avLst/>
          </a:prstGeom>
          <a:solidFill>
            <a:srgbClr val="F4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291072" y="3611880"/>
            <a:ext cx="223113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A3769"/>
                </a:solidFill>
                <a:latin typeface="Aptos"/>
              </a:rPr>
              <a:t>L3  Application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91072" y="3959352"/>
            <a:ext cx="2231136" cy="70788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000" dirty="0"/>
              <a:t>Software YMS, 3D WebGL Engine, Stacking Rules, dan Terminal Tariff Engine.</a:t>
            </a:r>
            <a:br>
              <a:rPr lang="en-US" sz="1000" dirty="0"/>
            </a:br>
            <a:endParaRPr sz="1000" b="0" dirty="0">
              <a:solidFill>
                <a:srgbClr val="50697D"/>
              </a:solidFill>
              <a:latin typeface="Aptos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8887968" y="3520440"/>
            <a:ext cx="2487168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887968" y="3520440"/>
            <a:ext cx="64008" cy="1325880"/>
          </a:xfrm>
          <a:prstGeom prst="rect">
            <a:avLst/>
          </a:prstGeom>
          <a:solidFill>
            <a:srgbClr val="289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034272" y="3611880"/>
            <a:ext cx="223113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A3769"/>
                </a:solidFill>
                <a:latin typeface="Aptos"/>
              </a:rPr>
              <a:t>L4  Integration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034272" y="3959352"/>
            <a:ext cx="2231136" cy="40011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d-ID" sz="1000" dirty="0"/>
              <a:t>REST API, JSON </a:t>
            </a:r>
            <a:r>
              <a:rPr lang="id-ID" sz="1000" dirty="0" err="1"/>
              <a:t>Payload</a:t>
            </a:r>
            <a:r>
              <a:rPr lang="id-ID" sz="1000" dirty="0"/>
              <a:t>, CEISA 4.0 Bea Cukai, SAKA PT KAI, dan </a:t>
            </a:r>
            <a:r>
              <a:rPr lang="id-ID" sz="1000" dirty="0" err="1"/>
              <a:t>Odoo</a:t>
            </a:r>
            <a:r>
              <a:rPr lang="id-ID" sz="1000" dirty="0"/>
              <a:t> ERP.</a:t>
            </a:r>
            <a:endParaRPr sz="1000" b="0" dirty="0">
              <a:solidFill>
                <a:srgbClr val="50697D"/>
              </a:solidFill>
              <a:latin typeface="Apto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1572768" y="5165414"/>
            <a:ext cx="18288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dirty="0">
                <a:solidFill>
                  <a:srgbClr val="1689DC"/>
                </a:solidFill>
                <a:latin typeface="Aptos"/>
              </a:rPr>
              <a:t>NILAI UTAMA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536192" y="5422392"/>
            <a:ext cx="6400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>
                <a:solidFill>
                  <a:srgbClr val="50697D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Sinyal</a:t>
            </a:r>
            <a:r>
              <a:rPr dirty="0"/>
              <a:t> </a:t>
            </a:r>
            <a:r>
              <a:rPr dirty="0" err="1"/>
              <a:t>bobot</a:t>
            </a:r>
            <a:r>
              <a:rPr dirty="0"/>
              <a:t> → SOLAS VGM</a:t>
            </a:r>
          </a:p>
          <a:p>
            <a:pPr>
              <a:spcAft>
                <a:spcPts val="200"/>
              </a:spcAft>
              <a:defRPr sz="1100">
                <a:solidFill>
                  <a:srgbClr val="50697D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Koordinat</a:t>
            </a:r>
            <a:r>
              <a:rPr dirty="0"/>
              <a:t> DGPS → Block-Bay-Row-Tier</a:t>
            </a:r>
          </a:p>
          <a:p>
            <a:pPr>
              <a:spcAft>
                <a:spcPts val="200"/>
              </a:spcAft>
              <a:defRPr sz="1100">
                <a:solidFill>
                  <a:srgbClr val="50697D"/>
                </a:solidFill>
                <a:latin typeface="Aptos"/>
              </a:defRPr>
            </a:pPr>
            <a:r>
              <a:rPr dirty="0"/>
              <a:t>• </a:t>
            </a:r>
            <a:r>
              <a:rPr dirty="0" err="1"/>
              <a:t>Pelepasan</a:t>
            </a:r>
            <a:r>
              <a:rPr dirty="0"/>
              <a:t> </a:t>
            </a:r>
            <a:r>
              <a:rPr dirty="0" err="1"/>
              <a:t>boks</a:t>
            </a:r>
            <a:r>
              <a:rPr dirty="0"/>
              <a:t> → Lo-Lo Rp 250.000</a:t>
            </a:r>
          </a:p>
          <a:p>
            <a:pPr>
              <a:spcAft>
                <a:spcPts val="200"/>
              </a:spcAft>
              <a:defRPr sz="1100">
                <a:solidFill>
                  <a:srgbClr val="50697D"/>
                </a:solidFill>
                <a:latin typeface="Aptos"/>
              </a:defRPr>
            </a:pPr>
            <a:r>
              <a:rPr dirty="0"/>
              <a:t>• Masa </a:t>
            </a:r>
            <a:r>
              <a:rPr dirty="0" err="1"/>
              <a:t>inap</a:t>
            </a:r>
            <a:r>
              <a:rPr dirty="0"/>
              <a:t> → dwell time &amp; heatmap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00680" y="6629400"/>
            <a:ext cx="6858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dirty="0" err="1">
                <a:solidFill>
                  <a:srgbClr val="50697D"/>
                </a:solidFill>
                <a:latin typeface="Aptos"/>
              </a:rPr>
              <a:t>Teknologi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dan </a:t>
            </a:r>
            <a:r>
              <a:rPr sz="800" b="0" dirty="0" err="1">
                <a:solidFill>
                  <a:srgbClr val="50697D"/>
                </a:solidFill>
                <a:latin typeface="Aptos"/>
              </a:rPr>
              <a:t>Perangkat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</a:t>
            </a:r>
            <a:r>
              <a:rPr sz="800" b="0" dirty="0" err="1">
                <a:solidFill>
                  <a:srgbClr val="50697D"/>
                </a:solidFill>
                <a:latin typeface="Aptos"/>
              </a:rPr>
              <a:t>Lunak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</a:t>
            </a:r>
            <a:r>
              <a:rPr sz="800" b="0" dirty="0" err="1">
                <a:solidFill>
                  <a:srgbClr val="50697D"/>
                </a:solidFill>
                <a:latin typeface="Aptos"/>
              </a:rPr>
              <a:t>Logistik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 •  CIDP 35 Ha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645152" y="530352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dirty="0">
                <a:solidFill>
                  <a:srgbClr val="1689DC"/>
                </a:solidFill>
                <a:latin typeface="Aptos"/>
              </a:rPr>
              <a:t>SOFTWARE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58952"/>
            <a:ext cx="8412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A3769"/>
                </a:solidFill>
                <a:latin typeface="Aptos"/>
              </a:rPr>
              <a:t>Decoupled stack: aman diuji di sandbox, siap plug-and-play ke lapangan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38360" y="585216"/>
            <a:ext cx="1325880" cy="310896"/>
          </a:xfrm>
          <a:prstGeom prst="roundRect">
            <a:avLst/>
          </a:prstGeom>
          <a:solidFill>
            <a:srgbClr val="E7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738360" y="585216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03 /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828800"/>
            <a:ext cx="23317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828800"/>
            <a:ext cx="64008" cy="1325880"/>
          </a:xfrm>
          <a:prstGeom prst="rect">
            <a:avLst/>
          </a:prstGeom>
          <a:solidFill>
            <a:srgbClr val="168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1920240"/>
            <a:ext cx="207568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A3769"/>
                </a:solidFill>
                <a:latin typeface="Aptos"/>
              </a:rPr>
              <a:t>HARDWARE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267712"/>
            <a:ext cx="2075688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0697D"/>
                </a:solidFill>
                <a:latin typeface="Aptos"/>
              </a:rPr>
              <a:t>Sensor &amp; kamera
RS-232 / TCP-IP / LoRaWAN</a:t>
            </a:r>
          </a:p>
        </p:txBody>
      </p:sp>
      <p:sp>
        <p:nvSpPr>
          <p:cNvPr id="12" name="Chevron 11"/>
          <p:cNvSpPr/>
          <p:nvPr/>
        </p:nvSpPr>
        <p:spPr>
          <a:xfrm>
            <a:off x="2990088" y="2240280"/>
            <a:ext cx="384048" cy="384048"/>
          </a:xfrm>
          <a:prstGeom prst="chevron">
            <a:avLst/>
          </a:prstGeom>
          <a:solidFill>
            <a:srgbClr val="F4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3401568" y="1828800"/>
            <a:ext cx="23317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401568" y="1828800"/>
            <a:ext cx="64008" cy="1325880"/>
          </a:xfrm>
          <a:prstGeom prst="rect">
            <a:avLst/>
          </a:prstGeom>
          <a:solidFill>
            <a:srgbClr val="64B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47872" y="1920240"/>
            <a:ext cx="207568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A3769"/>
                </a:solidFill>
                <a:latin typeface="Aptos"/>
              </a:rPr>
              <a:t>EDGE GATEWAY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2267712"/>
            <a:ext cx="2075688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0697D"/>
                </a:solidFill>
                <a:latin typeface="Aptos"/>
              </a:rPr>
              <a:t>Normalisasi payload
REST API + JSON</a:t>
            </a:r>
          </a:p>
        </p:txBody>
      </p:sp>
      <p:sp>
        <p:nvSpPr>
          <p:cNvPr id="17" name="Chevron 16"/>
          <p:cNvSpPr/>
          <p:nvPr/>
        </p:nvSpPr>
        <p:spPr>
          <a:xfrm>
            <a:off x="5733288" y="2240280"/>
            <a:ext cx="384048" cy="384048"/>
          </a:xfrm>
          <a:prstGeom prst="chevron">
            <a:avLst/>
          </a:prstGeom>
          <a:solidFill>
            <a:srgbClr val="F4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144768" y="1828800"/>
            <a:ext cx="23317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44768" y="1828800"/>
            <a:ext cx="64008" cy="1325880"/>
          </a:xfrm>
          <a:prstGeom prst="rect">
            <a:avLst/>
          </a:prstGeom>
          <a:solidFill>
            <a:srgbClr val="F4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291072" y="1920240"/>
            <a:ext cx="207568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A3769"/>
                </a:solidFill>
                <a:latin typeface="Aptos"/>
              </a:rPr>
              <a:t>YMS CORE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91072" y="2267712"/>
            <a:ext cx="2075688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0697D"/>
                </a:solidFill>
                <a:latin typeface="Aptos"/>
              </a:rPr>
              <a:t>Business rules
DB MySQL + API</a:t>
            </a:r>
          </a:p>
        </p:txBody>
      </p:sp>
      <p:sp>
        <p:nvSpPr>
          <p:cNvPr id="22" name="Chevron 21"/>
          <p:cNvSpPr/>
          <p:nvPr/>
        </p:nvSpPr>
        <p:spPr>
          <a:xfrm>
            <a:off x="8476488" y="2240280"/>
            <a:ext cx="384048" cy="384048"/>
          </a:xfrm>
          <a:prstGeom prst="chevron">
            <a:avLst/>
          </a:prstGeom>
          <a:solidFill>
            <a:srgbClr val="F4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8887968" y="1828800"/>
            <a:ext cx="23317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887968" y="1828800"/>
            <a:ext cx="64008" cy="1325880"/>
          </a:xfrm>
          <a:prstGeom prst="rect">
            <a:avLst/>
          </a:prstGeom>
          <a:solidFill>
            <a:srgbClr val="289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034272" y="1920240"/>
            <a:ext cx="207568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A3769"/>
                </a:solidFill>
                <a:latin typeface="Aptos"/>
              </a:rPr>
              <a:t>OUTPUT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267712"/>
            <a:ext cx="2075688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0697D"/>
                </a:solidFill>
                <a:latin typeface="Aptos"/>
              </a:rPr>
              <a:t>3D • Dashboard • Odoo
Audit &amp; billing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8368" y="3703320"/>
            <a:ext cx="50749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658368" y="3703320"/>
            <a:ext cx="64008" cy="1325880"/>
          </a:xfrm>
          <a:prstGeom prst="rect">
            <a:avLst/>
          </a:prstGeom>
          <a:solidFill>
            <a:srgbClr val="168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04672" y="3794760"/>
            <a:ext cx="481888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3769"/>
                </a:solidFill>
                <a:latin typeface="Aptos"/>
              </a:rPr>
              <a:t>VIRTUAL IOT SANDBOX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4672" y="4142232"/>
            <a:ext cx="4818888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0697D"/>
                </a:solidFill>
                <a:latin typeface="Aptos"/>
              </a:rPr>
              <a:t>Postman menguji struktur JSON yang sama dengan payload gateway fisik. Hardware dapat diganti tanpa mengubah inti YMS.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0" y="3703320"/>
            <a:ext cx="5074920" cy="1325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943600" y="3703320"/>
            <a:ext cx="64008" cy="1325880"/>
          </a:xfrm>
          <a:prstGeom prst="rect">
            <a:avLst/>
          </a:prstGeom>
          <a:solidFill>
            <a:srgbClr val="289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089904" y="3794760"/>
            <a:ext cx="481888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3769"/>
                </a:solidFill>
                <a:latin typeface="Aptos"/>
              </a:rPr>
              <a:t>STACK SOFTWARE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9904" y="4142232"/>
            <a:ext cx="4818888" cy="7955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50697D"/>
                </a:solidFill>
                <a:latin typeface="Aptos"/>
              </a:rPr>
              <a:t>PHP 8.2 • MySQL 8.0 • Three.js r128 • Leaflet 1.9 • Tailwind 3.4 • Chart.js 4.4 • QRCode.js • Postman v11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5413248"/>
            <a:ext cx="1508760" cy="310896"/>
          </a:xfrm>
          <a:prstGeom prst="roundRect">
            <a:avLst/>
          </a:prstGeom>
          <a:solidFill>
            <a:srgbClr val="F4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58368" y="5413248"/>
            <a:ext cx="15087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Aptos"/>
              </a:rPr>
              <a:t>PLUG-AND-PLAY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31720" y="5413248"/>
            <a:ext cx="5943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A3769"/>
                </a:solidFill>
                <a:latin typeface="Aptos"/>
              </a:rPr>
              <a:t>Saat hardware fisik terpasang, endpoint API tetap sama.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78608" y="6629400"/>
            <a:ext cx="6858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dirty="0" err="1">
                <a:solidFill>
                  <a:srgbClr val="50697D"/>
                </a:solidFill>
                <a:latin typeface="Aptos"/>
              </a:rPr>
              <a:t>Teknologi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dan </a:t>
            </a:r>
            <a:r>
              <a:rPr sz="800" b="0" dirty="0" err="1">
                <a:solidFill>
                  <a:srgbClr val="50697D"/>
                </a:solidFill>
                <a:latin typeface="Aptos"/>
              </a:rPr>
              <a:t>Perangkat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</a:t>
            </a:r>
            <a:r>
              <a:rPr sz="800" b="0" dirty="0" err="1">
                <a:solidFill>
                  <a:srgbClr val="50697D"/>
                </a:solidFill>
                <a:latin typeface="Aptos"/>
              </a:rPr>
              <a:t>Lunak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</a:t>
            </a:r>
            <a:r>
              <a:rPr sz="800" b="0" dirty="0" err="1">
                <a:solidFill>
                  <a:srgbClr val="50697D"/>
                </a:solidFill>
                <a:latin typeface="Aptos"/>
              </a:rPr>
              <a:t>Logistik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 •  CIDP 35 Ha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67428" y="512064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dirty="0">
                <a:solidFill>
                  <a:srgbClr val="1689DC"/>
                </a:solidFill>
                <a:latin typeface="Aptos"/>
              </a:rPr>
              <a:t>DATA INGESTION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58952"/>
            <a:ext cx="8412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A3769"/>
                </a:solidFill>
                <a:latin typeface="Aptos"/>
              </a:rPr>
              <a:t>11 hardware masuk ke software melalui 3 klaster utama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38360" y="585216"/>
            <a:ext cx="1325880" cy="310896"/>
          </a:xfrm>
          <a:prstGeom prst="roundRect">
            <a:avLst/>
          </a:prstGeom>
          <a:solidFill>
            <a:srgbClr val="E7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738360" y="585216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04 / SOFTWARE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53312"/>
            <a:ext cx="914400" cy="50292"/>
          </a:xfrm>
          <a:prstGeom prst="rect">
            <a:avLst/>
          </a:prstGeom>
          <a:solidFill>
            <a:srgbClr val="F4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41" name="Group 40">
            <a:extLst>
              <a:ext uri="{FF2B5EF4-FFF2-40B4-BE49-F238E27FC236}">
                <a16:creationId xmlns:a16="http://schemas.microsoft.com/office/drawing/2014/main" id="{CE20E505-5085-B466-8FD4-54ED4B5981E5}"/>
              </a:ext>
            </a:extLst>
          </p:cNvPr>
          <p:cNvGrpSpPr/>
          <p:nvPr/>
        </p:nvGrpSpPr>
        <p:grpSpPr>
          <a:xfrm>
            <a:off x="658368" y="1600200"/>
            <a:ext cx="10360152" cy="3254553"/>
            <a:chOff x="658368" y="1600200"/>
            <a:chExt cx="10360152" cy="1874519"/>
          </a:xfrm>
        </p:grpSpPr>
        <p:sp>
          <p:nvSpPr>
            <p:cNvPr id="8" name="Rounded Rectangle 7"/>
            <p:cNvSpPr/>
            <p:nvPr/>
          </p:nvSpPr>
          <p:spPr>
            <a:xfrm>
              <a:off x="658368" y="1600200"/>
              <a:ext cx="3337560" cy="187451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7E6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Rectangle 8"/>
            <p:cNvSpPr/>
            <p:nvPr/>
          </p:nvSpPr>
          <p:spPr>
            <a:xfrm>
              <a:off x="658368" y="1600200"/>
              <a:ext cx="64008" cy="1874519"/>
            </a:xfrm>
            <a:prstGeom prst="rect">
              <a:avLst/>
            </a:prstGeom>
            <a:solidFill>
              <a:srgbClr val="1689D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04672" y="1631527"/>
              <a:ext cx="3081528" cy="31089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A3769"/>
                  </a:solidFill>
                  <a:latin typeface="Aptos"/>
                </a:rPr>
                <a:t>01  OTOMASI GATE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804672" y="1906005"/>
              <a:ext cx="3081528" cy="1418157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>
                <a:spcBef>
                  <a:spcPts val="500"/>
                </a:spcBef>
                <a:defRPr sz="850">
                  <a:solidFill>
                    <a:srgbClr val="1E293B"/>
                  </a:solidFill>
                </a:defRPr>
              </a:pPr>
              <a:r>
                <a:rPr lang="id-ID" sz="1100" dirty="0">
                  <a:latin typeface="Aptos" panose="020B0004020202020204" pitchFamily="34" charset="0"/>
                </a:rPr>
                <a:t>• Kamera ANPR (#1): Mengirim </a:t>
              </a:r>
              <a:r>
                <a:rPr lang="id-ID" sz="1100" dirty="0" err="1">
                  <a:latin typeface="Aptos" panose="020B0004020202020204" pitchFamily="34" charset="0"/>
                </a:rPr>
                <a:t>string</a:t>
              </a:r>
              <a:r>
                <a:rPr lang="id-ID" sz="1100" dirty="0">
                  <a:latin typeface="Aptos" panose="020B0004020202020204" pitchFamily="34" charset="0"/>
                </a:rPr>
                <a:t> </a:t>
              </a:r>
              <a:r>
                <a:rPr lang="id-ID" sz="1100" dirty="0" err="1">
                  <a:latin typeface="Aptos" panose="020B0004020202020204" pitchFamily="34" charset="0"/>
                </a:rPr>
                <a:t>plat</a:t>
              </a:r>
              <a:r>
                <a:rPr lang="id-ID" sz="1100" dirty="0">
                  <a:latin typeface="Aptos" panose="020B0004020202020204" pitchFamily="34" charset="0"/>
                </a:rPr>
                <a:t> nomor via TCP/IP HTTP POST.</a:t>
              </a:r>
              <a:br>
                <a:rPr lang="id-ID" sz="1100" dirty="0">
                  <a:latin typeface="Aptos" panose="020B0004020202020204" pitchFamily="34" charset="0"/>
                </a:rPr>
              </a:br>
              <a:r>
                <a:rPr lang="id-ID" sz="1100" dirty="0">
                  <a:latin typeface="Aptos" panose="020B0004020202020204" pitchFamily="34" charset="0"/>
                </a:rPr>
                <a:t>• Kamera OCR (#2): Memancarkan kode ISO 6346 boks via </a:t>
              </a:r>
              <a:r>
                <a:rPr lang="id-ID" sz="1100" dirty="0" err="1">
                  <a:latin typeface="Aptos" panose="020B0004020202020204" pitchFamily="34" charset="0"/>
                </a:rPr>
                <a:t>socket</a:t>
              </a:r>
              <a:r>
                <a:rPr lang="id-ID" sz="1100" dirty="0">
                  <a:latin typeface="Aptos" panose="020B0004020202020204" pitchFamily="34" charset="0"/>
                </a:rPr>
                <a:t> </a:t>
              </a:r>
              <a:r>
                <a:rPr lang="id-ID" sz="1100" dirty="0" err="1">
                  <a:latin typeface="Aptos" panose="020B0004020202020204" pitchFamily="34" charset="0"/>
                </a:rPr>
                <a:t>ethernet</a:t>
              </a:r>
              <a:r>
                <a:rPr lang="id-ID" sz="1100" dirty="0">
                  <a:latin typeface="Aptos" panose="020B0004020202020204" pitchFamily="34" charset="0"/>
                </a:rPr>
                <a:t>.</a:t>
              </a:r>
              <a:br>
                <a:rPr lang="id-ID" sz="1100" dirty="0">
                  <a:latin typeface="Aptos" panose="020B0004020202020204" pitchFamily="34" charset="0"/>
                </a:rPr>
              </a:br>
              <a:r>
                <a:rPr lang="id-ID" sz="1100" dirty="0">
                  <a:latin typeface="Aptos" panose="020B0004020202020204" pitchFamily="34" charset="0"/>
                </a:rPr>
                <a:t>• Timbangan 80t (#6): </a:t>
              </a:r>
              <a:r>
                <a:rPr lang="id-ID" sz="1100" dirty="0" err="1">
                  <a:latin typeface="Aptos" panose="020B0004020202020204" pitchFamily="34" charset="0"/>
                </a:rPr>
                <a:t>Stream</a:t>
              </a:r>
              <a:r>
                <a:rPr lang="id-ID" sz="1100" dirty="0">
                  <a:latin typeface="Aptos" panose="020B0004020202020204" pitchFamily="34" charset="0"/>
                </a:rPr>
                <a:t> berat bruto kendaraan via serial RS-232 </a:t>
              </a:r>
              <a:r>
                <a:rPr lang="id-ID" sz="1100" dirty="0" err="1">
                  <a:latin typeface="Aptos" panose="020B0004020202020204" pitchFamily="34" charset="0"/>
                </a:rPr>
                <a:t>Modbus</a:t>
              </a:r>
              <a:r>
                <a:rPr lang="id-ID" sz="1100" dirty="0">
                  <a:latin typeface="Aptos" panose="020B0004020202020204" pitchFamily="34" charset="0"/>
                </a:rPr>
                <a:t> RTU.</a:t>
              </a:r>
              <a:br>
                <a:rPr lang="id-ID" sz="1100" dirty="0">
                  <a:latin typeface="Aptos" panose="020B0004020202020204" pitchFamily="34" charset="0"/>
                </a:rPr>
              </a:br>
              <a:r>
                <a:rPr lang="id-ID" sz="1100" dirty="0">
                  <a:latin typeface="Aptos" panose="020B0004020202020204" pitchFamily="34" charset="0"/>
                </a:rPr>
                <a:t>• RFID </a:t>
              </a:r>
              <a:r>
                <a:rPr lang="id-ID" sz="1100" dirty="0" err="1">
                  <a:latin typeface="Aptos" panose="020B0004020202020204" pitchFamily="34" charset="0"/>
                </a:rPr>
                <a:t>Reader</a:t>
              </a:r>
              <a:r>
                <a:rPr lang="id-ID" sz="1100" dirty="0">
                  <a:latin typeface="Aptos" panose="020B0004020202020204" pitchFamily="34" charset="0"/>
                </a:rPr>
                <a:t> 20m (#7): Mengirim </a:t>
              </a:r>
              <a:r>
                <a:rPr lang="id-ID" sz="1100" dirty="0" err="1">
                  <a:latin typeface="Aptos" panose="020B0004020202020204" pitchFamily="34" charset="0"/>
                </a:rPr>
                <a:t>tag</a:t>
              </a:r>
              <a:r>
                <a:rPr lang="id-ID" sz="1100" dirty="0">
                  <a:latin typeface="Aptos" panose="020B0004020202020204" pitchFamily="34" charset="0"/>
                </a:rPr>
                <a:t> ID </a:t>
              </a:r>
              <a:r>
                <a:rPr lang="id-ID" sz="1100" dirty="0" err="1">
                  <a:latin typeface="Aptos" panose="020B0004020202020204" pitchFamily="34" charset="0"/>
                </a:rPr>
                <a:t>supir</a:t>
              </a:r>
              <a:r>
                <a:rPr lang="id-ID" sz="1100" dirty="0">
                  <a:latin typeface="Aptos" panose="020B0004020202020204" pitchFamily="34" charset="0"/>
                </a:rPr>
                <a:t> via Wiegand-34 </a:t>
              </a:r>
              <a:r>
                <a:rPr lang="id-ID" sz="1100" dirty="0" err="1">
                  <a:latin typeface="Aptos" panose="020B0004020202020204" pitchFamily="34" charset="0"/>
                </a:rPr>
                <a:t>interface</a:t>
              </a:r>
              <a:r>
                <a:rPr lang="id-ID" sz="1100" dirty="0">
                  <a:latin typeface="Aptos" panose="020B0004020202020204" pitchFamily="34" charset="0"/>
                </a:rPr>
                <a:t>.</a:t>
              </a:r>
              <a:br>
                <a:rPr lang="id-ID" sz="1100" dirty="0">
                  <a:latin typeface="Aptos" panose="020B0004020202020204" pitchFamily="34" charset="0"/>
                </a:rPr>
              </a:br>
              <a:r>
                <a:rPr lang="id-ID" sz="1100" dirty="0">
                  <a:latin typeface="Aptos" panose="020B0004020202020204" pitchFamily="34" charset="0"/>
                </a:rPr>
                <a:t>• </a:t>
              </a:r>
              <a:r>
                <a:rPr lang="id-ID" sz="1100" dirty="0" err="1">
                  <a:latin typeface="Aptos" panose="020B0004020202020204" pitchFamily="34" charset="0"/>
                </a:rPr>
                <a:t>Edge</a:t>
              </a:r>
              <a:r>
                <a:rPr lang="id-ID" sz="1100" dirty="0">
                  <a:latin typeface="Aptos" panose="020B0004020202020204" pitchFamily="34" charset="0"/>
                </a:rPr>
                <a:t> AI PC (#18): Mengagregasi sensor gerbang menjadi 1 </a:t>
              </a:r>
              <a:r>
                <a:rPr lang="id-ID" sz="1100" dirty="0" err="1">
                  <a:latin typeface="Aptos" panose="020B0004020202020204" pitchFamily="34" charset="0"/>
                </a:rPr>
                <a:t>payload</a:t>
              </a:r>
              <a:r>
                <a:rPr lang="id-ID" sz="1100" dirty="0">
                  <a:latin typeface="Aptos" panose="020B0004020202020204" pitchFamily="34" charset="0"/>
                </a:rPr>
                <a:t> JSON ke </a:t>
              </a:r>
              <a:r>
                <a:rPr lang="id-ID" sz="1100" dirty="0" err="1">
                  <a:latin typeface="Aptos" panose="020B0004020202020204" pitchFamily="34" charset="0"/>
                </a:rPr>
                <a:t>endpoint</a:t>
              </a:r>
              <a:r>
                <a:rPr lang="id-ID" sz="1100" dirty="0">
                  <a:latin typeface="Aptos" panose="020B0004020202020204" pitchFamily="34" charset="0"/>
                </a:rPr>
                <a:t> YMS.</a:t>
              </a:r>
              <a:br>
                <a:rPr lang="id-ID" sz="1100" dirty="0">
                  <a:latin typeface="Aptos" panose="020B0004020202020204" pitchFamily="34" charset="0"/>
                </a:rPr>
              </a:br>
              <a:r>
                <a:rPr lang="id-ID" sz="1100" dirty="0">
                  <a:latin typeface="Aptos" panose="020B0004020202020204" pitchFamily="34" charset="0"/>
                </a:rPr>
                <a:t>• LED </a:t>
              </a:r>
              <a:r>
                <a:rPr lang="id-ID" sz="1100" dirty="0" err="1">
                  <a:latin typeface="Aptos" panose="020B0004020202020204" pitchFamily="34" charset="0"/>
                </a:rPr>
                <a:t>Display</a:t>
              </a:r>
              <a:r>
                <a:rPr lang="id-ID" sz="1100" dirty="0">
                  <a:latin typeface="Aptos" panose="020B0004020202020204" pitchFamily="34" charset="0"/>
                </a:rPr>
                <a:t> (#10): Menerima perintah serial untuk menampilkan instruksi blok penumpukan.</a:t>
              </a:r>
            </a:p>
          </p:txBody>
        </p:sp>
        <p:sp>
          <p:nvSpPr>
            <p:cNvPr id="12" name="Rounded Rectangle 11"/>
            <p:cNvSpPr/>
            <p:nvPr/>
          </p:nvSpPr>
          <p:spPr>
            <a:xfrm>
              <a:off x="4187952" y="1600200"/>
              <a:ext cx="3337560" cy="187451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7E6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4187952" y="1600200"/>
              <a:ext cx="64008" cy="1874519"/>
            </a:xfrm>
            <a:prstGeom prst="rect">
              <a:avLst/>
            </a:prstGeom>
            <a:solidFill>
              <a:srgbClr val="F49B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4329684" y="1635785"/>
              <a:ext cx="3081528" cy="31089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 dirty="0">
                  <a:solidFill>
                    <a:srgbClr val="0A3769"/>
                  </a:solidFill>
                  <a:latin typeface="Aptos"/>
                </a:rPr>
                <a:t>02  YARD &amp; ALAT BERAT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274820" y="1895916"/>
              <a:ext cx="3273552" cy="141815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>
                <a:spcBef>
                  <a:spcPts val="500"/>
                </a:spcBef>
                <a:defRPr sz="850">
                  <a:solidFill>
                    <a:srgbClr val="1E293B"/>
                  </a:solidFill>
                </a:defRPr>
              </a:pPr>
              <a:r>
                <a:rPr lang="id-ID" sz="1100" dirty="0">
                  <a:latin typeface="Aptos" panose="020B0004020202020204" pitchFamily="34" charset="0"/>
                </a:rPr>
                <a:t>• DGPS RTK </a:t>
              </a:r>
              <a:r>
                <a:rPr lang="id-ID" sz="1100" dirty="0" err="1">
                  <a:latin typeface="Aptos" panose="020B0004020202020204" pitchFamily="34" charset="0"/>
                </a:rPr>
                <a:t>Receiver</a:t>
              </a:r>
              <a:r>
                <a:rPr lang="id-ID" sz="1100" dirty="0">
                  <a:latin typeface="Aptos" panose="020B0004020202020204" pitchFamily="34" charset="0"/>
                </a:rPr>
                <a:t> (#21):</a:t>
              </a:r>
              <a:br>
                <a:rPr lang="id-ID" sz="1100" dirty="0">
                  <a:latin typeface="Aptos" panose="020B0004020202020204" pitchFamily="34" charset="0"/>
                </a:rPr>
              </a:br>
              <a:r>
                <a:rPr lang="id-ID" sz="1100" dirty="0">
                  <a:latin typeface="Aptos" panose="020B0004020202020204" pitchFamily="34" charset="0"/>
                </a:rPr>
                <a:t>  Mengirim koordinat NMEA-0183 ($GNGGA) akurasi sentimeter (&lt;2 cm) dari </a:t>
              </a:r>
              <a:r>
                <a:rPr lang="id-ID" sz="1100" dirty="0" err="1">
                  <a:latin typeface="Aptos" panose="020B0004020202020204" pitchFamily="34" charset="0"/>
                </a:rPr>
                <a:t>boom</a:t>
              </a:r>
              <a:r>
                <a:rPr lang="id-ID" sz="1100" dirty="0">
                  <a:latin typeface="Aptos" panose="020B0004020202020204" pitchFamily="34" charset="0"/>
                </a:rPr>
                <a:t> </a:t>
              </a:r>
              <a:r>
                <a:rPr lang="id-ID" sz="1100" dirty="0" err="1">
                  <a:latin typeface="Aptos" panose="020B0004020202020204" pitchFamily="34" charset="0"/>
                </a:rPr>
                <a:t>Reach</a:t>
              </a:r>
              <a:r>
                <a:rPr lang="id-ID" sz="1100" dirty="0">
                  <a:latin typeface="Aptos" panose="020B0004020202020204" pitchFamily="34" charset="0"/>
                </a:rPr>
                <a:t> </a:t>
              </a:r>
              <a:r>
                <a:rPr lang="id-ID" sz="1100" dirty="0" err="1">
                  <a:latin typeface="Aptos" panose="020B0004020202020204" pitchFamily="34" charset="0"/>
                </a:rPr>
                <a:t>Stacker</a:t>
              </a:r>
              <a:r>
                <a:rPr lang="id-ID" sz="1100" dirty="0">
                  <a:latin typeface="Aptos" panose="020B0004020202020204" pitchFamily="34" charset="0"/>
                </a:rPr>
                <a:t>.</a:t>
              </a:r>
              <a:br>
                <a:rPr lang="id-ID" sz="1100" dirty="0">
                  <a:latin typeface="Aptos" panose="020B0004020202020204" pitchFamily="34" charset="0"/>
                </a:rPr>
              </a:br>
              <a:br>
                <a:rPr lang="id-ID" sz="1100" dirty="0">
                  <a:latin typeface="Aptos" panose="020B0004020202020204" pitchFamily="34" charset="0"/>
                </a:rPr>
              </a:br>
              <a:r>
                <a:rPr lang="id-ID" sz="1100" dirty="0">
                  <a:latin typeface="Aptos" panose="020B0004020202020204" pitchFamily="34" charset="0"/>
                </a:rPr>
                <a:t>• </a:t>
              </a:r>
              <a:r>
                <a:rPr lang="id-ID" sz="1100" dirty="0" err="1">
                  <a:latin typeface="Aptos" panose="020B0004020202020204" pitchFamily="34" charset="0"/>
                </a:rPr>
                <a:t>Spreader</a:t>
              </a:r>
              <a:r>
                <a:rPr lang="id-ID" sz="1100" dirty="0">
                  <a:latin typeface="Aptos" panose="020B0004020202020204" pitchFamily="34" charset="0"/>
                </a:rPr>
                <a:t> </a:t>
              </a:r>
              <a:r>
                <a:rPr lang="id-ID" sz="1100" dirty="0" err="1">
                  <a:latin typeface="Aptos" panose="020B0004020202020204" pitchFamily="34" charset="0"/>
                </a:rPr>
                <a:t>Twistlock</a:t>
              </a:r>
              <a:r>
                <a:rPr lang="id-ID" sz="1100" dirty="0">
                  <a:latin typeface="Aptos" panose="020B0004020202020204" pitchFamily="34" charset="0"/>
                </a:rPr>
                <a:t> Sensor (#22):</a:t>
              </a:r>
              <a:br>
                <a:rPr lang="id-ID" sz="1100" dirty="0">
                  <a:latin typeface="Aptos" panose="020B0004020202020204" pitchFamily="34" charset="0"/>
                </a:rPr>
              </a:br>
              <a:r>
                <a:rPr lang="id-ID" sz="1100" dirty="0">
                  <a:latin typeface="Aptos" panose="020B0004020202020204" pitchFamily="34" charset="0"/>
                </a:rPr>
                <a:t>  Mengirim status </a:t>
              </a:r>
              <a:r>
                <a:rPr lang="id-ID" sz="1100" dirty="0" err="1">
                  <a:latin typeface="Aptos" panose="020B0004020202020204" pitchFamily="34" charset="0"/>
                </a:rPr>
                <a:t>pin</a:t>
              </a:r>
              <a:r>
                <a:rPr lang="id-ID" sz="1100" dirty="0">
                  <a:latin typeface="Aptos" panose="020B0004020202020204" pitchFamily="34" charset="0"/>
                </a:rPr>
                <a:t> hidrolik via bus </a:t>
              </a:r>
              <a:r>
                <a:rPr lang="id-ID" sz="1100" dirty="0" err="1">
                  <a:latin typeface="Aptos" panose="020B0004020202020204" pitchFamily="34" charset="0"/>
                </a:rPr>
                <a:t>CANopen</a:t>
              </a:r>
              <a:r>
                <a:rPr lang="id-ID" sz="1100" dirty="0">
                  <a:latin typeface="Aptos" panose="020B0004020202020204" pitchFamily="34" charset="0"/>
                </a:rPr>
                <a:t> (0 = UNLOCKED, 1 = LOCKED) dan </a:t>
              </a:r>
              <a:r>
                <a:rPr lang="id-ID" sz="1100" dirty="0" err="1">
                  <a:latin typeface="Aptos" panose="020B0004020202020204" pitchFamily="34" charset="0"/>
                </a:rPr>
                <a:t>load</a:t>
              </a:r>
              <a:r>
                <a:rPr lang="id-ID" sz="1100" dirty="0">
                  <a:latin typeface="Aptos" panose="020B0004020202020204" pitchFamily="34" charset="0"/>
                </a:rPr>
                <a:t> </a:t>
              </a:r>
              <a:r>
                <a:rPr lang="id-ID" sz="1100" dirty="0" err="1">
                  <a:latin typeface="Aptos" panose="020B0004020202020204" pitchFamily="34" charset="0"/>
                </a:rPr>
                <a:t>cell</a:t>
              </a:r>
              <a:r>
                <a:rPr lang="id-ID" sz="1100" dirty="0">
                  <a:latin typeface="Aptos" panose="020B0004020202020204" pitchFamily="34" charset="0"/>
                </a:rPr>
                <a:t> tonase.</a:t>
              </a:r>
              <a:br>
                <a:rPr lang="id-ID" sz="1100" dirty="0">
                  <a:latin typeface="Aptos" panose="020B0004020202020204" pitchFamily="34" charset="0"/>
                </a:rPr>
              </a:br>
              <a:br>
                <a:rPr lang="id-ID" sz="1100" dirty="0">
                  <a:latin typeface="Aptos" panose="020B0004020202020204" pitchFamily="34" charset="0"/>
                </a:rPr>
              </a:br>
              <a:r>
                <a:rPr lang="id-ID" sz="1100" dirty="0">
                  <a:latin typeface="Aptos" panose="020B0004020202020204" pitchFamily="34" charset="0"/>
                </a:rPr>
                <a:t>• Logika Perkawinan Sinyal:</a:t>
              </a:r>
              <a:br>
                <a:rPr lang="id-ID" sz="1100" dirty="0">
                  <a:latin typeface="Aptos" panose="020B0004020202020204" pitchFamily="34" charset="0"/>
                </a:rPr>
              </a:br>
              <a:r>
                <a:rPr lang="id-ID" sz="1100" dirty="0">
                  <a:latin typeface="Aptos" panose="020B0004020202020204" pitchFamily="34" charset="0"/>
                </a:rPr>
                <a:t>  </a:t>
              </a:r>
              <a:r>
                <a:rPr lang="id-ID" sz="1100" dirty="0" err="1">
                  <a:latin typeface="Aptos" panose="020B0004020202020204" pitchFamily="34" charset="0"/>
                </a:rPr>
                <a:t>Software</a:t>
              </a:r>
              <a:r>
                <a:rPr lang="id-ID" sz="1100" dirty="0">
                  <a:latin typeface="Aptos" panose="020B0004020202020204" pitchFamily="34" charset="0"/>
                </a:rPr>
                <a:t> mendeteksi perubahan LOCKED ➔ UNLOCKED sebagai penanda mutlak pelepasan kontainer di yard, mengunci koordinat DGPS detik itu juga!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7717536" y="1600200"/>
              <a:ext cx="3300984" cy="1874519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7E6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7717536" y="1600200"/>
              <a:ext cx="64008" cy="1874519"/>
            </a:xfrm>
            <a:prstGeom prst="rect">
              <a:avLst/>
            </a:prstGeom>
            <a:solidFill>
              <a:srgbClr val="289B6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7863840" y="1691640"/>
              <a:ext cx="3044952" cy="31089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400" b="1">
                  <a:solidFill>
                    <a:srgbClr val="0A3769"/>
                  </a:solidFill>
                  <a:latin typeface="Aptos"/>
                </a:rPr>
                <a:t>03  FASILITAS KHUSUS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7863840" y="1847088"/>
              <a:ext cx="3044952" cy="1435883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>
                <a:spcBef>
                  <a:spcPts val="500"/>
                </a:spcBef>
                <a:defRPr sz="850">
                  <a:solidFill>
                    <a:srgbClr val="1E293B"/>
                  </a:solidFill>
                </a:defRPr>
              </a:pPr>
              <a:r>
                <a:rPr lang="id-ID" sz="1200" dirty="0"/>
                <a:t>• </a:t>
              </a:r>
              <a:r>
                <a:rPr lang="id-ID" sz="1200" dirty="0" err="1">
                  <a:latin typeface="Aptos" panose="020B0004020202020204" pitchFamily="34" charset="0"/>
                </a:rPr>
                <a:t>Smart</a:t>
              </a:r>
              <a:r>
                <a:rPr lang="id-ID" sz="1200" dirty="0"/>
                <a:t> </a:t>
              </a:r>
              <a:r>
                <a:rPr lang="id-ID" sz="1200" dirty="0" err="1"/>
                <a:t>Reefer</a:t>
              </a:r>
              <a:r>
                <a:rPr lang="id-ID" sz="1200" dirty="0"/>
                <a:t> </a:t>
              </a:r>
              <a:r>
                <a:rPr lang="id-ID" sz="1200" dirty="0" err="1"/>
                <a:t>Socket</a:t>
              </a:r>
              <a:r>
                <a:rPr lang="id-ID" sz="1200" dirty="0"/>
                <a:t> (#23):</a:t>
              </a:r>
              <a:br>
                <a:rPr lang="id-ID" sz="1200" dirty="0"/>
              </a:br>
              <a:r>
                <a:rPr lang="id-ID" sz="1200" dirty="0"/>
                <a:t>  </a:t>
              </a:r>
              <a:r>
                <a:rPr lang="id-ID" sz="1200" dirty="0" err="1"/>
                <a:t>Ingestion</a:t>
              </a:r>
              <a:r>
                <a:rPr lang="id-ID" sz="1200" dirty="0"/>
                <a:t> arus ampere, daya kWh, dan suhu pendingin kompresor (-18°C) via </a:t>
              </a:r>
              <a:r>
                <a:rPr lang="id-ID" sz="1200" dirty="0" err="1"/>
                <a:t>LoRaWAN</a:t>
              </a:r>
              <a:r>
                <a:rPr lang="id-ID" sz="1200" dirty="0"/>
                <a:t>/</a:t>
              </a:r>
              <a:r>
                <a:rPr lang="id-ID" sz="1200" dirty="0" err="1"/>
                <a:t>Modbus</a:t>
              </a:r>
              <a:r>
                <a:rPr lang="id-ID" sz="1200" dirty="0"/>
                <a:t> setiap 5 detik.</a:t>
              </a:r>
              <a:br>
                <a:rPr lang="id-ID" sz="1200" dirty="0"/>
              </a:br>
              <a:br>
                <a:rPr lang="id-ID" sz="1200" dirty="0"/>
              </a:br>
              <a:r>
                <a:rPr lang="id-ID" sz="1200" dirty="0"/>
                <a:t>• </a:t>
              </a:r>
              <a:r>
                <a:rPr lang="id-ID" sz="1200" dirty="0" err="1"/>
                <a:t>Rail</a:t>
              </a:r>
              <a:r>
                <a:rPr lang="id-ID" sz="1200" dirty="0"/>
                <a:t> </a:t>
              </a:r>
              <a:r>
                <a:rPr lang="id-ID" sz="1200" dirty="0" err="1"/>
                <a:t>Axle</a:t>
              </a:r>
              <a:r>
                <a:rPr lang="id-ID" sz="1200" dirty="0"/>
                <a:t> </a:t>
              </a:r>
              <a:r>
                <a:rPr lang="id-ID" sz="1200" dirty="0" err="1"/>
                <a:t>Counter</a:t>
              </a:r>
              <a:r>
                <a:rPr lang="id-ID" sz="1200" dirty="0"/>
                <a:t> (#25):</a:t>
              </a:r>
              <a:br>
                <a:rPr lang="id-ID" sz="1200" dirty="0"/>
              </a:br>
              <a:r>
                <a:rPr lang="id-ID" sz="1200" dirty="0"/>
                <a:t>  </a:t>
              </a:r>
              <a:r>
                <a:rPr lang="id-ID" sz="1200" dirty="0" err="1"/>
                <a:t>Ingestion</a:t>
              </a:r>
              <a:r>
                <a:rPr lang="id-ID" sz="1200" dirty="0"/>
                <a:t> pulsa roda kereta dari sensor leher rel </a:t>
              </a:r>
              <a:r>
                <a:rPr lang="id-ID" sz="1200" dirty="0" err="1"/>
                <a:t>Frauscher</a:t>
              </a:r>
              <a:r>
                <a:rPr lang="id-ID" sz="1200" dirty="0"/>
                <a:t>, dikonversi menjadi hitungan gerbong.</a:t>
              </a:r>
              <a:br>
                <a:rPr lang="id-ID" sz="1200" dirty="0"/>
              </a:br>
              <a:br>
                <a:rPr lang="id-ID" sz="1200" dirty="0"/>
              </a:br>
              <a:r>
                <a:rPr lang="id-ID" sz="1200" dirty="0"/>
                <a:t>• </a:t>
              </a:r>
              <a:r>
                <a:rPr lang="id-ID" sz="1200" dirty="0" err="1"/>
                <a:t>Smart</a:t>
              </a:r>
              <a:r>
                <a:rPr lang="id-ID" sz="1200" dirty="0"/>
                <a:t> E-</a:t>
              </a:r>
              <a:r>
                <a:rPr lang="id-ID" sz="1200" dirty="0" err="1"/>
                <a:t>Seal</a:t>
              </a:r>
              <a:r>
                <a:rPr lang="id-ID" sz="1200" dirty="0"/>
                <a:t> GPS (#26):</a:t>
              </a:r>
              <a:br>
                <a:rPr lang="id-ID" sz="1200" dirty="0"/>
              </a:br>
              <a:r>
                <a:rPr lang="id-ID" sz="1200" dirty="0"/>
                <a:t>  </a:t>
              </a:r>
              <a:r>
                <a:rPr lang="id-ID" sz="1200" dirty="0" err="1"/>
                <a:t>Ingestion</a:t>
              </a:r>
              <a:r>
                <a:rPr lang="id-ID" sz="1200" dirty="0"/>
                <a:t> koordinat GPS rute Priok-CIDP dan status </a:t>
              </a:r>
              <a:r>
                <a:rPr lang="id-ID" sz="1200" dirty="0" err="1"/>
                <a:t>loop</a:t>
              </a:r>
              <a:r>
                <a:rPr lang="id-ID" sz="1200" dirty="0"/>
                <a:t> kawat segel via MQTT jaringan 4G.</a:t>
              </a:r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D86B8E5B-8D92-E772-656E-6FACD229A408}"/>
              </a:ext>
            </a:extLst>
          </p:cNvPr>
          <p:cNvGrpSpPr/>
          <p:nvPr/>
        </p:nvGrpSpPr>
        <p:grpSpPr>
          <a:xfrm>
            <a:off x="915924" y="4882896"/>
            <a:ext cx="10360152" cy="1216152"/>
            <a:chOff x="658368" y="3840480"/>
            <a:chExt cx="10360152" cy="1216152"/>
          </a:xfrm>
        </p:grpSpPr>
        <p:sp>
          <p:nvSpPr>
            <p:cNvPr id="20" name="TextBox 19"/>
            <p:cNvSpPr txBox="1"/>
            <p:nvPr/>
          </p:nvSpPr>
          <p:spPr>
            <a:xfrm>
              <a:off x="658368" y="3840480"/>
              <a:ext cx="2743200" cy="27432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200" b="1">
                  <a:solidFill>
                    <a:srgbClr val="0A3769"/>
                  </a:solidFill>
                  <a:latin typeface="Aptos"/>
                </a:rPr>
                <a:t>LOGIKA PERKAWINAN SINYAL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58368" y="4279392"/>
              <a:ext cx="1143000" cy="310896"/>
            </a:xfrm>
            <a:prstGeom prst="roundRect">
              <a:avLst/>
            </a:prstGeom>
            <a:solidFill>
              <a:srgbClr val="E7F4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58368" y="4279392"/>
              <a:ext cx="114300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1000" b="1">
                  <a:solidFill>
                    <a:srgbClr val="0A3769"/>
                  </a:solidFill>
                  <a:latin typeface="Aptos"/>
                </a:rPr>
                <a:t>DGPS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58368" y="4663440"/>
              <a:ext cx="1508760" cy="32004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000" b="0">
                  <a:solidFill>
                    <a:srgbClr val="50697D"/>
                  </a:solidFill>
                  <a:latin typeface="Aptos"/>
                </a:rPr>
                <a:t>X,Y,Z</a:t>
              </a:r>
            </a:p>
          </p:txBody>
        </p:sp>
        <p:sp>
          <p:nvSpPr>
            <p:cNvPr id="24" name="Right Arrow 23"/>
            <p:cNvSpPr/>
            <p:nvPr/>
          </p:nvSpPr>
          <p:spPr>
            <a:xfrm>
              <a:off x="1847088" y="4361688"/>
              <a:ext cx="457200" cy="228600"/>
            </a:xfrm>
            <a:prstGeom prst="rightArrow">
              <a:avLst/>
            </a:prstGeom>
            <a:solidFill>
              <a:srgbClr val="64BEE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Rounded Rectangle 24"/>
            <p:cNvSpPr/>
            <p:nvPr/>
          </p:nvSpPr>
          <p:spPr>
            <a:xfrm>
              <a:off x="3172968" y="4279392"/>
              <a:ext cx="1143000" cy="310896"/>
            </a:xfrm>
            <a:prstGeom prst="roundRect">
              <a:avLst/>
            </a:prstGeom>
            <a:solidFill>
              <a:srgbClr val="E7F4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3172968" y="4279392"/>
              <a:ext cx="114300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1000" b="1">
                  <a:solidFill>
                    <a:srgbClr val="0A3769"/>
                  </a:solidFill>
                  <a:latin typeface="Aptos"/>
                </a:rPr>
                <a:t>TWISTLOCK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172968" y="4663440"/>
              <a:ext cx="1508760" cy="32004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000" b="0">
                  <a:solidFill>
                    <a:srgbClr val="50697D"/>
                  </a:solidFill>
                  <a:latin typeface="Aptos"/>
                </a:rPr>
                <a:t>LOCK→UNLOCK</a:t>
              </a:r>
            </a:p>
          </p:txBody>
        </p:sp>
        <p:sp>
          <p:nvSpPr>
            <p:cNvPr id="28" name="Right Arrow 27"/>
            <p:cNvSpPr/>
            <p:nvPr/>
          </p:nvSpPr>
          <p:spPr>
            <a:xfrm>
              <a:off x="4361688" y="4361688"/>
              <a:ext cx="457200" cy="228600"/>
            </a:xfrm>
            <a:prstGeom prst="rightArrow">
              <a:avLst/>
            </a:prstGeom>
            <a:solidFill>
              <a:srgbClr val="64BEE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Rounded Rectangle 28"/>
            <p:cNvSpPr/>
            <p:nvPr/>
          </p:nvSpPr>
          <p:spPr>
            <a:xfrm>
              <a:off x="5687568" y="4279392"/>
              <a:ext cx="1143000" cy="310896"/>
            </a:xfrm>
            <a:prstGeom prst="roundRect">
              <a:avLst/>
            </a:prstGeom>
            <a:solidFill>
              <a:srgbClr val="E7F4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5687568" y="4279392"/>
              <a:ext cx="114300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1000" b="1">
                  <a:solidFill>
                    <a:srgbClr val="0A3769"/>
                  </a:solidFill>
                  <a:latin typeface="Aptos"/>
                </a:rPr>
                <a:t>YMS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5687568" y="4663440"/>
              <a:ext cx="1508760" cy="32004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000" b="0">
                  <a:solidFill>
                    <a:srgbClr val="50697D"/>
                  </a:solidFill>
                  <a:latin typeface="Aptos"/>
                </a:rPr>
                <a:t>LOCK POSITION</a:t>
              </a:r>
            </a:p>
          </p:txBody>
        </p:sp>
        <p:sp>
          <p:nvSpPr>
            <p:cNvPr id="32" name="Right Arrow 31"/>
            <p:cNvSpPr/>
            <p:nvPr/>
          </p:nvSpPr>
          <p:spPr>
            <a:xfrm>
              <a:off x="6876288" y="4361688"/>
              <a:ext cx="457200" cy="228600"/>
            </a:xfrm>
            <a:prstGeom prst="rightArrow">
              <a:avLst/>
            </a:prstGeom>
            <a:solidFill>
              <a:srgbClr val="64BEE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3" name="Rounded Rectangle 32"/>
            <p:cNvSpPr/>
            <p:nvPr/>
          </p:nvSpPr>
          <p:spPr>
            <a:xfrm>
              <a:off x="8202168" y="4279392"/>
              <a:ext cx="1143000" cy="310896"/>
            </a:xfrm>
            <a:prstGeom prst="roundRect">
              <a:avLst/>
            </a:prstGeom>
            <a:solidFill>
              <a:srgbClr val="E7F4F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202168" y="4279392"/>
              <a:ext cx="114300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1000" b="1">
                  <a:solidFill>
                    <a:srgbClr val="0A3769"/>
                  </a:solidFill>
                  <a:latin typeface="Aptos"/>
                </a:rPr>
                <a:t>3D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8202168" y="4663440"/>
              <a:ext cx="1508760" cy="320040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ctr"/>
              <a:r>
                <a:rPr sz="1000" b="0">
                  <a:solidFill>
                    <a:srgbClr val="50697D"/>
                  </a:solidFill>
                  <a:latin typeface="Aptos"/>
                </a:rPr>
                <a:t>UPDATE MESH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8138160" y="4096512"/>
              <a:ext cx="2880360" cy="96012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7E6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8138160" y="4096512"/>
              <a:ext cx="64008" cy="960120"/>
            </a:xfrm>
            <a:prstGeom prst="rect">
              <a:avLst/>
            </a:prstGeom>
            <a:solidFill>
              <a:srgbClr val="F49B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8284464" y="4187952"/>
              <a:ext cx="2624328" cy="31089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300" b="1">
                  <a:solidFill>
                    <a:srgbClr val="0A3769"/>
                  </a:solidFill>
                  <a:latin typeface="Aptos"/>
                </a:rPr>
                <a:t>LIVE DEMO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8284464" y="4535424"/>
              <a:ext cx="2624328" cy="42976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100" b="0">
                  <a:solidFill>
                    <a:srgbClr val="50697D"/>
                  </a:solidFill>
                  <a:latin typeface="Aptos"/>
                </a:rPr>
                <a:t>Gate + telemetry sensor feed</a:t>
              </a:r>
            </a:p>
          </p:txBody>
        </p:sp>
      </p:grpSp>
      <p:sp>
        <p:nvSpPr>
          <p:cNvPr id="40" name="TextBox 39"/>
          <p:cNvSpPr txBox="1"/>
          <p:nvPr/>
        </p:nvSpPr>
        <p:spPr>
          <a:xfrm>
            <a:off x="2667000" y="6629400"/>
            <a:ext cx="6858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dirty="0" err="1">
                <a:solidFill>
                  <a:srgbClr val="50697D"/>
                </a:solidFill>
                <a:latin typeface="Aptos"/>
              </a:rPr>
              <a:t>Teknologi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dan </a:t>
            </a:r>
            <a:r>
              <a:rPr sz="800" b="0" dirty="0" err="1">
                <a:solidFill>
                  <a:srgbClr val="50697D"/>
                </a:solidFill>
                <a:latin typeface="Aptos"/>
              </a:rPr>
              <a:t>Perangkat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</a:t>
            </a:r>
            <a:r>
              <a:rPr sz="800" b="0" dirty="0" err="1">
                <a:solidFill>
                  <a:srgbClr val="50697D"/>
                </a:solidFill>
                <a:latin typeface="Aptos"/>
              </a:rPr>
              <a:t>Lunak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</a:t>
            </a:r>
            <a:r>
              <a:rPr sz="800" b="0" dirty="0" err="1">
                <a:solidFill>
                  <a:srgbClr val="50697D"/>
                </a:solidFill>
                <a:latin typeface="Aptos"/>
              </a:rPr>
              <a:t>Logistik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 •  CIDP 35 Ha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8288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61911" y="502920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dirty="0">
                <a:solidFill>
                  <a:srgbClr val="1689DC"/>
                </a:solidFill>
                <a:latin typeface="Aptos"/>
              </a:rPr>
              <a:t>CORE ENGINE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58952"/>
            <a:ext cx="8412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A3769"/>
                </a:solidFill>
                <a:latin typeface="Aptos"/>
              </a:rPr>
              <a:t>Dynamic Yard Allocation + 3D Stacking Matrix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38360" y="585216"/>
            <a:ext cx="1325880" cy="310896"/>
          </a:xfrm>
          <a:prstGeom prst="roundRect">
            <a:avLst/>
          </a:prstGeom>
          <a:solidFill>
            <a:srgbClr val="E7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738360" y="585216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05 / SOFTWARE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53312"/>
            <a:ext cx="914400" cy="50292"/>
          </a:xfrm>
          <a:prstGeom prst="rect">
            <a:avLst/>
          </a:prstGeom>
          <a:solidFill>
            <a:srgbClr val="F4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8368" y="160020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0A3769"/>
                </a:solidFill>
                <a:latin typeface="Aptos"/>
              </a:rPr>
              <a:t>BLOCK A–E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057400"/>
            <a:ext cx="438912" cy="384048"/>
          </a:xfrm>
          <a:prstGeom prst="roundRect">
            <a:avLst/>
          </a:prstGeom>
          <a:solidFill>
            <a:srgbClr val="E7F4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8368" y="2057400"/>
            <a:ext cx="438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19" y="2057400"/>
            <a:ext cx="438912" cy="384048"/>
          </a:xfrm>
          <a:prstGeom prst="roundRect">
            <a:avLst/>
          </a:prstGeom>
          <a:solidFill>
            <a:srgbClr val="D2EB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88719" y="2057400"/>
            <a:ext cx="438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21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719072" y="2057400"/>
            <a:ext cx="438912" cy="384048"/>
          </a:xfrm>
          <a:prstGeom prst="roundRect">
            <a:avLst/>
          </a:prstGeom>
          <a:solidFill>
            <a:srgbClr val="E1F2E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719072" y="2057400"/>
            <a:ext cx="438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31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49424" y="2057400"/>
            <a:ext cx="438912" cy="384048"/>
          </a:xfrm>
          <a:prstGeom prst="roundRect">
            <a:avLst/>
          </a:prstGeom>
          <a:solidFill>
            <a:srgbClr val="FFEEC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249424" y="2057400"/>
            <a:ext cx="438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41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779776" y="2057400"/>
            <a:ext cx="438912" cy="384048"/>
          </a:xfrm>
          <a:prstGeom prst="roundRect">
            <a:avLst/>
          </a:prstGeom>
          <a:solidFill>
            <a:srgbClr val="EBE6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779776" y="2057400"/>
            <a:ext cx="438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51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2560320"/>
            <a:ext cx="438912" cy="384048"/>
          </a:xfrm>
          <a:prstGeom prst="roundRect">
            <a:avLst/>
          </a:prstGeom>
          <a:solidFill>
            <a:srgbClr val="D2EB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" y="2560320"/>
            <a:ext cx="438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188719" y="2560320"/>
            <a:ext cx="438912" cy="384048"/>
          </a:xfrm>
          <a:prstGeom prst="roundRect">
            <a:avLst/>
          </a:prstGeom>
          <a:solidFill>
            <a:srgbClr val="E1F2E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188719" y="2560320"/>
            <a:ext cx="438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22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719072" y="2560320"/>
            <a:ext cx="438912" cy="384048"/>
          </a:xfrm>
          <a:prstGeom prst="roundRect">
            <a:avLst/>
          </a:prstGeom>
          <a:solidFill>
            <a:srgbClr val="FFEEC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719072" y="2560320"/>
            <a:ext cx="438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32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249424" y="2560320"/>
            <a:ext cx="438912" cy="384048"/>
          </a:xfrm>
          <a:prstGeom prst="roundRect">
            <a:avLst/>
          </a:prstGeom>
          <a:solidFill>
            <a:srgbClr val="EBE6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2249424" y="2560320"/>
            <a:ext cx="438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42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779776" y="2560320"/>
            <a:ext cx="438912" cy="384048"/>
          </a:xfrm>
          <a:prstGeom prst="roundRect">
            <a:avLst/>
          </a:prstGeom>
          <a:solidFill>
            <a:srgbClr val="E7F4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779776" y="2560320"/>
            <a:ext cx="438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52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3063240"/>
            <a:ext cx="438912" cy="384048"/>
          </a:xfrm>
          <a:prstGeom prst="roundRect">
            <a:avLst/>
          </a:prstGeom>
          <a:solidFill>
            <a:srgbClr val="E1F2E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8" y="3063240"/>
            <a:ext cx="438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13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88719" y="3063240"/>
            <a:ext cx="438912" cy="384048"/>
          </a:xfrm>
          <a:prstGeom prst="roundRect">
            <a:avLst/>
          </a:prstGeom>
          <a:solidFill>
            <a:srgbClr val="FFEEC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188719" y="3063240"/>
            <a:ext cx="438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23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719072" y="3063240"/>
            <a:ext cx="438912" cy="384048"/>
          </a:xfrm>
          <a:prstGeom prst="roundRect">
            <a:avLst/>
          </a:prstGeom>
          <a:solidFill>
            <a:srgbClr val="EBE6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719072" y="3063240"/>
            <a:ext cx="438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33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249424" y="3063240"/>
            <a:ext cx="438912" cy="384048"/>
          </a:xfrm>
          <a:prstGeom prst="roundRect">
            <a:avLst/>
          </a:prstGeom>
          <a:solidFill>
            <a:srgbClr val="E7F4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249424" y="3063240"/>
            <a:ext cx="438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43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779776" y="3063240"/>
            <a:ext cx="438912" cy="384048"/>
          </a:xfrm>
          <a:prstGeom prst="roundRect">
            <a:avLst/>
          </a:prstGeom>
          <a:solidFill>
            <a:srgbClr val="D2EB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2779776" y="3063240"/>
            <a:ext cx="438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53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58368" y="3566160"/>
            <a:ext cx="438912" cy="384048"/>
          </a:xfrm>
          <a:prstGeom prst="roundRect">
            <a:avLst/>
          </a:prstGeom>
          <a:solidFill>
            <a:srgbClr val="FFEEC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58368" y="3566160"/>
            <a:ext cx="438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14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88719" y="3566160"/>
            <a:ext cx="438912" cy="384048"/>
          </a:xfrm>
          <a:prstGeom prst="roundRect">
            <a:avLst/>
          </a:prstGeom>
          <a:solidFill>
            <a:srgbClr val="EBE6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88719" y="3566160"/>
            <a:ext cx="438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24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719072" y="3566160"/>
            <a:ext cx="438912" cy="384048"/>
          </a:xfrm>
          <a:prstGeom prst="roundRect">
            <a:avLst/>
          </a:prstGeom>
          <a:solidFill>
            <a:srgbClr val="E7F4FC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1719072" y="3566160"/>
            <a:ext cx="438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34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49424" y="3566160"/>
            <a:ext cx="438912" cy="384048"/>
          </a:xfrm>
          <a:prstGeom prst="roundRect">
            <a:avLst/>
          </a:prstGeom>
          <a:solidFill>
            <a:srgbClr val="D2EB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249424" y="3566160"/>
            <a:ext cx="438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44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2779776" y="3566160"/>
            <a:ext cx="438912" cy="384048"/>
          </a:xfrm>
          <a:prstGeom prst="roundRect">
            <a:avLst/>
          </a:prstGeom>
          <a:solidFill>
            <a:srgbClr val="E1F2E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2779776" y="3566160"/>
            <a:ext cx="438912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54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8368" y="425196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0697D"/>
                </a:solidFill>
                <a:latin typeface="Aptos"/>
              </a:rPr>
              <a:t>Bay → Row → Tier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20440" y="1600200"/>
            <a:ext cx="347472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Rectangle 50"/>
          <p:cNvSpPr/>
          <p:nvPr/>
        </p:nvSpPr>
        <p:spPr>
          <a:xfrm>
            <a:off x="3520440" y="1600200"/>
            <a:ext cx="64008" cy="1828800"/>
          </a:xfrm>
          <a:prstGeom prst="rect">
            <a:avLst/>
          </a:prstGeom>
          <a:solidFill>
            <a:srgbClr val="F4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690392" y="1659636"/>
            <a:ext cx="3218688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400" b="1" dirty="0" err="1">
                <a:solidFill>
                  <a:srgbClr val="0A3769"/>
                </a:solidFill>
                <a:latin typeface="Aptos"/>
              </a:rPr>
              <a:t>Aturan</a:t>
            </a:r>
            <a:r>
              <a:rPr lang="en-US" sz="1400" b="1" dirty="0">
                <a:solidFill>
                  <a:srgbClr val="0A3769"/>
                </a:solidFill>
                <a:latin typeface="Aptos"/>
              </a:rPr>
              <a:t> </a:t>
            </a:r>
            <a:r>
              <a:rPr lang="en-US" sz="1400" b="1" dirty="0" err="1">
                <a:solidFill>
                  <a:srgbClr val="0A3769"/>
                </a:solidFill>
                <a:latin typeface="Aptos"/>
              </a:rPr>
              <a:t>Penumpukan</a:t>
            </a:r>
            <a:r>
              <a:rPr lang="en-US" sz="1400" b="1" dirty="0">
                <a:solidFill>
                  <a:srgbClr val="0A3769"/>
                </a:solidFill>
                <a:latin typeface="Aptos"/>
              </a:rPr>
              <a:t> </a:t>
            </a:r>
            <a:r>
              <a:rPr lang="en-US" sz="1400" b="1" dirty="0" err="1">
                <a:solidFill>
                  <a:srgbClr val="0A3769"/>
                </a:solidFill>
                <a:latin typeface="Aptos"/>
              </a:rPr>
              <a:t>Cerdas</a:t>
            </a:r>
            <a:r>
              <a:rPr lang="en-US" sz="1400" b="1" dirty="0">
                <a:solidFill>
                  <a:srgbClr val="0A3769"/>
                </a:solidFill>
                <a:latin typeface="Aptos"/>
              </a:rPr>
              <a:t> (Stacking Rules)</a:t>
            </a:r>
            <a:endParaRPr sz="1400" b="1" dirty="0">
              <a:solidFill>
                <a:srgbClr val="0A3769"/>
              </a:solidFill>
              <a:latin typeface="Aptos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3689919" y="1886772"/>
            <a:ext cx="3218688" cy="152349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600"/>
              </a:spcBef>
              <a:defRPr sz="900">
                <a:solidFill>
                  <a:srgbClr val="1E293B"/>
                </a:solidFill>
              </a:defRPr>
            </a:pPr>
            <a:br>
              <a:rPr lang="id-ID" sz="800" dirty="0">
                <a:latin typeface="Aptos" panose="020B0004020202020204" pitchFamily="34" charset="0"/>
              </a:rPr>
            </a:br>
            <a:br>
              <a:rPr lang="id-ID" sz="800" dirty="0">
                <a:latin typeface="Aptos" panose="020B0004020202020204" pitchFamily="34" charset="0"/>
              </a:rPr>
            </a:br>
            <a:r>
              <a:rPr lang="id-ID" sz="1100" dirty="0">
                <a:latin typeface="Aptos" panose="020B0004020202020204" pitchFamily="34" charset="0"/>
              </a:rPr>
              <a:t>1. </a:t>
            </a:r>
            <a:r>
              <a:rPr lang="id-ID" sz="1100" dirty="0" err="1">
                <a:latin typeface="Aptos" panose="020B0004020202020204" pitchFamily="34" charset="0"/>
              </a:rPr>
              <a:t>Heavy-on-Bottom</a:t>
            </a:r>
            <a:r>
              <a:rPr lang="id-ID" sz="1100" dirty="0">
                <a:latin typeface="Aptos" panose="020B0004020202020204" pitchFamily="34" charset="0"/>
              </a:rPr>
              <a:t> </a:t>
            </a:r>
            <a:r>
              <a:rPr lang="id-ID" sz="1100" dirty="0" err="1">
                <a:latin typeface="Aptos" panose="020B0004020202020204" pitchFamily="34" charset="0"/>
              </a:rPr>
              <a:t>Rule</a:t>
            </a:r>
            <a:r>
              <a:rPr lang="id-ID" sz="1100" dirty="0">
                <a:latin typeface="Aptos" panose="020B0004020202020204" pitchFamily="34" charset="0"/>
              </a:rPr>
              <a:t>: Peti kemas bermuatan berat (Laden 25-32 ton) wajib di </a:t>
            </a:r>
            <a:r>
              <a:rPr lang="id-ID" sz="1100" dirty="0" err="1">
                <a:latin typeface="Aptos" panose="020B0004020202020204" pitchFamily="34" charset="0"/>
              </a:rPr>
              <a:t>Tier</a:t>
            </a:r>
            <a:r>
              <a:rPr lang="id-ID" sz="1100" dirty="0">
                <a:latin typeface="Aptos" panose="020B0004020202020204" pitchFamily="34" charset="0"/>
              </a:rPr>
              <a:t> 1 &amp; 2; boks kosong (</a:t>
            </a:r>
            <a:r>
              <a:rPr lang="id-ID" sz="1100" dirty="0" err="1">
                <a:latin typeface="Aptos" panose="020B0004020202020204" pitchFamily="34" charset="0"/>
              </a:rPr>
              <a:t>Empty</a:t>
            </a:r>
            <a:r>
              <a:rPr lang="id-ID" sz="1100" dirty="0">
                <a:latin typeface="Aptos" panose="020B0004020202020204" pitchFamily="34" charset="0"/>
              </a:rPr>
              <a:t>) di </a:t>
            </a:r>
            <a:r>
              <a:rPr lang="id-ID" sz="1100" dirty="0" err="1">
                <a:latin typeface="Aptos" panose="020B0004020202020204" pitchFamily="34" charset="0"/>
              </a:rPr>
              <a:t>Tier</a:t>
            </a:r>
            <a:r>
              <a:rPr lang="id-ID" sz="1100" dirty="0">
                <a:latin typeface="Aptos" panose="020B0004020202020204" pitchFamily="34" charset="0"/>
              </a:rPr>
              <a:t> 3 &amp; 4.</a:t>
            </a:r>
            <a:br>
              <a:rPr lang="id-ID" sz="1100" dirty="0">
                <a:latin typeface="Aptos" panose="020B0004020202020204" pitchFamily="34" charset="0"/>
              </a:rPr>
            </a:br>
            <a:r>
              <a:rPr lang="id-ID" sz="1100" dirty="0">
                <a:latin typeface="Aptos" panose="020B0004020202020204" pitchFamily="34" charset="0"/>
              </a:rPr>
              <a:t>  2. Anti-</a:t>
            </a:r>
            <a:r>
              <a:rPr lang="id-ID" sz="1100" dirty="0" err="1">
                <a:latin typeface="Aptos" panose="020B0004020202020204" pitchFamily="34" charset="0"/>
              </a:rPr>
              <a:t>Overhang</a:t>
            </a:r>
            <a:r>
              <a:rPr lang="id-ID" sz="1100" dirty="0">
                <a:latin typeface="Aptos" panose="020B0004020202020204" pitchFamily="34" charset="0"/>
              </a:rPr>
              <a:t> </a:t>
            </a:r>
            <a:r>
              <a:rPr lang="id-ID" sz="1100" dirty="0" err="1">
                <a:latin typeface="Aptos" panose="020B0004020202020204" pitchFamily="34" charset="0"/>
              </a:rPr>
              <a:t>Check</a:t>
            </a:r>
            <a:r>
              <a:rPr lang="id-ID" sz="1100" dirty="0">
                <a:latin typeface="Aptos" panose="020B0004020202020204" pitchFamily="34" charset="0"/>
              </a:rPr>
              <a:t>: Kontainer 40ft dilarang ditumpuk di atas kontainer 20ft.</a:t>
            </a:r>
            <a:br>
              <a:rPr lang="id-ID" sz="1100" dirty="0">
                <a:latin typeface="Aptos" panose="020B0004020202020204" pitchFamily="34" charset="0"/>
              </a:rPr>
            </a:br>
            <a:r>
              <a:rPr lang="id-ID" sz="1100" dirty="0">
                <a:latin typeface="Aptos" panose="020B0004020202020204" pitchFamily="34" charset="0"/>
              </a:rPr>
              <a:t>  3. Segregasi Kelas Bahaya: Kontainer DG otomatis dialokasikan ke Blok DG terisolasi.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178040" y="1600200"/>
            <a:ext cx="3840480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7178040" y="1600200"/>
            <a:ext cx="64008" cy="1828800"/>
          </a:xfrm>
          <a:prstGeom prst="rect">
            <a:avLst/>
          </a:prstGeom>
          <a:solidFill>
            <a:srgbClr val="CD46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7360920" y="1652046"/>
            <a:ext cx="3584448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400" b="1" dirty="0" err="1">
                <a:solidFill>
                  <a:srgbClr val="0A3769"/>
                </a:solidFill>
                <a:latin typeface="Aptos"/>
              </a:rPr>
              <a:t>Deteksi</a:t>
            </a:r>
            <a:r>
              <a:rPr lang="en-US" sz="1400" b="1" dirty="0">
                <a:solidFill>
                  <a:srgbClr val="0A3769"/>
                </a:solidFill>
                <a:latin typeface="Aptos"/>
              </a:rPr>
              <a:t> </a:t>
            </a:r>
            <a:r>
              <a:rPr lang="en-US" sz="1400" b="1" dirty="0" err="1">
                <a:solidFill>
                  <a:srgbClr val="0A3769"/>
                </a:solidFill>
                <a:latin typeface="Aptos"/>
              </a:rPr>
              <a:t>Tabrakan</a:t>
            </a:r>
            <a:r>
              <a:rPr lang="en-US" sz="1400" b="1" dirty="0">
                <a:solidFill>
                  <a:srgbClr val="0A3769"/>
                </a:solidFill>
                <a:latin typeface="Aptos"/>
              </a:rPr>
              <a:t> Slot </a:t>
            </a:r>
          </a:p>
          <a:p>
            <a:pPr algn="l"/>
            <a:r>
              <a:rPr lang="en-US" sz="1400" b="1" dirty="0">
                <a:solidFill>
                  <a:srgbClr val="0A3769"/>
                </a:solidFill>
                <a:latin typeface="Aptos"/>
              </a:rPr>
              <a:t>(Collision Prevention)</a:t>
            </a:r>
            <a:endParaRPr sz="1400" b="1" dirty="0">
              <a:solidFill>
                <a:srgbClr val="0A3769"/>
              </a:solidFill>
              <a:latin typeface="Aptos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338060" y="2147382"/>
            <a:ext cx="3584448" cy="93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id-ID" sz="1100" dirty="0" err="1"/>
              <a:t>Software</a:t>
            </a:r>
            <a:r>
              <a:rPr lang="id-ID" sz="1100" dirty="0"/>
              <a:t> memvalidasi ketersediaan </a:t>
            </a:r>
            <a:r>
              <a:rPr lang="id-ID" sz="1100" dirty="0" err="1"/>
              <a:t>slot</a:t>
            </a:r>
            <a:r>
              <a:rPr lang="id-ID" sz="1100" dirty="0"/>
              <a:t> sebelum eksekusi:</a:t>
            </a:r>
            <a:br>
              <a:rPr lang="id-ID" sz="1100" dirty="0"/>
            </a:br>
            <a:r>
              <a:rPr lang="id-ID" sz="1100" dirty="0"/>
              <a:t>  SELECT </a:t>
            </a:r>
            <a:r>
              <a:rPr lang="id-ID" sz="1100" dirty="0" err="1"/>
              <a:t>id</a:t>
            </a:r>
            <a:r>
              <a:rPr lang="id-ID" sz="1100" dirty="0"/>
              <a:t> FROM </a:t>
            </a:r>
            <a:r>
              <a:rPr lang="id-ID" sz="1100" dirty="0" err="1"/>
              <a:t>containers</a:t>
            </a:r>
            <a:r>
              <a:rPr lang="id-ID" sz="1100" dirty="0"/>
              <a:t> WHERE </a:t>
            </a:r>
            <a:r>
              <a:rPr lang="id-ID" sz="1100" dirty="0" err="1"/>
              <a:t>block</a:t>
            </a:r>
            <a:r>
              <a:rPr lang="id-ID" sz="1100" dirty="0"/>
              <a:t>=? AND </a:t>
            </a:r>
            <a:r>
              <a:rPr lang="id-ID" sz="1100" dirty="0" err="1"/>
              <a:t>bay</a:t>
            </a:r>
            <a:r>
              <a:rPr lang="id-ID" sz="1100" dirty="0"/>
              <a:t>=? AND </a:t>
            </a:r>
            <a:r>
              <a:rPr lang="id-ID" sz="1100" dirty="0" err="1"/>
              <a:t>row</a:t>
            </a:r>
            <a:r>
              <a:rPr lang="id-ID" sz="1100" dirty="0"/>
              <a:t>=? AND </a:t>
            </a:r>
            <a:r>
              <a:rPr lang="id-ID" sz="1100" dirty="0" err="1"/>
              <a:t>tier</a:t>
            </a:r>
            <a:r>
              <a:rPr lang="id-ID" sz="1100" dirty="0"/>
              <a:t>=? AND status='</a:t>
            </a:r>
            <a:r>
              <a:rPr lang="id-ID" sz="1100" dirty="0" err="1"/>
              <a:t>in_yard</a:t>
            </a:r>
            <a:r>
              <a:rPr lang="id-ID" sz="1100" dirty="0"/>
              <a:t>';</a:t>
            </a:r>
            <a:br>
              <a:rPr lang="id-ID" sz="1100" dirty="0"/>
            </a:br>
            <a:r>
              <a:rPr lang="id-ID" sz="1100" dirty="0"/>
              <a:t>  Jika terisi, perintah relokasi ditolak demi keamanan!</a:t>
            </a:r>
            <a:br>
              <a:rPr lang="id-ID" sz="1100" dirty="0"/>
            </a:br>
            <a:endParaRPr lang="id-ID" sz="1100" b="0" dirty="0">
              <a:solidFill>
                <a:srgbClr val="50697D"/>
              </a:solidFill>
              <a:latin typeface="Aptos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3520440" y="3703320"/>
            <a:ext cx="36576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Rectangle 58"/>
          <p:cNvSpPr/>
          <p:nvPr/>
        </p:nvSpPr>
        <p:spPr>
          <a:xfrm>
            <a:off x="3520440" y="3703320"/>
            <a:ext cx="64008" cy="1417320"/>
          </a:xfrm>
          <a:prstGeom prst="rect">
            <a:avLst/>
          </a:prstGeom>
          <a:solidFill>
            <a:srgbClr val="289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666744" y="3794760"/>
            <a:ext cx="340156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400" b="1" dirty="0" err="1">
                <a:solidFill>
                  <a:srgbClr val="0A3769"/>
                </a:solidFill>
                <a:latin typeface="Aptos"/>
              </a:rPr>
              <a:t>Transaksi</a:t>
            </a:r>
            <a:r>
              <a:rPr lang="en-US" sz="1400" b="1" dirty="0">
                <a:solidFill>
                  <a:srgbClr val="0A3769"/>
                </a:solidFill>
                <a:latin typeface="Aptos"/>
              </a:rPr>
              <a:t> Basis Data </a:t>
            </a:r>
            <a:r>
              <a:rPr lang="en-US" sz="1400" b="1" dirty="0" err="1">
                <a:solidFill>
                  <a:srgbClr val="0A3769"/>
                </a:solidFill>
                <a:latin typeface="Aptos"/>
              </a:rPr>
              <a:t>Atomik</a:t>
            </a:r>
            <a:r>
              <a:rPr lang="en-US" sz="1400" b="1" dirty="0">
                <a:solidFill>
                  <a:srgbClr val="0A3769"/>
                </a:solidFill>
                <a:latin typeface="Aptos"/>
              </a:rPr>
              <a:t> (ACID)</a:t>
            </a:r>
            <a:endParaRPr sz="1400" b="1" dirty="0">
              <a:solidFill>
                <a:srgbClr val="0A3769"/>
              </a:solidFill>
              <a:latin typeface="Aptos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3666744" y="4142232"/>
            <a:ext cx="3401568" cy="9387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d-ID" sz="1100" dirty="0"/>
              <a:t>1. </a:t>
            </a:r>
            <a:r>
              <a:rPr lang="id-ID" sz="1100" dirty="0" err="1"/>
              <a:t>Update</a:t>
            </a:r>
            <a:r>
              <a:rPr lang="id-ID" sz="1100" dirty="0"/>
              <a:t> koordinat kontainer.</a:t>
            </a:r>
            <a:br>
              <a:rPr lang="id-ID" sz="1100" dirty="0"/>
            </a:br>
            <a:r>
              <a:rPr lang="id-ID" sz="1100" dirty="0"/>
              <a:t>2. Pelepasan status alat berat </a:t>
            </a:r>
            <a:r>
              <a:rPr lang="id-ID" sz="1100" dirty="0" err="1"/>
              <a:t>Reach</a:t>
            </a:r>
            <a:r>
              <a:rPr lang="id-ID" sz="1100" dirty="0"/>
              <a:t> </a:t>
            </a:r>
            <a:r>
              <a:rPr lang="id-ID" sz="1100" dirty="0" err="1"/>
              <a:t>Stacker</a:t>
            </a:r>
            <a:r>
              <a:rPr lang="id-ID" sz="1100" dirty="0"/>
              <a:t>.</a:t>
            </a:r>
            <a:br>
              <a:rPr lang="id-ID" sz="1100" dirty="0"/>
            </a:br>
            <a:r>
              <a:rPr lang="id-ID" sz="1100" dirty="0"/>
              <a:t>3. Pencatatan audit trail &amp; biaya Lo-Lo Rp 250.000 ke tabel </a:t>
            </a:r>
            <a:r>
              <a:rPr lang="id-ID" sz="1100" dirty="0" err="1"/>
              <a:t>yard_events</a:t>
            </a:r>
            <a:r>
              <a:rPr lang="id-ID" sz="1100" dirty="0"/>
              <a:t>.</a:t>
            </a:r>
            <a:br>
              <a:rPr lang="id-ID" sz="1100" dirty="0"/>
            </a:br>
            <a:endParaRPr sz="1100" b="0" dirty="0">
              <a:solidFill>
                <a:srgbClr val="50697D"/>
              </a:solidFill>
              <a:latin typeface="Aptos"/>
            </a:endParaRPr>
          </a:p>
        </p:txBody>
      </p:sp>
      <p:sp>
        <p:nvSpPr>
          <p:cNvPr id="62" name="Rounded Rectangle 61"/>
          <p:cNvSpPr/>
          <p:nvPr/>
        </p:nvSpPr>
        <p:spPr>
          <a:xfrm>
            <a:off x="7360920" y="3703320"/>
            <a:ext cx="365760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Rectangle 62"/>
          <p:cNvSpPr/>
          <p:nvPr/>
        </p:nvSpPr>
        <p:spPr>
          <a:xfrm>
            <a:off x="7360920" y="3703320"/>
            <a:ext cx="64008" cy="1417320"/>
          </a:xfrm>
          <a:prstGeom prst="rect">
            <a:avLst/>
          </a:prstGeom>
          <a:solidFill>
            <a:srgbClr val="168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7507224" y="3794760"/>
            <a:ext cx="340156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400" b="1" dirty="0" err="1">
                <a:solidFill>
                  <a:srgbClr val="0A3769"/>
                </a:solidFill>
                <a:latin typeface="Aptos"/>
              </a:rPr>
              <a:t>Sinkronisasi</a:t>
            </a:r>
            <a:r>
              <a:rPr lang="en-US" sz="1400" b="1" dirty="0">
                <a:solidFill>
                  <a:srgbClr val="0A3769"/>
                </a:solidFill>
                <a:latin typeface="Aptos"/>
              </a:rPr>
              <a:t> </a:t>
            </a:r>
            <a:r>
              <a:rPr lang="en-US" sz="1400" b="1" dirty="0" err="1">
                <a:solidFill>
                  <a:srgbClr val="0A3769"/>
                </a:solidFill>
                <a:latin typeface="Aptos"/>
              </a:rPr>
              <a:t>Seketika</a:t>
            </a:r>
            <a:r>
              <a:rPr lang="en-US" sz="1400" b="1" dirty="0">
                <a:solidFill>
                  <a:srgbClr val="0A3769"/>
                </a:solidFill>
                <a:latin typeface="Aptos"/>
              </a:rPr>
              <a:t> </a:t>
            </a:r>
            <a:r>
              <a:rPr lang="en-US" sz="1400" b="1" dirty="0" err="1">
                <a:solidFill>
                  <a:srgbClr val="0A3769"/>
                </a:solidFill>
                <a:latin typeface="Aptos"/>
              </a:rPr>
              <a:t>ke</a:t>
            </a:r>
            <a:r>
              <a:rPr lang="en-US" sz="1400" b="1" dirty="0">
                <a:solidFill>
                  <a:srgbClr val="0A3769"/>
                </a:solidFill>
                <a:latin typeface="Aptos"/>
              </a:rPr>
              <a:t> WebGL 3D</a:t>
            </a:r>
            <a:endParaRPr lang="id-ID" sz="1400" b="1" dirty="0">
              <a:solidFill>
                <a:srgbClr val="0A3769"/>
              </a:solidFill>
              <a:latin typeface="Aptos"/>
            </a:endParaRPr>
          </a:p>
        </p:txBody>
      </p:sp>
      <p:sp>
        <p:nvSpPr>
          <p:cNvPr id="65" name="TextBox 64"/>
          <p:cNvSpPr txBox="1"/>
          <p:nvPr/>
        </p:nvSpPr>
        <p:spPr>
          <a:xfrm>
            <a:off x="7507224" y="4142232"/>
            <a:ext cx="3401568" cy="6001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d-ID" sz="1100" dirty="0"/>
              <a:t>Data hasil mutasi </a:t>
            </a:r>
            <a:r>
              <a:rPr lang="id-ID" sz="1100" dirty="0" err="1"/>
              <a:t>database</a:t>
            </a:r>
            <a:r>
              <a:rPr lang="id-ID" sz="1100" dirty="0"/>
              <a:t> langsung memicu </a:t>
            </a:r>
            <a:r>
              <a:rPr lang="id-ID" sz="1100" dirty="0" err="1"/>
              <a:t>event</a:t>
            </a:r>
            <a:r>
              <a:rPr lang="id-ID" sz="1100" dirty="0"/>
              <a:t> </a:t>
            </a:r>
            <a:r>
              <a:rPr lang="id-ID" sz="1100" dirty="0" err="1"/>
              <a:t>listener</a:t>
            </a:r>
            <a:r>
              <a:rPr lang="id-ID" sz="1100" dirty="0"/>
              <a:t> Three.js untuk memindahkan </a:t>
            </a:r>
            <a:r>
              <a:rPr lang="id-ID" sz="1100" dirty="0" err="1"/>
              <a:t>mesh</a:t>
            </a:r>
            <a:r>
              <a:rPr lang="id-ID" sz="1100" dirty="0"/>
              <a:t> 3D kontainer secara halus.</a:t>
            </a:r>
            <a:endParaRPr sz="1100" b="0" dirty="0">
              <a:solidFill>
                <a:srgbClr val="50697D"/>
              </a:solidFill>
              <a:latin typeface="Aptos"/>
            </a:endParaRPr>
          </a:p>
        </p:txBody>
      </p:sp>
      <p:sp>
        <p:nvSpPr>
          <p:cNvPr id="66" name="Rounded Rectangle 65"/>
          <p:cNvSpPr/>
          <p:nvPr/>
        </p:nvSpPr>
        <p:spPr>
          <a:xfrm>
            <a:off x="3520440" y="5440680"/>
            <a:ext cx="2423160" cy="310896"/>
          </a:xfrm>
          <a:prstGeom prst="roundRect">
            <a:avLst/>
          </a:prstGeom>
          <a:solidFill>
            <a:srgbClr val="F4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3584448" y="5440680"/>
            <a:ext cx="24231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LIVE DEMO: PINDAHKAN BOX (RS)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600679" y="6611112"/>
            <a:ext cx="6858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dirty="0" err="1">
                <a:solidFill>
                  <a:srgbClr val="50697D"/>
                </a:solidFill>
                <a:latin typeface="Aptos"/>
              </a:rPr>
              <a:t>Teknologi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dan </a:t>
            </a:r>
            <a:r>
              <a:rPr sz="800" b="0" dirty="0" err="1">
                <a:solidFill>
                  <a:srgbClr val="50697D"/>
                </a:solidFill>
                <a:latin typeface="Aptos"/>
              </a:rPr>
              <a:t>Perangkat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</a:t>
            </a:r>
            <a:r>
              <a:rPr sz="800" b="0" dirty="0" err="1">
                <a:solidFill>
                  <a:srgbClr val="50697D"/>
                </a:solidFill>
                <a:latin typeface="Aptos"/>
              </a:rPr>
              <a:t>Lunak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</a:t>
            </a:r>
            <a:r>
              <a:rPr sz="800" b="0" dirty="0" err="1">
                <a:solidFill>
                  <a:srgbClr val="50697D"/>
                </a:solidFill>
                <a:latin typeface="Aptos"/>
              </a:rPr>
              <a:t>Logistik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 •  CIDP 35 Ha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864608" y="512064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dirty="0">
                <a:solidFill>
                  <a:srgbClr val="1689DC"/>
                </a:solidFill>
                <a:latin typeface="Aptos"/>
              </a:rPr>
              <a:t>CORE ENGINE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58952"/>
            <a:ext cx="8412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A3769"/>
                </a:solidFill>
                <a:latin typeface="Aptos"/>
              </a:rPr>
              <a:t>Gate automation: matching → VGM → routing → e-Gate Pass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38360" y="585216"/>
            <a:ext cx="1325880" cy="310896"/>
          </a:xfrm>
          <a:prstGeom prst="roundRect">
            <a:avLst/>
          </a:prstGeom>
          <a:solidFill>
            <a:srgbClr val="E7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738360" y="585216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06 / SOFTWARE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353312"/>
            <a:ext cx="914400" cy="50292"/>
          </a:xfrm>
          <a:prstGeom prst="rect">
            <a:avLst/>
          </a:prstGeom>
          <a:solidFill>
            <a:srgbClr val="F4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51" name="Group 50">
            <a:extLst>
              <a:ext uri="{FF2B5EF4-FFF2-40B4-BE49-F238E27FC236}">
                <a16:creationId xmlns:a16="http://schemas.microsoft.com/office/drawing/2014/main" id="{0EC22021-58A5-8924-4C7E-FA8C8BB474E5}"/>
              </a:ext>
            </a:extLst>
          </p:cNvPr>
          <p:cNvGrpSpPr/>
          <p:nvPr/>
        </p:nvGrpSpPr>
        <p:grpSpPr>
          <a:xfrm>
            <a:off x="516442" y="1513513"/>
            <a:ext cx="11521440" cy="2530707"/>
            <a:chOff x="658368" y="1514376"/>
            <a:chExt cx="10908792" cy="1347696"/>
          </a:xfrm>
        </p:grpSpPr>
        <p:sp>
          <p:nvSpPr>
            <p:cNvPr id="8" name="Oval 7"/>
            <p:cNvSpPr/>
            <p:nvPr/>
          </p:nvSpPr>
          <p:spPr>
            <a:xfrm>
              <a:off x="658368" y="1627632"/>
              <a:ext cx="438912" cy="438912"/>
            </a:xfrm>
            <a:prstGeom prst="ellipse">
              <a:avLst/>
            </a:prstGeom>
            <a:solidFill>
              <a:srgbClr val="1689D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u="sng"/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58368" y="1781527"/>
              <a:ext cx="438912" cy="13112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1000" b="1" u="sng">
                  <a:solidFill>
                    <a:srgbClr val="FFFFFF"/>
                  </a:solidFill>
                  <a:latin typeface="Aptos"/>
                </a:rPr>
                <a:t>01</a:t>
              </a:r>
            </a:p>
          </p:txBody>
        </p:sp>
        <p:sp>
          <p:nvSpPr>
            <p:cNvPr id="10" name="Rounded Rectangle 9"/>
            <p:cNvSpPr/>
            <p:nvPr/>
          </p:nvSpPr>
          <p:spPr>
            <a:xfrm>
              <a:off x="1188720" y="1536192"/>
              <a:ext cx="2148840" cy="13258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7E6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u="sng"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188720" y="1536192"/>
              <a:ext cx="64008" cy="1325880"/>
            </a:xfrm>
            <a:prstGeom prst="rect">
              <a:avLst/>
            </a:prstGeom>
            <a:solidFill>
              <a:srgbClr val="1689D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u="sng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1335024" y="1627632"/>
              <a:ext cx="1892808" cy="1557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300" b="1" u="sng">
                  <a:solidFill>
                    <a:srgbClr val="0A3769"/>
                  </a:solidFill>
                  <a:latin typeface="Aptos"/>
                </a:rPr>
                <a:t>MATCHING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1353313" y="1784824"/>
              <a:ext cx="1892808" cy="93424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>
                <a:spcBef>
                  <a:spcPts val="500"/>
                </a:spcBef>
                <a:defRPr sz="850">
                  <a:solidFill>
                    <a:srgbClr val="1E293B"/>
                  </a:solidFill>
                </a:defRPr>
              </a:pPr>
              <a:r>
                <a:rPr lang="id-ID" sz="1200" u="sng" dirty="0"/>
                <a:t>• </a:t>
              </a:r>
              <a:r>
                <a:rPr lang="id-ID" sz="1200" u="sng" dirty="0" err="1"/>
                <a:t>Loop</a:t>
              </a:r>
              <a:r>
                <a:rPr lang="id-ID" sz="1200" u="sng" dirty="0"/>
                <a:t> </a:t>
              </a:r>
              <a:r>
                <a:rPr lang="id-ID" sz="1200" u="sng" dirty="0" err="1"/>
                <a:t>detector</a:t>
              </a:r>
              <a:r>
                <a:rPr lang="id-ID" sz="1200" u="sng" dirty="0"/>
                <a:t> memicu ANPR.</a:t>
              </a:r>
              <a:br>
                <a:rPr lang="id-ID" sz="1200" u="sng" dirty="0"/>
              </a:br>
              <a:r>
                <a:rPr lang="id-ID" sz="1200" u="sng" dirty="0"/>
                <a:t>• </a:t>
              </a:r>
              <a:r>
                <a:rPr lang="id-ID" sz="1200" u="sng" dirty="0" err="1"/>
                <a:t>Matching</a:t>
              </a:r>
              <a:r>
                <a:rPr lang="id-ID" sz="1200" u="sng" dirty="0"/>
                <a:t> </a:t>
              </a:r>
              <a:r>
                <a:rPr lang="id-ID" sz="1200" u="sng" dirty="0" err="1"/>
                <a:t>plat</a:t>
              </a:r>
              <a:r>
                <a:rPr lang="id-ID" sz="1200" u="sng" dirty="0"/>
                <a:t> nomor truk dengan </a:t>
              </a:r>
              <a:r>
                <a:rPr lang="id-ID" sz="1200" u="sng" dirty="0" err="1"/>
                <a:t>Odoo</a:t>
              </a:r>
              <a:r>
                <a:rPr lang="id-ID" sz="1200" u="sng" dirty="0"/>
                <a:t> </a:t>
              </a:r>
              <a:r>
                <a:rPr lang="id-ID" sz="1200" u="sng" dirty="0" err="1"/>
                <a:t>Fleet</a:t>
              </a:r>
              <a:r>
                <a:rPr lang="id-ID" sz="1200" u="sng" dirty="0"/>
                <a:t>.</a:t>
              </a:r>
              <a:br>
                <a:rPr lang="id-ID" sz="1200" u="sng" dirty="0"/>
              </a:br>
              <a:r>
                <a:rPr lang="id-ID" sz="1200" u="sng" dirty="0"/>
                <a:t>• Kamera OCR membaca nomor kontainer ISO 6346 ➔ mencocokkan status </a:t>
              </a:r>
              <a:r>
                <a:rPr lang="id-ID" sz="1200" u="sng" dirty="0" err="1"/>
                <a:t>Delivery</a:t>
              </a:r>
              <a:r>
                <a:rPr lang="id-ID" sz="1200" u="sng" dirty="0"/>
                <a:t> Order (DO) di </a:t>
              </a:r>
              <a:r>
                <a:rPr lang="id-ID" sz="1200" u="sng" dirty="0" err="1"/>
                <a:t>database</a:t>
              </a:r>
              <a:r>
                <a:rPr lang="id-ID" sz="1200" u="sng" dirty="0"/>
                <a:t>.</a:t>
              </a:r>
            </a:p>
          </p:txBody>
        </p:sp>
        <p:sp>
          <p:nvSpPr>
            <p:cNvPr id="14" name="Right Arrow 13"/>
            <p:cNvSpPr/>
            <p:nvPr/>
          </p:nvSpPr>
          <p:spPr>
            <a:xfrm>
              <a:off x="3465576" y="2115077"/>
              <a:ext cx="365760" cy="201168"/>
            </a:xfrm>
            <a:prstGeom prst="rightArrow">
              <a:avLst/>
            </a:prstGeom>
            <a:solidFill>
              <a:srgbClr val="64BEE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u="sng"/>
            </a:p>
          </p:txBody>
        </p:sp>
        <p:sp>
          <p:nvSpPr>
            <p:cNvPr id="15" name="Oval 14"/>
            <p:cNvSpPr/>
            <p:nvPr/>
          </p:nvSpPr>
          <p:spPr>
            <a:xfrm>
              <a:off x="3401568" y="1627632"/>
              <a:ext cx="438912" cy="438912"/>
            </a:xfrm>
            <a:prstGeom prst="ellipse">
              <a:avLst/>
            </a:prstGeom>
            <a:solidFill>
              <a:srgbClr val="289B6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u="sng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3401568" y="1781527"/>
              <a:ext cx="438912" cy="13112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1000" b="1" u="sng">
                  <a:solidFill>
                    <a:srgbClr val="FFFFFF"/>
                  </a:solidFill>
                  <a:latin typeface="Aptos"/>
                </a:rPr>
                <a:t>02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3931920" y="1536192"/>
              <a:ext cx="2148840" cy="13258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7E6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u="sng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3931920" y="1536192"/>
              <a:ext cx="64008" cy="1325880"/>
            </a:xfrm>
            <a:prstGeom prst="rect">
              <a:avLst/>
            </a:prstGeom>
            <a:solidFill>
              <a:srgbClr val="289B69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u="sng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078224" y="1627632"/>
              <a:ext cx="1892808" cy="1557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300" b="1" u="sng">
                  <a:solidFill>
                    <a:srgbClr val="0A3769"/>
                  </a:solidFill>
                  <a:latin typeface="Aptos"/>
                </a:rPr>
                <a:t>VGM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041648" y="1877247"/>
              <a:ext cx="1892808" cy="885073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r>
                <a:rPr lang="id-ID" sz="1100" u="sng" dirty="0"/>
                <a:t>• Timbangan membaca berat kotor.</a:t>
              </a:r>
              <a:br>
                <a:rPr lang="id-ID" sz="1100" u="sng" dirty="0"/>
              </a:br>
              <a:r>
                <a:rPr lang="id-ID" sz="1100" u="sng" dirty="0"/>
                <a:t>• Net VGM = </a:t>
              </a:r>
              <a:r>
                <a:rPr lang="id-ID" sz="1100" u="sng" dirty="0" err="1"/>
                <a:t>Gross</a:t>
              </a:r>
              <a:r>
                <a:rPr lang="id-ID" sz="1100" u="sng" dirty="0"/>
                <a:t> - </a:t>
              </a:r>
              <a:r>
                <a:rPr lang="id-ID" sz="1100" u="sng" dirty="0" err="1"/>
                <a:t>Tare</a:t>
              </a:r>
              <a:r>
                <a:rPr lang="id-ID" sz="1100" u="sng" dirty="0"/>
                <a:t>.</a:t>
              </a:r>
              <a:br>
                <a:rPr lang="id-ID" sz="1100" u="sng" dirty="0"/>
              </a:br>
              <a:r>
                <a:rPr lang="id-ID" sz="1100" u="sng" dirty="0"/>
                <a:t>• Lolos jika Net &lt;= 34 ton (VERIFIED_PASS); Tolak jika </a:t>
              </a:r>
              <a:r>
                <a:rPr lang="id-ID" sz="1100" u="sng" dirty="0" err="1"/>
                <a:t>overload</a:t>
              </a:r>
              <a:r>
                <a:rPr lang="id-ID" sz="1100" u="sng" dirty="0"/>
                <a:t> (&gt;34t).</a:t>
              </a:r>
              <a:br>
                <a:rPr lang="id-ID" sz="1100" u="sng" dirty="0"/>
              </a:br>
              <a:r>
                <a:rPr lang="id-ID" sz="1100" u="sng" dirty="0"/>
                <a:t>• Membebankan Jasa Timbang VGM Rp 50.000.</a:t>
              </a:r>
            </a:p>
            <a:p>
              <a:pPr algn="l"/>
              <a:endParaRPr sz="1400" b="0" u="sng" dirty="0">
                <a:solidFill>
                  <a:srgbClr val="50697D"/>
                </a:solidFill>
                <a:latin typeface="Aptos"/>
              </a:endParaRPr>
            </a:p>
          </p:txBody>
        </p:sp>
        <p:sp>
          <p:nvSpPr>
            <p:cNvPr id="21" name="Right Arrow 20"/>
            <p:cNvSpPr/>
            <p:nvPr/>
          </p:nvSpPr>
          <p:spPr>
            <a:xfrm>
              <a:off x="6245352" y="2109394"/>
              <a:ext cx="365760" cy="201168"/>
            </a:xfrm>
            <a:prstGeom prst="rightArrow">
              <a:avLst/>
            </a:prstGeom>
            <a:solidFill>
              <a:srgbClr val="64BEE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u="sng"/>
            </a:p>
          </p:txBody>
        </p:sp>
        <p:sp>
          <p:nvSpPr>
            <p:cNvPr id="22" name="Oval 21"/>
            <p:cNvSpPr/>
            <p:nvPr/>
          </p:nvSpPr>
          <p:spPr>
            <a:xfrm>
              <a:off x="6144768" y="1627632"/>
              <a:ext cx="438912" cy="438912"/>
            </a:xfrm>
            <a:prstGeom prst="ellipse">
              <a:avLst/>
            </a:prstGeom>
            <a:solidFill>
              <a:srgbClr val="F49B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u="sng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144768" y="1781527"/>
              <a:ext cx="438912" cy="13112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1000" b="1" u="sng">
                  <a:solidFill>
                    <a:srgbClr val="FFFFFF"/>
                  </a:solidFill>
                  <a:latin typeface="Aptos"/>
                </a:rPr>
                <a:t>03</a:t>
              </a:r>
            </a:p>
          </p:txBody>
        </p:sp>
        <p:sp>
          <p:nvSpPr>
            <p:cNvPr id="24" name="Rounded Rectangle 23"/>
            <p:cNvSpPr/>
            <p:nvPr/>
          </p:nvSpPr>
          <p:spPr>
            <a:xfrm>
              <a:off x="6681266" y="1519792"/>
              <a:ext cx="2148840" cy="13258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7E6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u="sng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675120" y="1536192"/>
              <a:ext cx="64008" cy="1325880"/>
            </a:xfrm>
            <a:prstGeom prst="rect">
              <a:avLst/>
            </a:prstGeom>
            <a:solidFill>
              <a:srgbClr val="F49B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u="sng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821424" y="1627632"/>
              <a:ext cx="1892808" cy="1557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300" b="1" u="sng">
                  <a:solidFill>
                    <a:srgbClr val="0A3769"/>
                  </a:solidFill>
                  <a:latin typeface="Aptos"/>
                </a:rPr>
                <a:t>ROUTING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845859" y="1862647"/>
              <a:ext cx="1892808" cy="934244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>
                <a:spcBef>
                  <a:spcPts val="500"/>
                </a:spcBef>
                <a:defRPr sz="850">
                  <a:solidFill>
                    <a:srgbClr val="1E293B"/>
                  </a:solidFill>
                </a:defRPr>
              </a:pPr>
              <a:r>
                <a:rPr lang="id-ID" sz="1200" u="sng" dirty="0"/>
                <a:t>• Memeriksa jenis muatan: </a:t>
              </a:r>
              <a:r>
                <a:rPr lang="id-ID" sz="1200" u="sng" dirty="0" err="1"/>
                <a:t>Dry</a:t>
              </a:r>
              <a:r>
                <a:rPr lang="id-ID" sz="1200" u="sng" dirty="0"/>
                <a:t> ➔ Blok A/B/C; </a:t>
              </a:r>
              <a:r>
                <a:rPr lang="id-ID" sz="1200" u="sng" dirty="0" err="1"/>
                <a:t>Reefer</a:t>
              </a:r>
              <a:r>
                <a:rPr lang="id-ID" sz="1200" u="sng" dirty="0"/>
                <a:t> ➔ Blok </a:t>
              </a:r>
              <a:r>
                <a:rPr lang="id-ID" sz="1200" u="sng" dirty="0" err="1"/>
                <a:t>Reefer</a:t>
              </a:r>
              <a:r>
                <a:rPr lang="id-ID" sz="1200" u="sng" dirty="0"/>
                <a:t>; DG ➔ Blok Bahaya.</a:t>
              </a:r>
              <a:br>
                <a:rPr lang="id-ID" sz="1200" u="sng" dirty="0"/>
              </a:br>
              <a:r>
                <a:rPr lang="id-ID" sz="1200" u="sng" dirty="0"/>
                <a:t>• Memilih </a:t>
              </a:r>
              <a:r>
                <a:rPr lang="id-ID" sz="1200" u="sng" dirty="0" err="1"/>
                <a:t>slot</a:t>
              </a:r>
              <a:r>
                <a:rPr lang="id-ID" sz="1200" u="sng" dirty="0"/>
                <a:t> kosong terdekat guna menghemat konsumsi BBM solar </a:t>
              </a:r>
              <a:r>
                <a:rPr lang="id-ID" sz="1200" u="sng" dirty="0" err="1"/>
                <a:t>crane</a:t>
              </a:r>
              <a:r>
                <a:rPr lang="id-ID" sz="1200" u="sng" dirty="0"/>
                <a:t>.</a:t>
              </a:r>
              <a:br>
                <a:rPr lang="id-ID" sz="1200" u="sng" dirty="0"/>
              </a:br>
              <a:r>
                <a:rPr lang="id-ID" sz="1200" u="sng" dirty="0"/>
                <a:t>• Teks LED: 'SILAHKAN MASUK B04'.</a:t>
              </a:r>
            </a:p>
          </p:txBody>
        </p:sp>
        <p:sp>
          <p:nvSpPr>
            <p:cNvPr id="28" name="Right Arrow 27"/>
            <p:cNvSpPr/>
            <p:nvPr/>
          </p:nvSpPr>
          <p:spPr>
            <a:xfrm>
              <a:off x="8936837" y="2130446"/>
              <a:ext cx="365760" cy="201168"/>
            </a:xfrm>
            <a:prstGeom prst="rightArrow">
              <a:avLst/>
            </a:prstGeom>
            <a:solidFill>
              <a:srgbClr val="64BEE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u="sng"/>
            </a:p>
          </p:txBody>
        </p:sp>
        <p:sp>
          <p:nvSpPr>
            <p:cNvPr id="29" name="Oval 28"/>
            <p:cNvSpPr/>
            <p:nvPr/>
          </p:nvSpPr>
          <p:spPr>
            <a:xfrm>
              <a:off x="8887968" y="1627632"/>
              <a:ext cx="438912" cy="438912"/>
            </a:xfrm>
            <a:prstGeom prst="ellipse">
              <a:avLst/>
            </a:prstGeom>
            <a:solidFill>
              <a:srgbClr val="64BEE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u="sng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887968" y="1781527"/>
              <a:ext cx="438912" cy="131122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1000" b="1" u="sng">
                  <a:solidFill>
                    <a:srgbClr val="FFFFFF"/>
                  </a:solidFill>
                  <a:latin typeface="Aptos"/>
                </a:rPr>
                <a:t>04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9418320" y="1514376"/>
              <a:ext cx="2148840" cy="1325880"/>
            </a:xfrm>
            <a:prstGeom prst="roundRect">
              <a:avLst/>
            </a:prstGeom>
            <a:solidFill>
              <a:srgbClr val="FFFFFF"/>
            </a:solidFill>
            <a:ln w="12700">
              <a:solidFill>
                <a:srgbClr val="D7E6F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u="sng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9418320" y="1536192"/>
              <a:ext cx="64008" cy="1325880"/>
            </a:xfrm>
            <a:prstGeom prst="rect">
              <a:avLst/>
            </a:prstGeom>
            <a:solidFill>
              <a:srgbClr val="64BEEB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u="sng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9564624" y="1627632"/>
              <a:ext cx="1892808" cy="155708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 algn="l"/>
              <a:r>
                <a:rPr sz="1300" b="1" u="sng">
                  <a:solidFill>
                    <a:srgbClr val="0A3769"/>
                  </a:solidFill>
                  <a:latin typeface="Aptos"/>
                </a:rPr>
                <a:t>E-PASS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564624" y="1822191"/>
              <a:ext cx="1892808" cy="1032586"/>
            </a:xfrm>
            <a:prstGeom prst="rect">
              <a:avLst/>
            </a:prstGeom>
            <a:noFill/>
          </p:spPr>
          <p:txBody>
            <a:bodyPr wrap="square" anchor="t">
              <a:spAutoFit/>
            </a:bodyPr>
            <a:lstStyle/>
            <a:p>
              <a:pPr>
                <a:spcBef>
                  <a:spcPts val="500"/>
                </a:spcBef>
                <a:defRPr sz="850">
                  <a:solidFill>
                    <a:srgbClr val="1E293B"/>
                  </a:solidFill>
                </a:defRPr>
              </a:pPr>
              <a:r>
                <a:rPr lang="id-ID" sz="1200" u="sng" dirty="0"/>
                <a:t>• </a:t>
              </a:r>
              <a:r>
                <a:rPr lang="id-ID" sz="1200" u="sng" dirty="0" err="1"/>
                <a:t>Edge</a:t>
              </a:r>
              <a:r>
                <a:rPr lang="id-ID" sz="1200" u="sng" dirty="0"/>
                <a:t> PC memicu </a:t>
              </a:r>
              <a:r>
                <a:rPr lang="id-ID" sz="1200" u="sng" dirty="0" err="1"/>
                <a:t>relay</a:t>
              </a:r>
              <a:r>
                <a:rPr lang="id-ID" sz="1200" u="sng" dirty="0"/>
                <a:t> mengangkat palang gerbang (1.2 detik).</a:t>
              </a:r>
              <a:br>
                <a:rPr lang="id-ID" sz="1200" u="sng" dirty="0"/>
              </a:br>
              <a:r>
                <a:rPr lang="id-ID" sz="1200" u="sng" dirty="0"/>
                <a:t>• QRCode.js </a:t>
              </a:r>
              <a:r>
                <a:rPr lang="id-ID" sz="1200" u="sng" dirty="0" err="1"/>
                <a:t>Engine</a:t>
              </a:r>
              <a:r>
                <a:rPr lang="id-ID" sz="1200" u="sng" dirty="0"/>
                <a:t>: Menerbitkan tiket digital e-</a:t>
              </a:r>
              <a:r>
                <a:rPr lang="id-ID" sz="1200" u="sng" dirty="0" err="1"/>
                <a:t>Gate</a:t>
              </a:r>
              <a:r>
                <a:rPr lang="id-ID" sz="1200" u="sng" dirty="0"/>
                <a:t> Pass berkode QR (format GP-YYYYMMDD-XXXX) ke </a:t>
              </a:r>
              <a:r>
                <a:rPr lang="id-ID" sz="1200" u="sng" dirty="0" err="1"/>
                <a:t>supir</a:t>
              </a:r>
              <a:r>
                <a:rPr lang="id-ID" sz="1200" u="sng" dirty="0"/>
                <a:t>.</a:t>
              </a:r>
              <a:br>
                <a:rPr lang="id-ID" sz="1200" u="sng" dirty="0"/>
              </a:br>
              <a:r>
                <a:rPr lang="id-ID" sz="1200" u="sng" dirty="0"/>
                <a:t>• Transaksi selesai dalam 28 detik!</a:t>
              </a:r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0133931B-E848-B7A7-DC9C-93A41F025478}"/>
              </a:ext>
            </a:extLst>
          </p:cNvPr>
          <p:cNvGrpSpPr/>
          <p:nvPr/>
        </p:nvGrpSpPr>
        <p:grpSpPr>
          <a:xfrm>
            <a:off x="3126600" y="5701071"/>
            <a:ext cx="5388128" cy="312634"/>
            <a:chOff x="573760" y="5073182"/>
            <a:chExt cx="5388128" cy="312634"/>
          </a:xfrm>
        </p:grpSpPr>
        <p:sp>
          <p:nvSpPr>
            <p:cNvPr id="47" name="Rounded Rectangle 46"/>
            <p:cNvSpPr/>
            <p:nvPr/>
          </p:nvSpPr>
          <p:spPr>
            <a:xfrm>
              <a:off x="658368" y="5074920"/>
              <a:ext cx="5303520" cy="310896"/>
            </a:xfrm>
            <a:prstGeom prst="roundRect">
              <a:avLst/>
            </a:prstGeom>
            <a:solidFill>
              <a:srgbClr val="F49B1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573760" y="5073182"/>
              <a:ext cx="5303520" cy="310896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ctr"/>
              <a:r>
                <a:rPr sz="1000" b="1" dirty="0">
                  <a:solidFill>
                    <a:srgbClr val="FFFFFF"/>
                  </a:solidFill>
                  <a:latin typeface="Aptos"/>
                </a:rPr>
                <a:t>LIVE DEMO  •  </a:t>
              </a:r>
              <a:r>
                <a:rPr sz="1000" b="1" dirty="0" err="1">
                  <a:solidFill>
                    <a:srgbClr val="FFFFFF"/>
                  </a:solidFill>
                  <a:latin typeface="Aptos"/>
                </a:rPr>
                <a:t>Truk</a:t>
              </a:r>
              <a:r>
                <a:rPr sz="1000" b="1" dirty="0">
                  <a:solidFill>
                    <a:srgbClr val="FFFFFF"/>
                  </a:solidFill>
                  <a:latin typeface="Aptos"/>
                </a:rPr>
                <a:t> 1: Lolos  |  </a:t>
              </a:r>
              <a:r>
                <a:rPr sz="1000" b="1" dirty="0" err="1">
                  <a:solidFill>
                    <a:srgbClr val="FFFFFF"/>
                  </a:solidFill>
                  <a:latin typeface="Aptos"/>
                </a:rPr>
                <a:t>Truk</a:t>
              </a:r>
              <a:r>
                <a:rPr sz="1000" b="1" dirty="0">
                  <a:solidFill>
                    <a:srgbClr val="FFFFFF"/>
                  </a:solidFill>
                  <a:latin typeface="Aptos"/>
                </a:rPr>
                <a:t> 3: Overweight Alert &gt;34t</a:t>
              </a:r>
            </a:p>
          </p:txBody>
        </p:sp>
      </p:grpSp>
      <p:sp>
        <p:nvSpPr>
          <p:cNvPr id="49" name="TextBox 48"/>
          <p:cNvSpPr txBox="1"/>
          <p:nvPr/>
        </p:nvSpPr>
        <p:spPr>
          <a:xfrm>
            <a:off x="2075688" y="6223016"/>
            <a:ext cx="8046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dirty="0">
                <a:solidFill>
                  <a:srgbClr val="0A3769"/>
                </a:solidFill>
                <a:latin typeface="Aptos"/>
              </a:rPr>
              <a:t>Output: status, slot, LED “SILAHKAN MASUK B04”, dan QR e-Gate Pass.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624328" y="6638544"/>
            <a:ext cx="6858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dirty="0" err="1">
                <a:solidFill>
                  <a:srgbClr val="50697D"/>
                </a:solidFill>
                <a:latin typeface="Aptos"/>
              </a:rPr>
              <a:t>Teknologi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dan </a:t>
            </a:r>
            <a:r>
              <a:rPr sz="800" b="0" dirty="0" err="1">
                <a:solidFill>
                  <a:srgbClr val="50697D"/>
                </a:solidFill>
                <a:latin typeface="Aptos"/>
              </a:rPr>
              <a:t>Perangkat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</a:t>
            </a:r>
            <a:r>
              <a:rPr sz="800" b="0" dirty="0" err="1">
                <a:solidFill>
                  <a:srgbClr val="50697D"/>
                </a:solidFill>
                <a:latin typeface="Aptos"/>
              </a:rPr>
              <a:t>Lunak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</a:t>
            </a:r>
            <a:r>
              <a:rPr sz="800" b="0" dirty="0" err="1">
                <a:solidFill>
                  <a:srgbClr val="50697D"/>
                </a:solidFill>
                <a:latin typeface="Aptos"/>
              </a:rPr>
              <a:t>Logistik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 •  CIDP 35 Ha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982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416867" y="470916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dirty="0">
                <a:solidFill>
                  <a:srgbClr val="1689DC"/>
                </a:solidFill>
                <a:latin typeface="Aptos"/>
              </a:rPr>
              <a:t>BUSINESS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58952"/>
            <a:ext cx="8412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0A3769"/>
                </a:solidFill>
                <a:latin typeface="Aptos"/>
              </a:rPr>
              <a:t>Dari data operasional → insight → billing tanpa revenue leakage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738360" y="585216"/>
            <a:ext cx="1325880" cy="310896"/>
          </a:xfrm>
          <a:prstGeom prst="roundRect">
            <a:avLst/>
          </a:prstGeom>
          <a:solidFill>
            <a:srgbClr val="E7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738360" y="585216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07 / SOFTWARE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6002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58368" y="1600200"/>
            <a:ext cx="64008" cy="1600200"/>
          </a:xfrm>
          <a:prstGeom prst="rect">
            <a:avLst/>
          </a:prstGeom>
          <a:solidFill>
            <a:srgbClr val="168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04672" y="1691640"/>
            <a:ext cx="30815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 dirty="0">
                <a:solidFill>
                  <a:srgbClr val="0A3769"/>
                </a:solidFill>
                <a:latin typeface="Aptos"/>
              </a:rPr>
              <a:t>DWELL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" y="2020038"/>
            <a:ext cx="3081528" cy="11079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d-ID" sz="1100" dirty="0"/>
              <a:t>Menghitung masa inap: </a:t>
            </a:r>
            <a:r>
              <a:rPr lang="id-ID" sz="1100" dirty="0" err="1"/>
              <a:t>Dwell</a:t>
            </a:r>
            <a:r>
              <a:rPr lang="id-ID" sz="1100" dirty="0"/>
              <a:t> = NOW() - </a:t>
            </a:r>
            <a:r>
              <a:rPr lang="id-ID" sz="1100" dirty="0" err="1"/>
              <a:t>Gate_In_Time</a:t>
            </a:r>
            <a:r>
              <a:rPr lang="id-ID" sz="1100" dirty="0"/>
              <a:t>.</a:t>
            </a:r>
            <a:br>
              <a:rPr lang="id-ID" sz="1100" dirty="0"/>
            </a:br>
            <a:r>
              <a:rPr lang="id-ID" sz="1100" dirty="0"/>
              <a:t>Audit 3 Masa Tarif: Masa I </a:t>
            </a:r>
            <a:r>
              <a:rPr lang="id-ID" sz="1100" dirty="0" err="1"/>
              <a:t>Free</a:t>
            </a:r>
            <a:r>
              <a:rPr lang="id-ID" sz="1100" dirty="0"/>
              <a:t> (1-3 hari), Masa II Rp 45rb/hari (4-10 hari), Masa III Rp 90rb/hari (&gt;10 hari). </a:t>
            </a:r>
            <a:r>
              <a:rPr lang="id-ID" sz="1100" dirty="0" err="1"/>
              <a:t>Heatmap</a:t>
            </a:r>
            <a:r>
              <a:rPr lang="id-ID" sz="1100" dirty="0"/>
              <a:t> yard menyoroti boks </a:t>
            </a:r>
            <a:r>
              <a:rPr lang="id-ID" sz="1100" dirty="0" err="1"/>
              <a:t>overstay</a:t>
            </a:r>
            <a:r>
              <a:rPr lang="id-ID" sz="1100" dirty="0"/>
              <a:t> agar rata-rata </a:t>
            </a:r>
            <a:r>
              <a:rPr lang="id-ID" sz="1100" dirty="0" err="1"/>
              <a:t>dwell</a:t>
            </a:r>
            <a:r>
              <a:rPr lang="id-ID" sz="1100" dirty="0"/>
              <a:t> </a:t>
            </a:r>
            <a:r>
              <a:rPr lang="id-ID" sz="1100" dirty="0" err="1"/>
              <a:t>time</a:t>
            </a:r>
            <a:r>
              <a:rPr lang="id-ID" sz="1100" dirty="0"/>
              <a:t> ditekan ke 2.1 hari!</a:t>
            </a:r>
            <a:endParaRPr sz="1100" b="0" dirty="0">
              <a:solidFill>
                <a:srgbClr val="50697D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187952" y="1600200"/>
            <a:ext cx="3337560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187952" y="1600200"/>
            <a:ext cx="64008" cy="1600200"/>
          </a:xfrm>
          <a:prstGeom prst="rect">
            <a:avLst/>
          </a:prstGeom>
          <a:solidFill>
            <a:srgbClr val="289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34256" y="1691640"/>
            <a:ext cx="3081528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3769"/>
                </a:solidFill>
                <a:latin typeface="Aptos"/>
              </a:rPr>
              <a:t>YARD OCCUPANCY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6126" y="2002536"/>
            <a:ext cx="3081528" cy="76944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da-DK" sz="1100" dirty="0"/>
              <a:t>Menghitung % keterisian 200 slot. Jika Blok A &gt;80%, sistem otomatis memindahkan alokasi kontainer baru ke Blok B/C.</a:t>
            </a:r>
            <a:br>
              <a:rPr lang="da-DK" sz="1100" dirty="0"/>
            </a:br>
            <a:endParaRPr sz="1100" b="0" dirty="0">
              <a:solidFill>
                <a:srgbClr val="50697D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717536" y="1600200"/>
            <a:ext cx="3300984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717536" y="1600200"/>
            <a:ext cx="64008" cy="1600200"/>
          </a:xfrm>
          <a:prstGeom prst="rect">
            <a:avLst/>
          </a:prstGeom>
          <a:solidFill>
            <a:srgbClr val="F4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863840" y="1691640"/>
            <a:ext cx="3044952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A3769"/>
                </a:solidFill>
                <a:latin typeface="Aptos"/>
              </a:rPr>
              <a:t>EQUIPMENT OEE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45552" y="1979991"/>
            <a:ext cx="3044952" cy="43088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d-ID" sz="1100" dirty="0"/>
              <a:t>Melacak </a:t>
            </a:r>
            <a:r>
              <a:rPr lang="id-ID" sz="1100" dirty="0" err="1"/>
              <a:t>Moves</a:t>
            </a:r>
            <a:r>
              <a:rPr lang="id-ID" sz="1100" dirty="0"/>
              <a:t> per </a:t>
            </a:r>
            <a:r>
              <a:rPr lang="id-ID" sz="1100" dirty="0" err="1"/>
              <a:t>Hour</a:t>
            </a:r>
            <a:r>
              <a:rPr lang="id-ID" sz="1100" dirty="0"/>
              <a:t> (&gt;22 </a:t>
            </a:r>
            <a:r>
              <a:rPr lang="id-ID" sz="1100" dirty="0" err="1"/>
              <a:t>box</a:t>
            </a:r>
            <a:r>
              <a:rPr lang="id-ID" sz="1100" dirty="0"/>
              <a:t>/jam) &amp; konsumsi solar per gerakan kontainer.</a:t>
            </a:r>
            <a:endParaRPr sz="1100" b="0" dirty="0">
              <a:solidFill>
                <a:srgbClr val="50697D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58368" y="36118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A3769"/>
                </a:solidFill>
                <a:latin typeface="Aptos"/>
              </a:rPr>
              <a:t>EVENT-DRIVEN ERP ODOO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8368" y="4005072"/>
            <a:ext cx="2148840" cy="310896"/>
          </a:xfrm>
          <a:prstGeom prst="roundRect">
            <a:avLst/>
          </a:prstGeom>
          <a:solidFill>
            <a:srgbClr val="E7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58368" y="4005072"/>
            <a:ext cx="21488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VGM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07792" y="4005072"/>
            <a:ext cx="1965960" cy="310896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907792" y="4005072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1689DC"/>
                </a:solidFill>
                <a:latin typeface="Aptos"/>
              </a:rPr>
              <a:t>Rp 50.000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58368" y="4361688"/>
            <a:ext cx="2148840" cy="310896"/>
          </a:xfrm>
          <a:prstGeom prst="roundRect">
            <a:avLst/>
          </a:prstGeom>
          <a:solidFill>
            <a:srgbClr val="E7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58368" y="4361688"/>
            <a:ext cx="21488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Lift-Off / Lo-Lo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907792" y="4361688"/>
            <a:ext cx="1965960" cy="310896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907792" y="4361688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49B1E"/>
                </a:solidFill>
                <a:latin typeface="Aptos"/>
              </a:rPr>
              <a:t>Rp 250.000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8368" y="4718304"/>
            <a:ext cx="2148840" cy="310896"/>
          </a:xfrm>
          <a:prstGeom prst="roundRect">
            <a:avLst/>
          </a:prstGeom>
          <a:solidFill>
            <a:srgbClr val="E7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8368" y="4718304"/>
            <a:ext cx="21488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Storage hari ke-5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907792" y="4718304"/>
            <a:ext cx="1965960" cy="310896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2907792" y="4718304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289B69"/>
                </a:solidFill>
                <a:latin typeface="Aptos"/>
              </a:rPr>
              <a:t>Rp 45.000/hari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8368" y="5074920"/>
            <a:ext cx="2148840" cy="310896"/>
          </a:xfrm>
          <a:prstGeom prst="roundRect">
            <a:avLst/>
          </a:prstGeom>
          <a:solidFill>
            <a:srgbClr val="E7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58368" y="5074920"/>
            <a:ext cx="21488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Reefer listrik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907792" y="5074920"/>
            <a:ext cx="1965960" cy="310896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907792" y="5074920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64BEEB"/>
                </a:solidFill>
                <a:latin typeface="Aptos"/>
              </a:rPr>
              <a:t>Rp 250.000/shift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8368" y="5431536"/>
            <a:ext cx="2148840" cy="310896"/>
          </a:xfrm>
          <a:prstGeom prst="roundRect">
            <a:avLst/>
          </a:prstGeom>
          <a:solidFill>
            <a:srgbClr val="E7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58368" y="5431536"/>
            <a:ext cx="21488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Rail stevedoring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2907792" y="5431536"/>
            <a:ext cx="1965960" cy="310896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907792" y="5431536"/>
            <a:ext cx="1965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Rp 350.000/box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0" y="3794760"/>
            <a:ext cx="553212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5486400" y="3794760"/>
            <a:ext cx="64008" cy="1417320"/>
          </a:xfrm>
          <a:prstGeom prst="rect">
            <a:avLst/>
          </a:prstGeom>
          <a:solidFill>
            <a:srgbClr val="F4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632704" y="3886200"/>
            <a:ext cx="5276088" cy="33855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en-US" sz="1600" b="1" dirty="0">
                <a:solidFill>
                  <a:srgbClr val="0A3769"/>
                </a:solidFill>
                <a:latin typeface="Aptos"/>
              </a:rPr>
              <a:t>PRINSIP </a:t>
            </a:r>
            <a:r>
              <a:rPr sz="1600" b="1" dirty="0">
                <a:solidFill>
                  <a:srgbClr val="0A3769"/>
                </a:solidFill>
                <a:latin typeface="Aptos"/>
              </a:rPr>
              <a:t>ZERO REVENUE LEAKAGE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32704" y="4233672"/>
            <a:ext cx="5276088" cy="5232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d-ID" sz="1400" dirty="0"/>
              <a:t>Tidak ada jasa fisik yang luput dari penagihan. Semua terkonversi menjadi piutang dan e-Faktur resmi di </a:t>
            </a:r>
            <a:r>
              <a:rPr lang="id-ID" sz="1400" dirty="0" err="1"/>
              <a:t>Odoo</a:t>
            </a:r>
            <a:r>
              <a:rPr lang="id-ID" sz="1400" dirty="0"/>
              <a:t> </a:t>
            </a:r>
            <a:r>
              <a:rPr lang="id-ID" sz="1400" dirty="0" err="1"/>
              <a:t>Invoicing</a:t>
            </a:r>
            <a:r>
              <a:rPr lang="id-ID" sz="1400" dirty="0"/>
              <a:t>!</a:t>
            </a:r>
            <a:endParaRPr sz="1300" b="0" dirty="0">
              <a:solidFill>
                <a:srgbClr val="50697D"/>
              </a:solidFill>
              <a:latin typeface="Aptos"/>
            </a:endParaRPr>
          </a:p>
        </p:txBody>
      </p:sp>
      <p:sp>
        <p:nvSpPr>
          <p:cNvPr id="45" name="Rounded Rectangle 44"/>
          <p:cNvSpPr/>
          <p:nvPr/>
        </p:nvSpPr>
        <p:spPr>
          <a:xfrm>
            <a:off x="5486400" y="5440680"/>
            <a:ext cx="4846320" cy="310896"/>
          </a:xfrm>
          <a:prstGeom prst="roundRect">
            <a:avLst/>
          </a:prstGeom>
          <a:solidFill>
            <a:srgbClr val="F4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486400" y="5440680"/>
            <a:ext cx="484632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KPI DEMO: YARD 63%  •  DWELL 2,1 HARI  •  GROSS REVENUE Rp 47,2M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510028" y="6627553"/>
            <a:ext cx="6858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dirty="0" err="1">
                <a:solidFill>
                  <a:srgbClr val="50697D"/>
                </a:solidFill>
                <a:latin typeface="Aptos"/>
              </a:rPr>
              <a:t>Teknologi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dan </a:t>
            </a:r>
            <a:r>
              <a:rPr sz="800" b="0" dirty="0" err="1">
                <a:solidFill>
                  <a:srgbClr val="50697D"/>
                </a:solidFill>
                <a:latin typeface="Aptos"/>
              </a:rPr>
              <a:t>Perangkat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</a:t>
            </a:r>
            <a:r>
              <a:rPr sz="800" b="0" dirty="0" err="1">
                <a:solidFill>
                  <a:srgbClr val="50697D"/>
                </a:solidFill>
                <a:latin typeface="Aptos"/>
              </a:rPr>
              <a:t>Lunak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</a:t>
            </a:r>
            <a:r>
              <a:rPr sz="800" b="0" dirty="0" err="1">
                <a:solidFill>
                  <a:srgbClr val="50697D"/>
                </a:solidFill>
                <a:latin typeface="Aptos"/>
              </a:rPr>
              <a:t>Logistik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 •  CIDP 35 Ha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454705" y="470916"/>
            <a:ext cx="438912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 dirty="0">
                <a:solidFill>
                  <a:srgbClr val="1689DC"/>
                </a:solidFill>
                <a:latin typeface="Aptos"/>
              </a:rPr>
              <a:t>LIVE DEMO CHEAT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5841" y="669763"/>
            <a:ext cx="8412480" cy="954107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Bef>
                <a:spcPts val="300"/>
              </a:spcBef>
              <a:defRPr sz="1900" b="1">
                <a:solidFill>
                  <a:srgbClr val="002F5E"/>
                </a:solidFill>
              </a:defRPr>
            </a:pPr>
            <a:r>
              <a:rPr lang="id-ID" sz="2800" dirty="0" err="1"/>
              <a:t>Cheat</a:t>
            </a:r>
            <a:r>
              <a:rPr lang="id-ID" sz="2800" dirty="0"/>
              <a:t> </a:t>
            </a:r>
            <a:r>
              <a:rPr lang="id-ID" sz="2800" dirty="0" err="1"/>
              <a:t>Sheet</a:t>
            </a:r>
            <a:r>
              <a:rPr lang="id-ID" sz="2800" dirty="0"/>
              <a:t> Panduan Live Demo Web &amp; Kesimpulan Nilai </a:t>
            </a:r>
            <a:r>
              <a:rPr lang="en-US" sz="2800" dirty="0" err="1"/>
              <a:t>Strategis</a:t>
            </a:r>
            <a:endParaRPr lang="id-ID" sz="2800" dirty="0"/>
          </a:p>
        </p:txBody>
      </p:sp>
      <p:sp>
        <p:nvSpPr>
          <p:cNvPr id="5" name="Rounded Rectangle 4"/>
          <p:cNvSpPr/>
          <p:nvPr/>
        </p:nvSpPr>
        <p:spPr>
          <a:xfrm>
            <a:off x="9738360" y="585216"/>
            <a:ext cx="1325880" cy="310896"/>
          </a:xfrm>
          <a:prstGeom prst="roundRect">
            <a:avLst/>
          </a:prstGeom>
          <a:solidFill>
            <a:srgbClr val="E7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738360" y="585216"/>
            <a:ext cx="132588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0A3769"/>
                </a:solidFill>
                <a:latin typeface="Aptos"/>
              </a:rPr>
              <a:t>08 / SOFTWARE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572768"/>
            <a:ext cx="365760" cy="365760"/>
          </a:xfrm>
          <a:prstGeom prst="ellipse">
            <a:avLst/>
          </a:prstGeom>
          <a:solidFill>
            <a:srgbClr val="168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" y="15727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61288" y="1554480"/>
            <a:ext cx="21031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A3769"/>
                </a:solidFill>
                <a:latin typeface="Aptos"/>
              </a:rPr>
              <a:t>Beranda Eksekutif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0088" y="1554480"/>
            <a:ext cx="201168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0697D"/>
                </a:solidFill>
                <a:latin typeface="Aptos"/>
              </a:rPr>
              <a:t>Dwell 2,1 hari + revenue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61288" y="1874520"/>
            <a:ext cx="1920240" cy="310896"/>
          </a:xfrm>
          <a:prstGeom prst="roundRect">
            <a:avLst/>
          </a:prstGeom>
          <a:solidFill>
            <a:srgbClr val="E7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161288" y="1874520"/>
            <a:ext cx="1920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0A3769"/>
                </a:solidFill>
                <a:latin typeface="Aptos"/>
              </a:rPr>
              <a:t>Chart.js / KPI</a:t>
            </a:r>
          </a:p>
        </p:txBody>
      </p:sp>
      <p:sp>
        <p:nvSpPr>
          <p:cNvPr id="14" name="Oval 13"/>
          <p:cNvSpPr/>
          <p:nvPr/>
        </p:nvSpPr>
        <p:spPr>
          <a:xfrm>
            <a:off x="5916168" y="1572768"/>
            <a:ext cx="365760" cy="365760"/>
          </a:xfrm>
          <a:prstGeom prst="ellipse">
            <a:avLst/>
          </a:prstGeom>
          <a:solidFill>
            <a:srgbClr val="168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16168" y="157276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1554480"/>
            <a:ext cx="21031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A3769"/>
                </a:solidFill>
                <a:latin typeface="Aptos"/>
              </a:rPr>
              <a:t>Manajemen 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1554480"/>
            <a:ext cx="201168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0697D"/>
                </a:solidFill>
                <a:latin typeface="Aptos"/>
              </a:rPr>
              <a:t>Truk 1 &amp; Overweight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19088" y="1874520"/>
            <a:ext cx="1920240" cy="310896"/>
          </a:xfrm>
          <a:prstGeom prst="roundRect">
            <a:avLst/>
          </a:prstGeom>
          <a:solidFill>
            <a:srgbClr val="E7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19088" y="1874520"/>
            <a:ext cx="1920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0A3769"/>
                </a:solidFill>
                <a:latin typeface="Aptos"/>
              </a:rPr>
              <a:t>ANPR / OCR / VGM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2441448"/>
            <a:ext cx="365760" cy="365760"/>
          </a:xfrm>
          <a:prstGeom prst="ellipse">
            <a:avLst/>
          </a:prstGeom>
          <a:solidFill>
            <a:srgbClr val="168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8368" y="244144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61288" y="2423160"/>
            <a:ext cx="21031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A3769"/>
                </a:solidFill>
                <a:latin typeface="Aptos"/>
              </a:rPr>
              <a:t>Panel Simulasi 3D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90088" y="2423160"/>
            <a:ext cx="201168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0697D"/>
                </a:solidFill>
                <a:latin typeface="Aptos"/>
              </a:rPr>
              <a:t>Pindahkan Box (RS)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61288" y="2743200"/>
            <a:ext cx="1920240" cy="310896"/>
          </a:xfrm>
          <a:prstGeom prst="roundRect">
            <a:avLst/>
          </a:prstGeom>
          <a:solidFill>
            <a:srgbClr val="E7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61288" y="2743200"/>
            <a:ext cx="1920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0A3769"/>
                </a:solidFill>
                <a:latin typeface="Aptos"/>
              </a:rPr>
              <a:t>Three.js / Raycaster</a:t>
            </a:r>
          </a:p>
        </p:txBody>
      </p:sp>
      <p:sp>
        <p:nvSpPr>
          <p:cNvPr id="26" name="Oval 25"/>
          <p:cNvSpPr/>
          <p:nvPr/>
        </p:nvSpPr>
        <p:spPr>
          <a:xfrm>
            <a:off x="5916168" y="2441448"/>
            <a:ext cx="365760" cy="365760"/>
          </a:xfrm>
          <a:prstGeom prst="ellipse">
            <a:avLst/>
          </a:prstGeom>
          <a:solidFill>
            <a:srgbClr val="168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916168" y="244144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19088" y="2423160"/>
            <a:ext cx="21031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A3769"/>
                </a:solidFill>
                <a:latin typeface="Aptos"/>
              </a:rPr>
              <a:t>Pelacakan Kontainer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2423160"/>
            <a:ext cx="201168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0697D"/>
                </a:solidFill>
                <a:latin typeface="Aptos"/>
              </a:rPr>
              <a:t>Bay-Row-Tier + SPPB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19088" y="2743200"/>
            <a:ext cx="1920240" cy="310896"/>
          </a:xfrm>
          <a:prstGeom prst="roundRect">
            <a:avLst/>
          </a:prstGeom>
          <a:solidFill>
            <a:srgbClr val="E7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19088" y="2743200"/>
            <a:ext cx="1920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0A3769"/>
                </a:solidFill>
                <a:latin typeface="Aptos"/>
              </a:rPr>
              <a:t>RFID / GS1</a:t>
            </a:r>
          </a:p>
        </p:txBody>
      </p:sp>
      <p:sp>
        <p:nvSpPr>
          <p:cNvPr id="32" name="Oval 31"/>
          <p:cNvSpPr/>
          <p:nvPr/>
        </p:nvSpPr>
        <p:spPr>
          <a:xfrm>
            <a:off x="658368" y="3310128"/>
            <a:ext cx="365760" cy="365760"/>
          </a:xfrm>
          <a:prstGeom prst="ellipse">
            <a:avLst/>
          </a:prstGeom>
          <a:solidFill>
            <a:srgbClr val="168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8368" y="331012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61288" y="3291840"/>
            <a:ext cx="21031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A3769"/>
                </a:solidFill>
                <a:latin typeface="Aptos"/>
              </a:rPr>
              <a:t>Manajemen Trucking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990088" y="3291840"/>
            <a:ext cx="201168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0697D"/>
                </a:solidFill>
                <a:latin typeface="Aptos"/>
              </a:rPr>
              <a:t>Berat + QR e-Pass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61288" y="3611880"/>
            <a:ext cx="1920240" cy="310896"/>
          </a:xfrm>
          <a:prstGeom prst="roundRect">
            <a:avLst/>
          </a:prstGeom>
          <a:solidFill>
            <a:srgbClr val="E7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61288" y="3611880"/>
            <a:ext cx="1920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0A3769"/>
                </a:solidFill>
                <a:latin typeface="Aptos"/>
              </a:rPr>
              <a:t>Tara / Bruto</a:t>
            </a:r>
          </a:p>
        </p:txBody>
      </p:sp>
      <p:sp>
        <p:nvSpPr>
          <p:cNvPr id="38" name="Oval 37"/>
          <p:cNvSpPr/>
          <p:nvPr/>
        </p:nvSpPr>
        <p:spPr>
          <a:xfrm>
            <a:off x="5916168" y="3310128"/>
            <a:ext cx="365760" cy="365760"/>
          </a:xfrm>
          <a:prstGeom prst="ellipse">
            <a:avLst/>
          </a:prstGeom>
          <a:solidFill>
            <a:srgbClr val="168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916168" y="3310128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19088" y="3291840"/>
            <a:ext cx="21031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A3769"/>
                </a:solidFill>
                <a:latin typeface="Aptos"/>
              </a:rPr>
              <a:t>Lokasi Alat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47888" y="3291840"/>
            <a:ext cx="201168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0697D"/>
                </a:solidFill>
                <a:latin typeface="Aptos"/>
              </a:rPr>
              <a:t>RS-01/02/03 + BBM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19088" y="3611880"/>
            <a:ext cx="1920240" cy="310896"/>
          </a:xfrm>
          <a:prstGeom prst="roundRect">
            <a:avLst/>
          </a:prstGeom>
          <a:solidFill>
            <a:srgbClr val="E7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19088" y="3611880"/>
            <a:ext cx="1920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0A3769"/>
                </a:solidFill>
                <a:latin typeface="Aptos"/>
              </a:rPr>
              <a:t>GPS / Radar</a:t>
            </a:r>
          </a:p>
        </p:txBody>
      </p:sp>
      <p:sp>
        <p:nvSpPr>
          <p:cNvPr id="44" name="Oval 43"/>
          <p:cNvSpPr/>
          <p:nvPr/>
        </p:nvSpPr>
        <p:spPr>
          <a:xfrm>
            <a:off x="658368" y="4178807"/>
            <a:ext cx="365760" cy="365760"/>
          </a:xfrm>
          <a:prstGeom prst="ellipse">
            <a:avLst/>
          </a:prstGeom>
          <a:solidFill>
            <a:srgbClr val="168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58368" y="4178807"/>
            <a:ext cx="365760" cy="365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  <a:latin typeface="Aptos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61288" y="4160519"/>
            <a:ext cx="210312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A3769"/>
                </a:solidFill>
                <a:latin typeface="Aptos"/>
              </a:rPr>
              <a:t>Pengaturan Global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90088" y="4160519"/>
            <a:ext cx="2011680" cy="2468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0697D"/>
                </a:solidFill>
                <a:latin typeface="Aptos"/>
              </a:rPr>
              <a:t>Live DB + tim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61288" y="4480559"/>
            <a:ext cx="1920240" cy="310896"/>
          </a:xfrm>
          <a:prstGeom prst="roundRect">
            <a:avLst/>
          </a:prstGeom>
          <a:solidFill>
            <a:srgbClr val="E7F4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1161288" y="4480559"/>
            <a:ext cx="1920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800" b="1">
                <a:solidFill>
                  <a:srgbClr val="0A3769"/>
                </a:solidFill>
                <a:latin typeface="Aptos"/>
              </a:rPr>
              <a:t>MySQL PDO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636008" y="466344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 dirty="0">
                <a:solidFill>
                  <a:srgbClr val="0A3769"/>
                </a:solidFill>
                <a:latin typeface="Aptos"/>
              </a:rPr>
              <a:t>4 PILAR NILAI STRATEGIS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58368" y="4983480"/>
            <a:ext cx="2487168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58368" y="4983480"/>
            <a:ext cx="64008" cy="960120"/>
          </a:xfrm>
          <a:prstGeom prst="rect">
            <a:avLst/>
          </a:prstGeom>
          <a:solidFill>
            <a:srgbClr val="1689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04672" y="5074920"/>
            <a:ext cx="223113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0A3769"/>
                </a:solidFill>
                <a:latin typeface="Aptos"/>
              </a:rPr>
              <a:t>KECEPATAN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4672" y="5422392"/>
            <a:ext cx="2231136" cy="5078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d-ID" sz="900" dirty="0" err="1"/>
              <a:t>Otomasi</a:t>
            </a:r>
            <a:r>
              <a:rPr lang="id-ID" sz="900" dirty="0"/>
              <a:t> </a:t>
            </a:r>
            <a:r>
              <a:rPr lang="id-ID" sz="900" dirty="0" err="1"/>
              <a:t>gate</a:t>
            </a:r>
            <a:r>
              <a:rPr lang="id-ID" sz="900" dirty="0"/>
              <a:t> 28 detik &amp; alokasi yard cerdas memangkas </a:t>
            </a:r>
            <a:r>
              <a:rPr lang="id-ID" sz="900" dirty="0" err="1"/>
              <a:t>dwell</a:t>
            </a:r>
            <a:r>
              <a:rPr lang="id-ID" sz="900" dirty="0"/>
              <a:t> </a:t>
            </a:r>
            <a:r>
              <a:rPr lang="id-ID" sz="900" dirty="0" err="1"/>
              <a:t>time</a:t>
            </a:r>
            <a:r>
              <a:rPr lang="id-ID" sz="900" dirty="0"/>
              <a:t> ke 2.1 hari.</a:t>
            </a:r>
            <a:br>
              <a:rPr lang="id-ID" sz="900" dirty="0"/>
            </a:br>
            <a:endParaRPr lang="id-ID" sz="900" b="0" dirty="0">
              <a:solidFill>
                <a:srgbClr val="50697D"/>
              </a:solidFill>
              <a:latin typeface="Aptos"/>
            </a:endParaRPr>
          </a:p>
        </p:txBody>
      </p:sp>
      <p:sp>
        <p:nvSpPr>
          <p:cNvPr id="55" name="Rounded Rectangle 54"/>
          <p:cNvSpPr/>
          <p:nvPr/>
        </p:nvSpPr>
        <p:spPr>
          <a:xfrm>
            <a:off x="3401568" y="4983480"/>
            <a:ext cx="2487168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3401568" y="4983480"/>
            <a:ext cx="64008" cy="960120"/>
          </a:xfrm>
          <a:prstGeom prst="rect">
            <a:avLst/>
          </a:prstGeom>
          <a:solidFill>
            <a:srgbClr val="289B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547872" y="5074920"/>
            <a:ext cx="2231136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0A3769"/>
                </a:solidFill>
                <a:latin typeface="Aptos"/>
              </a:rPr>
              <a:t>INTEGRITAS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547872" y="5422392"/>
            <a:ext cx="2231136" cy="5078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d-ID" sz="900" dirty="0"/>
              <a:t>100% data ditangkap otomatis oleh sensor tanpa salah ketik manual.</a:t>
            </a:r>
            <a:br>
              <a:rPr lang="id-ID" sz="900" dirty="0"/>
            </a:br>
            <a:endParaRPr sz="900" b="0" dirty="0">
              <a:solidFill>
                <a:srgbClr val="50697D"/>
              </a:solidFill>
              <a:latin typeface="Aptos"/>
            </a:endParaRPr>
          </a:p>
        </p:txBody>
      </p:sp>
      <p:sp>
        <p:nvSpPr>
          <p:cNvPr id="59" name="Rounded Rectangle 58"/>
          <p:cNvSpPr/>
          <p:nvPr/>
        </p:nvSpPr>
        <p:spPr>
          <a:xfrm>
            <a:off x="6144768" y="4983480"/>
            <a:ext cx="2487168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Rectangle 59"/>
          <p:cNvSpPr/>
          <p:nvPr/>
        </p:nvSpPr>
        <p:spPr>
          <a:xfrm>
            <a:off x="6144768" y="4983480"/>
            <a:ext cx="64008" cy="960120"/>
          </a:xfrm>
          <a:prstGeom prst="rect">
            <a:avLst/>
          </a:prstGeom>
          <a:solidFill>
            <a:srgbClr val="F4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291072" y="5074920"/>
            <a:ext cx="2231136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dirty="0">
                <a:solidFill>
                  <a:srgbClr val="0A3769"/>
                </a:solidFill>
                <a:latin typeface="Aptos"/>
              </a:rPr>
              <a:t>ZERO </a:t>
            </a:r>
            <a:r>
              <a:rPr lang="en-US" sz="1000" b="1" dirty="0">
                <a:solidFill>
                  <a:srgbClr val="0A3769"/>
                </a:solidFill>
                <a:latin typeface="Aptos"/>
              </a:rPr>
              <a:t>REVENUE </a:t>
            </a:r>
            <a:r>
              <a:rPr sz="1000" b="1" dirty="0">
                <a:solidFill>
                  <a:srgbClr val="0A3769"/>
                </a:solidFill>
                <a:latin typeface="Aptos"/>
              </a:rPr>
              <a:t>LEAKAGE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291072" y="5422392"/>
            <a:ext cx="2231136" cy="5078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d-ID" sz="900" dirty="0"/>
              <a:t>Setiap gerakan fisik alat berat langsung tercatat menjadi faktur resmi di ERP </a:t>
            </a:r>
            <a:r>
              <a:rPr lang="id-ID" sz="900" dirty="0" err="1"/>
              <a:t>Odoo</a:t>
            </a:r>
            <a:r>
              <a:rPr lang="id-ID" sz="900" dirty="0"/>
              <a:t>.</a:t>
            </a:r>
            <a:br>
              <a:rPr lang="id-ID" sz="900" dirty="0"/>
            </a:br>
            <a:endParaRPr sz="900" b="0" dirty="0">
              <a:solidFill>
                <a:srgbClr val="50697D"/>
              </a:solidFill>
              <a:latin typeface="Aptos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8887968" y="4983480"/>
            <a:ext cx="2487168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6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Rectangle 63"/>
          <p:cNvSpPr/>
          <p:nvPr/>
        </p:nvSpPr>
        <p:spPr>
          <a:xfrm>
            <a:off x="8887968" y="4983480"/>
            <a:ext cx="64008" cy="960120"/>
          </a:xfrm>
          <a:prstGeom prst="rect">
            <a:avLst/>
          </a:prstGeom>
          <a:solidFill>
            <a:srgbClr val="64BE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9034272" y="5074920"/>
            <a:ext cx="2231136" cy="24622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 dirty="0">
                <a:solidFill>
                  <a:srgbClr val="0A3769"/>
                </a:solidFill>
                <a:latin typeface="Aptos"/>
              </a:rPr>
              <a:t>MULTIMODA</a:t>
            </a:r>
            <a:r>
              <a:rPr lang="en-US" sz="1000" b="1" dirty="0">
                <a:solidFill>
                  <a:srgbClr val="0A3769"/>
                </a:solidFill>
                <a:latin typeface="Aptos"/>
              </a:rPr>
              <a:t> TERPADU</a:t>
            </a:r>
            <a:endParaRPr sz="1000" b="1" dirty="0">
              <a:solidFill>
                <a:srgbClr val="0A3769"/>
              </a:solidFill>
              <a:latin typeface="Aptos"/>
            </a:endParaRPr>
          </a:p>
        </p:txBody>
      </p:sp>
      <p:sp>
        <p:nvSpPr>
          <p:cNvPr id="66" name="TextBox 65"/>
          <p:cNvSpPr txBox="1"/>
          <p:nvPr/>
        </p:nvSpPr>
        <p:spPr>
          <a:xfrm>
            <a:off x="9015984" y="5385816"/>
            <a:ext cx="2231136" cy="50783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lang="id-ID" sz="900" dirty="0"/>
              <a:t>Sinkronisasi mulus truk jalan raya, kereta api logistik, dan kepabeanan DJBC CEISA 4.0.</a:t>
            </a:r>
            <a:endParaRPr sz="900" b="0" dirty="0">
              <a:solidFill>
                <a:srgbClr val="50697D"/>
              </a:solidFill>
              <a:latin typeface="Aptos"/>
            </a:endParaRPr>
          </a:p>
        </p:txBody>
      </p:sp>
      <p:sp>
        <p:nvSpPr>
          <p:cNvPr id="67" name="TextBox 66"/>
          <p:cNvSpPr txBox="1"/>
          <p:nvPr/>
        </p:nvSpPr>
        <p:spPr>
          <a:xfrm>
            <a:off x="2490321" y="6611112"/>
            <a:ext cx="6858000" cy="1645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 dirty="0" err="1">
                <a:solidFill>
                  <a:srgbClr val="50697D"/>
                </a:solidFill>
                <a:latin typeface="Aptos"/>
              </a:rPr>
              <a:t>Teknologi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dan </a:t>
            </a:r>
            <a:r>
              <a:rPr sz="800" b="0" dirty="0" err="1">
                <a:solidFill>
                  <a:srgbClr val="50697D"/>
                </a:solidFill>
                <a:latin typeface="Aptos"/>
              </a:rPr>
              <a:t>Perangkat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</a:t>
            </a:r>
            <a:r>
              <a:rPr sz="800" b="0" dirty="0" err="1">
                <a:solidFill>
                  <a:srgbClr val="50697D"/>
                </a:solidFill>
                <a:latin typeface="Aptos"/>
              </a:rPr>
              <a:t>Lunak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</a:t>
            </a:r>
            <a:r>
              <a:rPr sz="800" b="0" dirty="0" err="1">
                <a:solidFill>
                  <a:srgbClr val="50697D"/>
                </a:solidFill>
                <a:latin typeface="Aptos"/>
              </a:rPr>
              <a:t>Logistik</a:t>
            </a:r>
            <a:r>
              <a:rPr sz="800" b="0" dirty="0">
                <a:solidFill>
                  <a:srgbClr val="50697D"/>
                </a:solidFill>
                <a:latin typeface="Aptos"/>
              </a:rPr>
              <a:t>  •  CIDP 35 Ha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3383280" y="233172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1689DC"/>
                </a:solidFill>
                <a:latin typeface="Aptos"/>
              </a:rPr>
              <a:t>SOFTWARE YMS CIDP 35 HA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17320" y="2606040"/>
            <a:ext cx="8412480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900" b="1">
                <a:solidFill>
                  <a:srgbClr val="FFFFFF"/>
                </a:solidFill>
                <a:latin typeface="Aptos"/>
              </a:rPr>
              <a:t>“ SIAP DIUJI. SIAP DIINTEGRASIKAN. SIAP MENGAMBIL KEPUTUSAN. ”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15968" y="3429000"/>
            <a:ext cx="1920240" cy="310896"/>
          </a:xfrm>
          <a:prstGeom prst="roundRect">
            <a:avLst/>
          </a:prstGeom>
          <a:solidFill>
            <a:srgbClr val="F49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15968" y="3429000"/>
            <a:ext cx="192024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Aptos"/>
              </a:rPr>
              <a:t>TERIMA KASIH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0" y="4251960"/>
            <a:ext cx="5852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0">
                <a:solidFill>
                  <a:srgbClr val="0A3769"/>
                </a:solidFill>
                <a:latin typeface="Aptos"/>
              </a:rPr>
              <a:t>Conclusion Supply Chain Consultant  •  Teknologi dan Perangkat Lunak Logistik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1594</Words>
  <Application>Microsoft Office PowerPoint</Application>
  <PresentationFormat>Widescreen</PresentationFormat>
  <Paragraphs>190</Paragraphs>
  <Slides>9</Slides>
  <Notes>0</Notes>
  <HiddenSlides>2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Zulfikar Jafarudin Fatah</dc:creator>
  <cp:keywords/>
  <dc:description>generated using python-pptx</dc:description>
  <cp:lastModifiedBy>Zulfikar Jafarudin Fatah</cp:lastModifiedBy>
  <cp:revision>8</cp:revision>
  <dcterms:created xsi:type="dcterms:W3CDTF">2013-01-27T09:14:16Z</dcterms:created>
  <dcterms:modified xsi:type="dcterms:W3CDTF">2026-09-30T09:41:27Z</dcterms:modified>
  <cp:category/>
</cp:coreProperties>
</file>