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5852160"/>
          </a:xfrm>
          <a:prstGeom prst="rect">
            <a:avLst/>
          </a:prstGeom>
          <a:solidFill>
            <a:srgbClr val="017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4241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93C5FD"/>
                </a:solidFill>
              </a:defRPr>
            </a:pPr>
            <a:r>
              <a:t>TOPIK 7 — INLAND CONTAINER DEPOT (ICD) &amp; DRY PORT MANAGEMENT</a:t>
            </a:r>
          </a:p>
          <a:p>
            <a:pPr>
              <a:spcBef>
                <a:spcPts val="400"/>
              </a:spcBef>
              <a:defRPr sz="2100" b="1">
                <a:solidFill>
                  <a:srgbClr val="FFFFFF"/>
                </a:solidFill>
              </a:defRPr>
            </a:pPr>
            <a:r>
              <a:t>Sistem Manajemen Lapangan Penumpukan (Yard Management System / YMS) pada Conclusion Intermodal Dry Port (CIDP) 35 Ha</a:t>
            </a:r>
          </a:p>
          <a:p>
            <a:pPr>
              <a:spcBef>
                <a:spcPts val="600"/>
              </a:spcBef>
              <a:defRPr sz="1050" b="1">
                <a:solidFill>
                  <a:srgbClr val="F59E0B"/>
                </a:solidFill>
              </a:defRPr>
            </a:pPr>
            <a:r>
              <a:t>PROGRES MINGGU INI: ARSITEKTUR SOFTWARE, INGESTION DATA HARDWARE &amp; ENGINE INFORMASI INTELEJEN OPERASIONAL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560320"/>
            <a:ext cx="10424160" cy="3108960"/>
          </a:xfrm>
          <a:prstGeom prst="roundRect">
            <a:avLst/>
          </a:prstGeom>
          <a:solidFill>
            <a:srgbClr val="0F1E3C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697480"/>
            <a:ext cx="1005840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TIM PENGEMBANG &amp; KONSULTAN (CONCLUSION SUPPLY CHAIN CONSULTANT):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</a:defRPr>
            </a:pPr>
            <a:r>
              <a:t>• 1. Zulfikar Jafarudin Fatah (24D507001001) — Lead System Architect (Ketua Tim)</a:t>
            </a:r>
            <a:br/>
            <a:r>
              <a:t>   Fokus: Arsitektur Sistem Web YMS, Database MySQL, Dashboard Eksekutif, &amp; 3D Three.js Engine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</a:defRPr>
            </a:pPr>
            <a:r>
              <a:t>• 2. Armansyah Muchtarrom (24D507001010) — Hardware &amp; Infrastructure Specialist</a:t>
            </a:r>
            <a:br/>
            <a:r>
              <a:t>   Fokus: Pemetaan Protokol Sensor Lapangan (RS-232, TCP/IP, LoRaWAN) &amp; Spesifikasi IoT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</a:defRPr>
            </a:pPr>
            <a:r>
              <a:t>• 3. Afriansayah Ayubi (24D507001026) — Software &amp; ERP Process Specialist (Presenter)</a:t>
            </a:r>
            <a:br/>
            <a:r>
              <a:t>   Fokus: Logika Penanganan Peti Kemas, Terminal Tariff Engine (Lo-Lo, Storage, VGM), &amp; Integrasi Odoo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</a:defRPr>
            </a:pPr>
            <a:r>
              <a:t>• 4. Juan Gamaliel (24D507001016) — Data Integration Specialist (Presenter)</a:t>
            </a:r>
            <a:br/>
            <a:r>
              <a:t>   Fokus: Arsitektur REST API Gateway, Pemodelan JSON Payload, Stacking Matrix &amp; Collision Detection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</a:defRPr>
            </a:pPr>
            <a:r>
              <a:t>• 5. Naufal Andika Heditya (24D507001012) — Business Analyst &amp; QA Specialist</a:t>
            </a:r>
            <a:br/>
            <a:r>
              <a:t>   Fokus: Standardisasi AIDC (GS1-128, SSCC-18, ISO 6346), Integrasi CEISA 4.0 Bea Cukai, &amp; QA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806440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BD5E1"/>
                </a:solidFill>
              </a:defRPr>
            </a:pPr>
            <a:r>
              <a:t>Mata Kuliah: Teknologi dan Perangkat Lunak Logistik  •  Dosen Pengampu: Dr. Tigor Franky, S.T., M.T.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Program Studi S1 Manajemen Logistik  •  Institut Transportasi dan Logistik (ITL) Trisakti  •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170B9"/>
                </a:solidFill>
              </a:defRPr>
            </a:pPr>
            <a:r>
              <a:t>TOPIK 7: INLAND CONTAINER DEPOT (ICD) &amp; DRY PORT MANAGEMENT</a:t>
            </a:r>
          </a:p>
          <a:p>
            <a:pPr>
              <a:spcBef>
                <a:spcPts val="300"/>
              </a:spcBef>
              <a:defRPr sz="1900" b="1">
                <a:solidFill>
                  <a:srgbClr val="002F5E"/>
                </a:solidFill>
              </a:defRPr>
            </a:pPr>
            <a:r>
              <a:t>Taksonomi 4-Layer IT Logistik &amp; Pengelolaan 3 Aliran Utama Terminal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Afriansayah Ayubi &amp; Zulfikar J. Fatah — Software &amp; Architecture | Topik 7: ICD &amp; Dry Port Management (CIDP 35 Ha)                    Slide 2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170B9"/>
                </a:solidFill>
              </a:defRPr>
            </a:pPr>
            <a:r>
              <a:t>LANDASAN TEORI LOGISTIK</a:t>
            </a:r>
          </a:p>
          <a:p>
            <a:pPr>
              <a:spcBef>
                <a:spcPts val="300"/>
              </a:spcBef>
              <a:defRPr sz="1300" b="1">
                <a:solidFill>
                  <a:srgbClr val="002F5E"/>
                </a:solidFill>
              </a:defRPr>
            </a:pPr>
            <a:r>
              <a:t>Sinkronisasi 3 Aliran Logistik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• 1. Aliran Fisik Barang (Goods Flow):</a:t>
            </a:r>
            <a:br/>
            <a:r>
              <a:t>  Pergerakan kontainer riil di lapangan 35 Ha: Gate ➔ Timbangan ➔ Lapangan Penumpukan Blok A-E ➔ Rangkaian Kereta Api Logistik.</a:t>
            </a:r>
            <a:br/>
            <a:br/>
            <a:r>
              <a:t>• 2. Aliran Informasi (Information Flow):</a:t>
            </a:r>
            <a:br/>
            <a:r>
              <a:t>  Data telemetri instan dari sensor (OCR, ANPR, DGPS, Twistlock, Suhu) yang diolah menjadi koordinat Bay-Row-Tier dan status peti kemas.</a:t>
            </a:r>
            <a:br/>
            <a:br/>
            <a:r>
              <a:t>• 3. Aliran Finansial (Financial Flow):</a:t>
            </a:r>
            <a:br/>
            <a:r>
              <a:t>  Penerbitan billing, e-Faktur, dan rekonsiliasi piutang jasa terminal (Lo-Lo, penumpukan progresif, plugging reefer, timbang VGM) ke ERP Odoo.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17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170B9"/>
                </a:solidFill>
              </a:defRPr>
            </a:pPr>
            <a:r>
              <a:t>FRAMEWORK DR. TIGOR FRANKY</a:t>
            </a:r>
          </a:p>
          <a:p>
            <a:pPr>
              <a:spcBef>
                <a:spcPts val="300"/>
              </a:spcBef>
              <a:defRPr sz="1300" b="1">
                <a:solidFill>
                  <a:srgbClr val="002F5E"/>
                </a:solidFill>
              </a:defRPr>
            </a:pPr>
            <a:r>
              <a:t>Taksonomi 4 Lapisan IT Logistik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• Layer 1: Sensing &amp; Capture (Hardware)</a:t>
            </a:r>
            <a:br/>
            <a:r>
              <a:t>  26 item alat fisik (kamera OCR, timbangan 80t, RFID UHF, twistlock, DGPS RTK).</a:t>
            </a:r>
            <a:br/>
            <a:br/>
            <a:r>
              <a:t>• Layer 2: Network &amp; Protocols (Middleware)</a:t>
            </a:r>
            <a:br/>
            <a:r>
              <a:t>  Wi-Fi 7, 4G LTE, LoRaWAN, RS-232, TCP/IP.</a:t>
            </a:r>
            <a:br/>
            <a:br/>
            <a:r>
              <a:t>• Layer 3: Application &amp; Systems (Core YMS)</a:t>
            </a:r>
            <a:br/>
            <a:r>
              <a:t>  Perangkat lunak YMS, 3D WebGL Engine, Stacking Rules, dan Terminal Tariff Engine.</a:t>
            </a:r>
            <a:br/>
            <a:br/>
            <a:r>
              <a:t>• Layer 4: Integration &amp; Data Protocols</a:t>
            </a:r>
            <a:br/>
            <a:r>
              <a:t>  REST API, JSON Payload, CEISA 4.0 DJBC (Kepabeanan), SAKA KAI, dan Odoo ERP.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0B981"/>
                </a:solidFill>
              </a:defRPr>
            </a:pPr>
            <a:r>
              <a:t>NILAI STRATEGIS SOFTWARE</a:t>
            </a:r>
          </a:p>
          <a:p>
            <a:pPr>
              <a:spcBef>
                <a:spcPts val="300"/>
              </a:spcBef>
              <a:defRPr sz="1300" b="1">
                <a:solidFill>
                  <a:srgbClr val="002F5E"/>
                </a:solidFill>
              </a:defRPr>
            </a:pPr>
            <a:r>
              <a:t>Otak Pengolah Data Mentah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• Hardware Hanyalah Alat Pengumpul:</a:t>
            </a:r>
            <a:br/>
            <a:r>
              <a:t>  Sensor hanya membaca voltase, string plat, atau koordinat angka tanpa makna bisnis.</a:t>
            </a:r>
            <a:br/>
            <a:br/>
            <a:r>
              <a:t>• Software Mentransformasi Data:</a:t>
            </a:r>
            <a:br/>
            <a:r>
              <a:t>  1. Mengubah sinyal bobot ➔ Status VGM SOLAS.</a:t>
            </a:r>
            <a:br/>
            <a:r>
              <a:t>  2. Mengubah koordinat GPS ➔ Slot Blok-Bay-Row-Tier.</a:t>
            </a:r>
            <a:br/>
            <a:r>
              <a:t>  3. Mengubah pelepasan box ➔ Tagihan Lo-Lo Rp 250rb.</a:t>
            </a:r>
            <a:br/>
            <a:r>
              <a:t>  4. Mengubah masa inap ➔ Audit dwell time &amp; heatmap.</a:t>
            </a:r>
            <a:br/>
            <a:br/>
            <a:r>
              <a:t>• Menjawab Arahan Dosen:</a:t>
            </a:r>
            <a:br/>
            <a:r>
              <a:t>  Membuktikan bagaimana software menerima data mentah hardware dan mengolahnya menjadi kecerdasan operasional.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170B9"/>
                </a:solidFill>
              </a:defRPr>
            </a:pPr>
            <a:r>
              <a:t>TOPIK 7: INLAND CONTAINER DEPOT (ICD) &amp; DRY PORT MANAGEMENT</a:t>
            </a:r>
          </a:p>
          <a:p>
            <a:pPr>
              <a:spcBef>
                <a:spcPts val="300"/>
              </a:spcBef>
              <a:defRPr sz="1900" b="1">
                <a:solidFill>
                  <a:srgbClr val="002F5E"/>
                </a:solidFill>
              </a:defRPr>
            </a:pPr>
            <a:r>
              <a:t>Arsitektur Teknologi Software: Decoupled Stack &amp; Virtual IoT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Afriansayah Ayubi &amp; Zulfikar J. Fatah — Software &amp; Architecture | Topik 7: ICD &amp; Dry Port Management (CIDP 35 Ha)                    Slide 3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FILOSOFI DESAIN ARSITEKTUR</a:t>
            </a:r>
          </a:p>
          <a:p>
            <a:pPr>
              <a:spcBef>
                <a:spcPts val="300"/>
              </a:spcBef>
              <a:defRPr sz="1300" b="1">
                <a:solidFill>
                  <a:srgbClr val="002F5E"/>
                </a:solidFill>
              </a:defRPr>
            </a:pPr>
            <a:r>
              <a:t>Decoupled Architecture &amp; Virtual Sandbox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• Mengapa Arsitektur Decoupled (Terpisah)?</a:t>
            </a:r>
            <a:br/>
            <a:r>
              <a:t>  Software YMS tidak pernah mengikatkan diri langsung ke kabel fisik sensor lapangan. Komunikasi selalu melalui IoT Edge Gateway berbasis standar REST API &amp; JSON Payload.</a:t>
            </a:r>
            <a:br/>
            <a:br/>
            <a:r>
              <a:t>• Jawaban Resmi Mengenai Ketiadaan Alat Asli di Kelas:</a:t>
            </a:r>
            <a:br/>
            <a:r>
              <a:t>  Dalam industri enterprise maritim kelas dunia (misal Navis N4), software selalu diuji menggunakan Virtual Simulator Payload.</a:t>
            </a:r>
            <a:br/>
            <a:r>
              <a:t>  Struktur JSON yang ditembakkan oleh simulator kami 100% identik dengan sinyal gateway fisik Advantech nantinya.</a:t>
            </a:r>
            <a:br/>
            <a:br/>
            <a:r>
              <a:t>• Transisi Plug-and-Play ke Hardware Asli:</a:t>
            </a:r>
            <a:br/>
            <a:r>
              <a:t>  Saat perangkat fisik dipasang di pelabuhan, alat cukup menembak endpoint API yang sama tanpa mengubah 1 baris kode pun pada software YMS!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170B9"/>
                </a:solidFill>
              </a:defRPr>
            </a:pPr>
            <a:r>
              <a:t>KOMPONEN TEKNOLOGI LENGKAP</a:t>
            </a:r>
          </a:p>
          <a:p>
            <a:pPr>
              <a:spcBef>
                <a:spcPts val="300"/>
              </a:spcBef>
              <a:defRPr sz="1300" b="1">
                <a:solidFill>
                  <a:srgbClr val="002F5E"/>
                </a:solidFill>
              </a:defRPr>
            </a:pPr>
            <a:r>
              <a:t>Enterprise Modern Web &amp; 3D WebGL Stack</a:t>
            </a:r>
          </a:p>
          <a:p>
            <a:pPr>
              <a:spcBef>
                <a:spcPts val="500"/>
              </a:spcBef>
              <a:defRPr sz="850">
                <a:solidFill>
                  <a:srgbClr val="1E293B"/>
                </a:solidFill>
              </a:defRPr>
            </a:pPr>
            <a:r>
              <a:t>• Backend &amp; Database: PHP 8.2 Enterprise Engine dengan PDO MySQL (ACID Transactions, Prepared Statements, Zero SQL Injection), MySQL 8.0 InnoDB.</a:t>
            </a:r>
            <a:br/>
            <a:r>
              <a:t>• 3D Digital Twin Engine: Three.js r128 (WebGL), OrbitControls 360°, Tween.js untuk animasi kinematik Reach Stacker/truk, Raycaster 3D Inspector.</a:t>
            </a:r>
            <a:br/>
            <a:r>
              <a:t>• 2D GIS &amp; Terminal Mapping: Leaflet.js v1.9 untuk pemetaan spasial denah 35 Ha, plotting GPS armada, dan overlay zona operasional.</a:t>
            </a:r>
            <a:br/>
            <a:r>
              <a:t>• Frontend UI/UX: Tailwind CSS 3.4 (Responsive Mobile/Desktop), Vanilla ES6 JavaScript, Google Font Plus Jakarta Sans, FontAwesome 6 Icons.</a:t>
            </a:r>
            <a:br/>
            <a:r>
              <a:t>• Visual Analytics: Chart.js 4.4 untuk tren gerbang, okupansi yard per blok, rasio kargo, dan analitik pendapatan harian.</a:t>
            </a:r>
            <a:br/>
            <a:r>
              <a:t>• Utilities &amp; Reporting: QRCode.js untuk generasi instan e-Gate Pass supir, export-utils.js (ekspor laporan XLSX, PDF, CSV, &amp; Print).</a:t>
            </a:r>
            <a:br/>
            <a:r>
              <a:t>• Testing &amp; Middleware: Postman v11 API Suite (Mock Server, Automated Assertion Scripts, Regression Suite) &amp; REST API Gateway terpadu.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170B9"/>
                </a:solidFill>
              </a:defRPr>
            </a:pPr>
            <a:r>
              <a:t>TOPIK 7: INLAND CONTAINER DEPOT (ICD) &amp; DRY PORT MANAGEMENT</a:t>
            </a:r>
          </a:p>
          <a:p>
            <a:pPr>
              <a:spcBef>
                <a:spcPts val="300"/>
              </a:spcBef>
              <a:defRPr sz="1900" b="1">
                <a:solidFill>
                  <a:srgbClr val="002F5E"/>
                </a:solidFill>
              </a:defRPr>
            </a:pPr>
            <a:r>
              <a:t>Pipeline Ingestion Data: Bagaimana Software Menerima Sinyal 11 Hardware Simulasi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Afriansayah Ayubi &amp; Zulfikar J. Fatah — Software &amp; Architecture | Topik 7: ICD &amp; Dry Port Management (CIDP 35 Ha)                    Slide 4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170B9"/>
                </a:solidFill>
              </a:defRPr>
            </a:pPr>
            <a:r>
              <a:t>KLASTER 1: OTOMASI GERBANG</a:t>
            </a:r>
          </a:p>
          <a:p>
            <a:pPr>
              <a:spcBef>
                <a:spcPts val="300"/>
              </a:spcBef>
              <a:defRPr sz="1250" b="1">
                <a:solidFill>
                  <a:srgbClr val="002F5E"/>
                </a:solidFill>
              </a:defRPr>
            </a:pPr>
            <a:r>
              <a:t>Ingestion 6 Hardware Gate</a:t>
            </a:r>
          </a:p>
          <a:p>
            <a:pPr>
              <a:spcBef>
                <a:spcPts val="600"/>
              </a:spcBef>
              <a:defRPr sz="880">
                <a:solidFill>
                  <a:srgbClr val="1E293B"/>
                </a:solidFill>
              </a:defRPr>
            </a:pPr>
            <a:r>
              <a:t>• Kamera ANPR (#1): Mengirim string plat nomor via TCP/IP HTTP POST saat loop detector aktif.</a:t>
            </a:r>
            <a:br/>
            <a:r>
              <a:t>• Kamera OCR (#2): Memancarkan kode ISO 6346 (4 huruf + 7 angka) via socket ethernet.</a:t>
            </a:r>
            <a:br/>
            <a:r>
              <a:t>• Jembatan Timbang 80t (#6): Stream data berat bruto melalui serial RS-232 Modbus RTU.</a:t>
            </a:r>
            <a:br/>
            <a:r>
              <a:t>• RFID Reader 20m (#7): Mengirim tag ID EPC Gen2 supir via Wiegand-34 interface.</a:t>
            </a:r>
            <a:br/>
            <a:r>
              <a:t>• Edge AI PC (#18): Mengagregasi 4 sensor di atas menjadi 1 payload JSON terpadu.</a:t>
            </a:r>
            <a:br/>
            <a:r>
              <a:t>• LED Display (#10): Menerima perintah serial untuk menampilkan instruksi blok penumpukan.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17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170B9"/>
                </a:solidFill>
              </a:defRPr>
            </a:pPr>
            <a:r>
              <a:t>KLASTER 2: ALAT BERAT &amp; YARD</a:t>
            </a:r>
          </a:p>
          <a:p>
            <a:pPr>
              <a:spcBef>
                <a:spcPts val="300"/>
              </a:spcBef>
              <a:defRPr sz="1250" b="1">
                <a:solidFill>
                  <a:srgbClr val="002F5E"/>
                </a:solidFill>
              </a:defRPr>
            </a:pPr>
            <a:r>
              <a:t>Ingestion Telemetri Crane</a:t>
            </a:r>
          </a:p>
          <a:p>
            <a:pPr>
              <a:spcBef>
                <a:spcPts val="600"/>
              </a:spcBef>
              <a:defRPr sz="880">
                <a:solidFill>
                  <a:srgbClr val="1E293B"/>
                </a:solidFill>
              </a:defRPr>
            </a:pPr>
            <a:r>
              <a:t>• DGPS RTK Receiver (#21):</a:t>
            </a:r>
            <a:br/>
            <a:r>
              <a:t>  Mengirim NMEA-0183 ($GNGGA) dengan koreksi diferensial RTK (&lt;2 cm) untuk koordinat presisi alat berat (RS-01/02/03).</a:t>
            </a:r>
            <a:br/>
            <a:br/>
            <a:r>
              <a:t>• Spreader Twistlock Sensor (#22):</a:t>
            </a:r>
            <a:br/>
            <a:r>
              <a:t>  Mengirim status pin hidrolik via bus CANopen (0 = UNLOCKED, 1 = LOCKED) dan tonase load cell.</a:t>
            </a:r>
            <a:br/>
            <a:br/>
            <a:r>
              <a:t>• Logika Perkawinan Sinyal:</a:t>
            </a:r>
            <a:br/>
            <a:r>
              <a:t>  Software mendeteksi perubahan status dari LOCKED ➔ UNLOCKED sebagai penanda mutlak pelepasan kontainer di slot yard, mengunci koordinat DGPS detik itu juga!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9333EA"/>
                </a:solidFill>
              </a:defRPr>
            </a:pPr>
            <a:r>
              <a:t>KLASTER 3, 4, &amp; 5: FASILITAS KHUSUS</a:t>
            </a:r>
          </a:p>
          <a:p>
            <a:pPr>
              <a:spcBef>
                <a:spcPts val="300"/>
              </a:spcBef>
              <a:defRPr sz="1250" b="1">
                <a:solidFill>
                  <a:srgbClr val="002F5E"/>
                </a:solidFill>
              </a:defRPr>
            </a:pPr>
            <a:r>
              <a:t>Reefer, Rel KA, &amp; E-Seal</a:t>
            </a:r>
          </a:p>
          <a:p>
            <a:pPr>
              <a:spcBef>
                <a:spcPts val="600"/>
              </a:spcBef>
              <a:defRPr sz="880">
                <a:solidFill>
                  <a:srgbClr val="1E293B"/>
                </a:solidFill>
              </a:defRPr>
            </a:pPr>
            <a:r>
              <a:t>• Smart Reefer Socket (#23):</a:t>
            </a:r>
            <a:br/>
            <a:r>
              <a:t>  Ingestion telemetri arus ampere, daya kWh, dan suhu pendingin kompresor (-18°C) via LoRaWAN / Modbus RTU setiap 5 detik.</a:t>
            </a:r>
            <a:br/>
            <a:br/>
            <a:r>
              <a:t>• Rail Axle Counter (#25):</a:t>
            </a:r>
            <a:br/>
            <a:r>
              <a:t>  Ingestion pulsa roda kereta dari sensor Frauscher di leher rel sepur simpan, dikonversi software menjadi jumlah gerbong datar.</a:t>
            </a:r>
            <a:br/>
            <a:br/>
            <a:r>
              <a:t>• Smart E-Seal GPS (#26):</a:t>
            </a:r>
            <a:br/>
            <a:r>
              <a:t>  Ingestion koordinat GPS rute transit Priok-CIDP dan status loop kawat segel melalui protokol MQTT via jaringan seluler 4G LTE.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170B9"/>
                </a:solidFill>
              </a:defRPr>
            </a:pPr>
            <a:r>
              <a:t>TOPIK 7: INLAND CONTAINER DEPOT (ICD) &amp; DRY PORT MANAGEMENT</a:t>
            </a:r>
          </a:p>
          <a:p>
            <a:pPr>
              <a:spcBef>
                <a:spcPts val="300"/>
              </a:spcBef>
              <a:defRPr sz="1900" b="1">
                <a:solidFill>
                  <a:srgbClr val="002F5E"/>
                </a:solidFill>
              </a:defRPr>
            </a:pPr>
            <a:r>
              <a:t>Core Engine 1: Dynamic Yard Allocation &amp; 3D Stacking Matrix (Bay-Row-Tier)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Afriansayah Ayubi &amp; Zulfikar J. Fatah — Software &amp; Architecture | Topik 7: ICD &amp; Dry Port Management (CIDP 35 Ha)                    Slide 5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17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170B9"/>
                </a:solidFill>
              </a:defRPr>
            </a:pPr>
            <a:r>
              <a:t>FOKUS EVALUASI SILABUS TOPIK 7</a:t>
            </a:r>
          </a:p>
          <a:p>
            <a:pPr>
              <a:spcBef>
                <a:spcPts val="300"/>
              </a:spcBef>
              <a:defRPr sz="1300" b="1">
                <a:solidFill>
                  <a:srgbClr val="002F5E"/>
                </a:solidFill>
              </a:defRPr>
            </a:pPr>
            <a:r>
              <a:t>Algoritma Pembaruan Posisi Stacking Yard</a:t>
            </a:r>
          </a:p>
          <a:p>
            <a:pPr>
              <a:spcBef>
                <a:spcPts val="600"/>
              </a:spcBef>
              <a:defRPr sz="919">
                <a:solidFill>
                  <a:srgbClr val="1E293B"/>
                </a:solidFill>
              </a:defRPr>
            </a:pPr>
            <a:r>
              <a:t>• Transformasi Koordinat Spasial:</a:t>
            </a:r>
            <a:br/>
            <a:r>
              <a:t>  Mengonversi data satelit mentah DGPS (Latitude, Longitude, Altitude) menjadi sistem koordinat standar terminal maritim dunia:</a:t>
            </a:r>
            <a:br/>
            <a:r>
              <a:t>  Block [A - E] ➔ Bay [01 - 12] ➔ Row [01 - 04] ➔ Tier [01 - 04].</a:t>
            </a:r>
            <a:br/>
            <a:br/>
            <a:r>
              <a:t>• Aturan Penumpukan Cerdas (Stacking Rules Engine):</a:t>
            </a:r>
            <a:br/>
            <a:r>
              <a:t>  1. Heavy-on-Bottom Rule: Peti kemas bermuatan berat (Laden 25-32 ton) wajib di Tier 1 &amp; 2; peti kosong (Empty) di Tier 3 &amp; 4.</a:t>
            </a:r>
            <a:br/>
            <a:r>
              <a:t>  2. Anti-Overhang Check: Kontainer 40ft High Cube tidak diizinkan ditumpuk di atas kontainer 20ft standar.</a:t>
            </a:r>
            <a:br/>
            <a:r>
              <a:t>  3. Segregasi Kelas Bahaya: Kontainer DG (Dangerous Goods) otomatis dialokasikan ke Blok DG berjarak aman dari kantor &amp; rel KA.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LOGIKA VALIDASI SISTEM</a:t>
            </a:r>
          </a:p>
          <a:p>
            <a:pPr>
              <a:spcBef>
                <a:spcPts val="300"/>
              </a:spcBef>
              <a:defRPr sz="1300" b="1">
                <a:solidFill>
                  <a:srgbClr val="002F5E"/>
                </a:solidFill>
              </a:defRPr>
            </a:pPr>
            <a:r>
              <a:t>Deteksi Tabrakan Slot &amp; Sinkronisasi Atomik</a:t>
            </a:r>
          </a:p>
          <a:p>
            <a:pPr>
              <a:spcBef>
                <a:spcPts val="600"/>
              </a:spcBef>
              <a:defRPr sz="919">
                <a:solidFill>
                  <a:srgbClr val="1E293B"/>
                </a:solidFill>
              </a:defRPr>
            </a:pPr>
            <a:r>
              <a:t>• Deteksi Tabrakan Slot (Slot Collision Detection):</a:t>
            </a:r>
            <a:br/>
            <a:r>
              <a:t>  Sebelum mutasi database disimpan, software memverifikasi apakah koordinat tujuan sudah dihuni kontainer berstatus 'in_yard':</a:t>
            </a:r>
            <a:br/>
            <a:r>
              <a:t>  SELECT id FROM containers WHERE block=? AND bay=? AND row=? AND tier=? AND status='in_yard';</a:t>
            </a:r>
            <a:br/>
            <a:r>
              <a:t>  Jika terisi, sistem menolak dan memberikan rekomendasi slot alternatif terdekat!</a:t>
            </a:r>
            <a:br/>
            <a:br/>
            <a:r>
              <a:t>• Transaksi Basis Data Atomik (ACID):</a:t>
            </a:r>
            <a:br/>
            <a:r>
              <a:t>  1. UPDATE containers (posisi Bay-Row-Tier baru).</a:t>
            </a:r>
            <a:br/>
            <a:r>
              <a:t>  2. UPDATE equipment (status RS kembali idle, lepas kontainer).</a:t>
            </a:r>
            <a:br/>
            <a:r>
              <a:t>  3. INSERT INTO yard_events (audit trail perpindahan &amp; biaya Lo-Lo).</a:t>
            </a:r>
            <a:br/>
            <a:br/>
            <a:r>
              <a:t>• Sinkronisasi Seketika ke WebGL 3D:</a:t>
            </a:r>
            <a:br/>
            <a:r>
              <a:t>  Data hasil mutasi database langsung memicu event listener Three.js untuk memindahkan mesh 3D kontainer secara halus di layar pengguna.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170B9"/>
                </a:solidFill>
              </a:defRPr>
            </a:pPr>
            <a:r>
              <a:t>TOPIK 7: INLAND CONTAINER DEPOT (ICD) &amp; DRY PORT MANAGEMENT</a:t>
            </a:r>
          </a:p>
          <a:p>
            <a:pPr>
              <a:spcBef>
                <a:spcPts val="300"/>
              </a:spcBef>
              <a:defRPr sz="1900" b="1">
                <a:solidFill>
                  <a:srgbClr val="002F5E"/>
                </a:solidFill>
              </a:defRPr>
            </a:pPr>
            <a:r>
              <a:t>Core Engine 2: Otomasi Gerbang, Kalkulasi VGM SOLAS &amp; Penerbitan e-Pass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Afriansayah Ayubi &amp; Zulfikar J. Fatah — Software &amp; Architecture | Topik 7: ICD &amp; Dry Port Management (CIDP 35 Ha)                    Slide 6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170B9"/>
                </a:solidFill>
              </a:defRPr>
            </a:pPr>
            <a:r>
              <a:t>TAHAP 1: IDENTIFIKASI</a:t>
            </a:r>
          </a:p>
          <a:p>
            <a:pPr>
              <a:spcBef>
                <a:spcPts val="300"/>
              </a:spcBef>
              <a:defRPr sz="1200" b="1">
                <a:solidFill>
                  <a:srgbClr val="002F5E"/>
                </a:solidFill>
              </a:defRPr>
            </a:pPr>
            <a:r>
              <a:t>Data Matching &amp; OCR</a:t>
            </a:r>
          </a:p>
          <a:p>
            <a:pPr>
              <a:spcBef>
                <a:spcPts val="600"/>
              </a:spcBef>
              <a:defRPr sz="880">
                <a:solidFill>
                  <a:srgbClr val="1E293B"/>
                </a:solidFill>
              </a:defRPr>
            </a:pPr>
            <a:r>
              <a:t>• Sinyal Masuk: Loop detector mendeteksi truk trailer melintas.</a:t>
            </a:r>
            <a:br/>
            <a:r>
              <a:t>• Matching Plat: Kamera ANPR membaca plat nomor ➔ dicocokkan dengan data armada terdaftar di Odoo Fleet.</a:t>
            </a:r>
            <a:br/>
            <a:r>
              <a:t>• Matching Box: Kamera OCR membaca nomor kontainer ISO 6346 ➔ mencocokkan status manifes / Delivery Order (DO).</a:t>
            </a:r>
            <a:br/>
            <a:r>
              <a:t>• Hasil: Validasi kepemilikan dan kelayakan kargo masuk terminal.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TAHAP 2: KALKULASI VGM</a:t>
            </a:r>
          </a:p>
          <a:p>
            <a:pPr>
              <a:spcBef>
                <a:spcPts val="300"/>
              </a:spcBef>
              <a:defRPr sz="1200" b="1">
                <a:solidFill>
                  <a:srgbClr val="002F5E"/>
                </a:solidFill>
              </a:defRPr>
            </a:pPr>
            <a:r>
              <a:t>Validasi SOLAS 80 Ton</a:t>
            </a:r>
          </a:p>
          <a:p>
            <a:pPr>
              <a:spcBef>
                <a:spcPts val="600"/>
              </a:spcBef>
              <a:defRPr sz="880">
                <a:solidFill>
                  <a:srgbClr val="1E293B"/>
                </a:solidFill>
              </a:defRPr>
            </a:pPr>
            <a:r>
              <a:t>• Pembacaan Sensor: 8 Load cell timbangan membaca berat bruto total kendaraan.</a:t>
            </a:r>
            <a:br/>
            <a:r>
              <a:t>• Formula Komputasi:</a:t>
            </a:r>
            <a:br/>
            <a:r>
              <a:t>  Net VGM = Gross Timbang - Tare Truk.</a:t>
            </a:r>
            <a:br/>
            <a:r>
              <a:t>• Kepatuhan Maritim SOLAS:</a:t>
            </a:r>
            <a:br/>
            <a:r>
              <a:t>  - Jika Net &lt;= 34.000 kg ➔ VERIFIED_PASS.</a:t>
            </a:r>
            <a:br/>
            <a:r>
              <a:t>  - Jika Net &gt; 34.000 kg ➔ OVERLOAD_REJECT.</a:t>
            </a:r>
            <a:br/>
            <a:r>
              <a:t>• Pemicu Finansial: Otomatis membebankan Jasa Timbang VGM Rp 50.000.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TAHAP 3: ALOKASI BLOK</a:t>
            </a:r>
          </a:p>
          <a:p>
            <a:pPr>
              <a:spcBef>
                <a:spcPts val="300"/>
              </a:spcBef>
              <a:defRPr sz="1200" b="1">
                <a:solidFill>
                  <a:srgbClr val="002F5E"/>
                </a:solidFill>
              </a:defRPr>
            </a:pPr>
            <a:r>
              <a:t>Smart Routing Engine</a:t>
            </a:r>
          </a:p>
          <a:p>
            <a:pPr>
              <a:spcBef>
                <a:spcPts val="600"/>
              </a:spcBef>
              <a:defRPr sz="880">
                <a:solidFill>
                  <a:srgbClr val="1E293B"/>
                </a:solidFill>
              </a:defRPr>
            </a:pPr>
            <a:r>
              <a:t>• Penentuan Lokasi Yard:</a:t>
            </a:r>
            <a:br/>
            <a:r>
              <a:t>  Software memeriksa jenis kargo kontainer:</a:t>
            </a:r>
            <a:br/>
            <a:r>
              <a:t>  - Dry Kargo ➔ Blok A/B/C.</a:t>
            </a:r>
            <a:br/>
            <a:r>
              <a:t>  - Reefer Dingin ➔ Blok Reefer (dekat steker).</a:t>
            </a:r>
            <a:br/>
            <a:r>
              <a:t>  - Kargo Berbahaya ➔ Blok DG terisolasi.</a:t>
            </a:r>
            <a:br/>
            <a:r>
              <a:t>• Optimasi Manuver:</a:t>
            </a:r>
            <a:br/>
            <a:r>
              <a:t>  Memilih slot kosong terdekat untuk meminimalkan jarak tempuh armada Reach Stacker.</a:t>
            </a:r>
            <a:br/>
            <a:r>
              <a:t>• Pengiriman Teks LED: 'SILAHKAN KE BLOK B04'.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333EA"/>
                </a:solidFill>
              </a:defRPr>
            </a:pPr>
            <a:r>
              <a:t>TAHAP 4: OTOMASI PALANG</a:t>
            </a:r>
          </a:p>
          <a:p>
            <a:pPr>
              <a:spcBef>
                <a:spcPts val="300"/>
              </a:spcBef>
              <a:defRPr sz="1200" b="1">
                <a:solidFill>
                  <a:srgbClr val="002F5E"/>
                </a:solidFill>
              </a:defRPr>
            </a:pPr>
            <a:r>
              <a:t>E-Gate Pass &amp; Izin Masuk</a:t>
            </a:r>
          </a:p>
          <a:p>
            <a:pPr>
              <a:spcBef>
                <a:spcPts val="600"/>
              </a:spcBef>
              <a:defRPr sz="880">
                <a:solidFill>
                  <a:srgbClr val="1E293B"/>
                </a:solidFill>
              </a:defRPr>
            </a:pPr>
            <a:r>
              <a:t>• Eksekusi Fisik: Edge PC mengaktifkan relay kontrol untuk membuka barrier gate kecepatan tinggi (1.2 detik).</a:t>
            </a:r>
            <a:br/>
            <a:r>
              <a:t>• Dokumen Digital (QRCode.js Engine):</a:t>
            </a:r>
            <a:br/>
            <a:r>
              <a:t>  Menerbitkan tiket digital e-Gate Pass berkode QR instan (format GP-YYYYMMDD-XXXX) ke ponsel supir.</a:t>
            </a:r>
            <a:br/>
            <a:r>
              <a:t>• Total Waktu Transaksi: Selesai hanya dalam 28 detik (pangkas 65% waktu gate manual)!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170B9"/>
                </a:solidFill>
              </a:defRPr>
            </a:pPr>
            <a:r>
              <a:t>TOPIK 7: INLAND CONTAINER DEPOT (ICD) &amp; DRY PORT MANAGEMENT</a:t>
            </a:r>
          </a:p>
          <a:p>
            <a:pPr>
              <a:spcBef>
                <a:spcPts val="300"/>
              </a:spcBef>
              <a:defRPr sz="1900" b="1">
                <a:solidFill>
                  <a:srgbClr val="002F5E"/>
                </a:solidFill>
              </a:defRPr>
            </a:pPr>
            <a:r>
              <a:t>Core Engine 3: Telemetri Cold Chain, Siding Kereta Api, &amp; Bea Cukai CEISA 4.0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Afriansayah Ayubi &amp; Zulfikar J. Fatah — Software &amp; Architecture | Topik 7: ICD &amp; Dry Port Management (CIDP 35 Ha)                    Slide 7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170B9"/>
                </a:solidFill>
              </a:defRPr>
            </a:pPr>
            <a:r>
              <a:t>COLD CHAIN TELEMETRY ENGINE</a:t>
            </a:r>
          </a:p>
          <a:p>
            <a:pPr>
              <a:spcBef>
                <a:spcPts val="300"/>
              </a:spcBef>
              <a:defRPr sz="1250" b="1">
                <a:solidFill>
                  <a:srgbClr val="002F5E"/>
                </a:solidFill>
              </a:defRPr>
            </a:pPr>
            <a:r>
              <a:t>Smart Reefer Watchdog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</a:defRPr>
            </a:pPr>
            <a:r>
              <a:t>• Monitoring 300 Titik Steker Listrik 380V:</a:t>
            </a:r>
            <a:br/>
            <a:r>
              <a:t>  Menerima sinyal arus dan daya per socket secara kontinu.</a:t>
            </a:r>
            <a:br/>
            <a:br/>
            <a:r>
              <a:t>• Threshold Alert (Pencegahan Busuk Kargo):</a:t>
            </a:r>
            <a:br/>
            <a:r>
              <a:t>  Target komoditas beku: -18°C s/d -20°C.</a:t>
            </a:r>
            <a:br/>
            <a:r>
              <a:t>  Jika suhu melonjak &gt; -15°C atau arus listrik 0 Ampere (indikasi trip listrik/kabel putus), software membunyikan alarm visual merah di NOC dalam waktu 3 detik.</a:t>
            </a:r>
            <a:br/>
            <a:br/>
            <a:r>
              <a:t>• Kalkulasi Otomatis Tarif Steker:</a:t>
            </a:r>
            <a:br/>
            <a:r>
              <a:t>  Software menghitung durasi colokan aktif, memicu tagihan Rp 250.000 per shift 8 jam ke Odoo Invoicing.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17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6366F1"/>
                </a:solidFill>
              </a:defRPr>
            </a:pPr>
            <a:r>
              <a:t>INTERMODAL RAIL SIDING ENGINE</a:t>
            </a:r>
          </a:p>
          <a:p>
            <a:pPr>
              <a:spcBef>
                <a:spcPts val="300"/>
              </a:spcBef>
              <a:defRPr sz="1250" b="1">
                <a:solidFill>
                  <a:srgbClr val="002F5E"/>
                </a:solidFill>
              </a:defRPr>
            </a:pPr>
            <a:r>
              <a:t>Deteksi Rangkaian KA Logistik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</a:defRPr>
            </a:pPr>
            <a:r>
              <a:t>• Algoritma Konversi Pulsa Axle Counter:</a:t>
            </a:r>
            <a:br/>
            <a:r>
              <a:t>  Software menerima pulsa hitungan roda dari sensor leher rel Frauscher:</a:t>
            </a:r>
            <a:br/>
            <a:r>
              <a:t>  Total Gerbong = Axle Count / 4</a:t>
            </a:r>
            <a:br/>
            <a:r>
              <a:t>  Total Kapasitas = Total Gerbong x 2 TEU.</a:t>
            </a:r>
            <a:br/>
            <a:r>
              <a:t>  (Contoh: 120 Axle = 30 Gerbong Datar = 60 TEU).</a:t>
            </a:r>
            <a:br/>
            <a:br/>
            <a:r>
              <a:t>• Alokasi RTG Crane Otomatis:</a:t>
            </a:r>
            <a:br/>
            <a:r>
              <a:t>  Memicu instruksi kerja (Job Order) alih muat kontainer dari gerbong datar kereta ke tumpukan Blok A.</a:t>
            </a:r>
            <a:br/>
            <a:br/>
            <a:r>
              <a:t>• Rekonsiliasi Sewa Rel (TAC):</a:t>
            </a:r>
            <a:br/>
            <a:r>
              <a:t>  Menghitung bagi hasil Track Access Charge bersama PT Kereta Api Logistik (KAI Logistik).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9333EA"/>
                </a:solidFill>
              </a:defRPr>
            </a:pPr>
            <a:r>
              <a:t>KEPABEANAN &amp; CEISA 4.0 DJBC</a:t>
            </a:r>
          </a:p>
          <a:p>
            <a:pPr>
              <a:spcBef>
                <a:spcPts val="300"/>
              </a:spcBef>
              <a:defRPr sz="1250" b="1">
                <a:solidFill>
                  <a:srgbClr val="002F5E"/>
                </a:solidFill>
              </a:defRPr>
            </a:pPr>
            <a:r>
              <a:t>Pelacakan E-Seal &amp; Rilis SPPB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</a:defRPr>
            </a:pPr>
            <a:r>
              <a:t>• Pengawasan Koridor Transit Priok-CIDP:</a:t>
            </a:r>
            <a:br/>
            <a:r>
              <a:t>  Software memetakan posisi GPS kontainer import berstatus TPS transit secara geofencing.</a:t>
            </a:r>
            <a:br/>
            <a:br/>
            <a:r>
              <a:t>• Tamper Alert Sabotase Kargo:</a:t>
            </a:r>
            <a:br/>
            <a:r>
              <a:t>  Jika kawat segel elektronik Smart E-Seal dipotong paksa sebelum izin pabean terbit, sistem membunyikan alarm darurat dan mengunci kargo.</a:t>
            </a:r>
            <a:br/>
            <a:br/>
            <a:r>
              <a:t>• Integrasi Jalur Pabean:</a:t>
            </a:r>
            <a:br/>
            <a:r>
              <a:t>  Sinkronisasi dokumen SPPB (Surat Persetujuan Pengeluaran Barang):</a:t>
            </a:r>
            <a:br/>
            <a:r>
              <a:t>  - Jalur Hijau: Rilis langsung ke truk.</a:t>
            </a:r>
            <a:br/>
            <a:r>
              <a:t>  - Jalur Merah: Alokasi otomatis ke area Behandle / Pemindai X-Ray 6 MeV.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170B9"/>
                </a:solidFill>
              </a:defRPr>
            </a:pPr>
            <a:r>
              <a:t>TOPIK 7: INLAND CONTAINER DEPOT (ICD) &amp; DRY PORT MANAGEMENT</a:t>
            </a:r>
          </a:p>
          <a:p>
            <a:pPr>
              <a:spcBef>
                <a:spcPts val="300"/>
              </a:spcBef>
              <a:defRPr sz="1900" b="1">
                <a:solidFill>
                  <a:srgbClr val="002F5E"/>
                </a:solidFill>
              </a:defRPr>
            </a:pPr>
            <a:r>
              <a:t>Business Intelligence Engine: Transformasi Data Mentah Menjadi Keputusan Cerdas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Afriansayah Ayubi &amp; Zulfikar J. Fatah — Software &amp; Architecture | Topik 7: ICD &amp; Dry Port Management (CIDP 35 Ha)                    Slide 8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170B9"/>
                </a:solidFill>
              </a:defRPr>
            </a:pPr>
            <a:r>
              <a:t>1. AUDIT DWELL TIME &amp; PERINGATAN INAP PROGRESIF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</a:defRPr>
            </a:pPr>
            <a:r>
              <a:t>• Menghitung lama inap real-time: Dwell = NOW() - Gate_In_Time.</a:t>
            </a:r>
            <a:br/>
            <a:r>
              <a:t>• Audit 3 Masa Tarif: Masa I Free (1-3 hari), Masa II Rp 45rb/hari (4-10 hari), Masa III Rp 90rb/hari (&gt;10 hari).</a:t>
            </a:r>
            <a:br/>
            <a:r>
              <a:t>• Heatmap Lapangan: Memberikan warna visual pada kontainer yang overstay agar diprioritaskan keluar.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17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2. OKUPANSI BLOK YARD &amp; OPTIMASI KAPASITAS 35 HA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</a:defRPr>
            </a:pPr>
            <a:r>
              <a:t>• Menghitung persentase keterisian per blok: Occupancy % = (Slot Terisi / Kapasitas Total) x 100%.</a:t>
            </a:r>
            <a:br/>
            <a:r>
              <a:t>• Load Balancing Lapangan: Jika Blok A &gt;80%, sistem otomatis mengarahkan truk masuk baru ke Blok B atau C.</a:t>
            </a:r>
            <a:br/>
            <a:r>
              <a:t>• Mencegah kemacetan antrean Reach Stacker di satu blok penumpukan yang padat.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3. PRODUKTIVITAS ALAT BERAT &amp; MONITORING BBM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</a:defRPr>
            </a:pPr>
            <a:r>
              <a:t>• Melacak metrik kinerja: Moves per Hour (target &gt;22 box/jam untuk Reach Stacker).</a:t>
            </a:r>
            <a:br/>
            <a:r>
              <a:t>• Monitoring Bahan Bakar Solar: Menghitung rasio konsumsi liter/gerakan kontainer untuk mendeteksi inefisiensi.</a:t>
            </a:r>
            <a:br/>
            <a:r>
              <a:t>• Odoo Maintenance Trigger: Setiap 250 jam jalan, sistem otomatis memesan servis ganti oli dan pelumasan boom.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4. TRUCK TURNAROUND TIME (TTT) &amp; ANALISIS BOTTLENECK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</a:defRPr>
            </a:pPr>
            <a:r>
              <a:t>• Mengukur durasi truk sejak tap di gerbang masuk hingga keluar: Target TTT &lt; 35 Menit.</a:t>
            </a:r>
            <a:br/>
            <a:r>
              <a:t>• Deteksi Dini Kemacetan: Mengidentifikasi jika proses penimbangan VGM atau pencarian slot melambat.</a:t>
            </a:r>
            <a:br/>
            <a:r>
              <a:t>• Dashboard Eksekutif: Menampilkan rasio ketepatan waktu pengiriman kargo (98% On-Time Delivery).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170B9"/>
                </a:solidFill>
              </a:defRPr>
            </a:pPr>
            <a:r>
              <a:t>TOPIK 7: INLAND CONTAINER DEPOT (ICD) &amp; DRY PORT MANAGEMENT</a:t>
            </a:r>
          </a:p>
          <a:p>
            <a:pPr>
              <a:spcBef>
                <a:spcPts val="300"/>
              </a:spcBef>
              <a:defRPr sz="1900" b="1">
                <a:solidFill>
                  <a:srgbClr val="002F5E"/>
                </a:solidFill>
              </a:defRPr>
            </a:pPr>
            <a:r>
              <a:t>Terminal Tariff Engine &amp; Integrasi Finansial ERP Odoo (Zero Revenue Leakage)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Afriansayah Ayubi &amp; Zulfikar J. Fatah — Software &amp; Architecture | Topik 7: ICD &amp; Dry Port Management (CIDP 35 Ha)                    Slide 9 of 15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1920240"/>
                <a:gridCol w="1645920"/>
                <a:gridCol w="1645920"/>
                <a:gridCol w="1828800"/>
              </a:tblGrid>
              <a:tr h="627017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Kejadian Fisik (Hardware)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Sensor Pemicu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Rumus / Logika Tarif YMS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Nilai Jasa (IDR)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Modul ERP Odoo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Dampak Akuntansi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Truk Masuk Timbangan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Weighbridge 80t (#6)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Biaya verifikasi SOLAS bersertifikat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Rp 50.000 / truk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Odoo Invoicing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Pencatatan pendapatan jasa timbang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RS Angkat/Lepas 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Twistlock &amp; DGPS (#21,22)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Tarif Lo-Lo: 40ft Rp 250k / 20ft Rp 175k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Rp 250.000 / 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Odoo Invoicing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Pendapatan stevedoring yard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Inap Yard Hari Ke-5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Audit Dwell Timer YMS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Tarif Masa II: Rp 45.000/box/hari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Rp 45.000 / hari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Odoo Invoicing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Piutang sewa lapangan progresif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Steker Reefer Aktif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Smart Socket 380V (#23)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Tarif listrik dingin per 8 jam (shift)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Rp 250.000 / shift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Odoo Invoicing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Pendapatan utilitas cold chain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Bongkar Kereta Api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Axle Counter &amp; RTG (#25)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Tarif alih muat antarmoda rel ke yard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Rp 350.000 / box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Odoo Invoicing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Pendapatan intermodal handling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Sewa Jalur Rel KAI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Sensor Gandar Frauscher (#25)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Bagi hasil Track Access Charge PT KAI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Rp 1.500.000 / gerbong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Odoo Purchase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Beban operasional sewa rel (HPP)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170B9"/>
                </a:solidFill>
              </a:defRPr>
            </a:pPr>
            <a:r>
              <a:t>TOPIK 7: INLAND CONTAINER DEPOT (ICD) &amp; DRY PORT MANAGEMENT</a:t>
            </a:r>
          </a:p>
          <a:p>
            <a:pPr>
              <a:spcBef>
                <a:spcPts val="300"/>
              </a:spcBef>
              <a:defRPr sz="1900" b="1">
                <a:solidFill>
                  <a:srgbClr val="002F5E"/>
                </a:solidFill>
              </a:defRPr>
            </a:pPr>
            <a:r>
              <a:t>Struktur Data Relasional: Skema Basis Data cidp_yms &amp; Audit Trail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Afriansayah Ayubi &amp; Zulfikar J. Fatah — Software &amp; Architecture | Topik 7: ICD &amp; Dry Port Management (CIDP 35 Ha)                    Slide 10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170B9"/>
                </a:solidFill>
              </a:defRPr>
            </a:pPr>
            <a:r>
              <a:t>TABEL: containers</a:t>
            </a:r>
          </a:p>
          <a:p>
            <a:pPr>
              <a:spcBef>
                <a:spcPts val="300"/>
              </a:spcBef>
              <a:defRPr sz="1150" b="1">
                <a:solidFill>
                  <a:srgbClr val="002F5E"/>
                </a:solidFill>
              </a:defRPr>
            </a:pPr>
            <a:r>
              <a:t>Entitas Master Peti Kemas</a:t>
            </a:r>
          </a:p>
          <a:p>
            <a:pPr>
              <a:spcBef>
                <a:spcPts val="500"/>
              </a:spcBef>
              <a:defRPr sz="780">
                <a:solidFill>
                  <a:srgbClr val="1E293B"/>
                </a:solidFill>
                <a:latin typeface="Consolas"/>
              </a:defRPr>
            </a:pPr>
            <a:r>
              <a:t>• id (INT, PK, Auto Increment)</a:t>
            </a:r>
            <a:br/>
            <a:r>
              <a:t>• container_number (VARCHAR 11, Unique)</a:t>
            </a:r>
            <a:br/>
            <a:r>
              <a:t>• iso_code (VARCHAR 4, misal 42G1)</a:t>
            </a:r>
            <a:br/>
            <a:r>
              <a:t>• size_type (40FT HC / 20FT STD)</a:t>
            </a:r>
            <a:br/>
            <a:r>
              <a:t>• cargo_type (dry / reefer / dg / empty)</a:t>
            </a:r>
            <a:br/>
            <a:r>
              <a:t>• rfid_tag (VARCHAR 32, UHF EPC Gen2)</a:t>
            </a:r>
            <a:br/>
            <a:r>
              <a:t>• sscc_code (VARCHAR 30, Standar GS1)</a:t>
            </a:r>
            <a:br/>
            <a:r>
              <a:t>• gross_weight_kg (DECIMAL 10,2)</a:t>
            </a:r>
            <a:br/>
            <a:r>
              <a:t>• owner_company (VARCHAR 100)</a:t>
            </a:r>
            <a:br/>
            <a:r>
              <a:t>• seal_number (VARCHAR 50)</a:t>
            </a:r>
            <a:br/>
            <a:r>
              <a:t>• customs_status (SPPB_CLEARED)</a:t>
            </a:r>
            <a:br/>
            <a:r>
              <a:t>• block, bay, row, tier (CHAR &amp; INT)</a:t>
            </a:r>
            <a:br/>
            <a:r>
              <a:t>• gate_in_time, gate_out_time</a:t>
            </a:r>
            <a:br/>
            <a:r>
              <a:t>• status (in_yard / gate_out)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TABEL: equipment</a:t>
            </a:r>
          </a:p>
          <a:p>
            <a:pPr>
              <a:spcBef>
                <a:spcPts val="300"/>
              </a:spcBef>
              <a:defRPr sz="1150" b="1">
                <a:solidFill>
                  <a:srgbClr val="002F5E"/>
                </a:solidFill>
              </a:defRPr>
            </a:pPr>
            <a:r>
              <a:t>Entitas Armada Alat Berat</a:t>
            </a:r>
          </a:p>
          <a:p>
            <a:pPr>
              <a:spcBef>
                <a:spcPts val="500"/>
              </a:spcBef>
              <a:defRPr sz="780">
                <a:solidFill>
                  <a:srgbClr val="1E293B"/>
                </a:solidFill>
                <a:latin typeface="Consolas"/>
              </a:defRPr>
            </a:pPr>
            <a:r>
              <a:t>• id (INT, PK, Auto Increment)</a:t>
            </a:r>
            <a:br/>
            <a:r>
              <a:t>• equipment_id (VARCHAR 10, misal RS-01)</a:t>
            </a:r>
            <a:br/>
            <a:r>
              <a:t>• equipment_type (REACH_STACKER / RTG)</a:t>
            </a:r>
            <a:br/>
            <a:r>
              <a:t>• brand_model (Kalmar DRG450-65S5)</a:t>
            </a:r>
            <a:br/>
            <a:r>
              <a:t>• operator_name (Budi Santoso)</a:t>
            </a:r>
            <a:br/>
            <a:r>
              <a:t>• operator_id (OPR-001)</a:t>
            </a:r>
            <a:br/>
            <a:r>
              <a:t>• status (idle / operating / maintenance)</a:t>
            </a:r>
            <a:br/>
            <a:r>
              <a:t>• gps_x, gps_y (DECIMAL 8,2)</a:t>
            </a:r>
            <a:br/>
            <a:r>
              <a:t>• current_container (VARCHAR 11)</a:t>
            </a:r>
            <a:br/>
            <a:r>
              <a:t>• last_block (CHAR 1)</a:t>
            </a:r>
            <a:br/>
            <a:r>
              <a:t>• fuel_percent (INT, level solar)</a:t>
            </a:r>
            <a:br/>
            <a:r>
              <a:t>• hours_today (DECIMAL 4,1 jam kerja)</a:t>
            </a:r>
            <a:br/>
            <a:r>
              <a:t>• last_updated (TIMESTAMP)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TABEL: trucks &amp; trains</a:t>
            </a:r>
          </a:p>
          <a:p>
            <a:pPr>
              <a:spcBef>
                <a:spcPts val="300"/>
              </a:spcBef>
              <a:defRPr sz="1150" b="1">
                <a:solidFill>
                  <a:srgbClr val="002F5E"/>
                </a:solidFill>
              </a:defRPr>
            </a:pPr>
            <a:r>
              <a:t>Entitas Moda Transportasi</a:t>
            </a:r>
          </a:p>
          <a:p>
            <a:pPr>
              <a:spcBef>
                <a:spcPts val="500"/>
              </a:spcBef>
              <a:defRPr sz="780">
                <a:solidFill>
                  <a:srgbClr val="1E293B"/>
                </a:solidFill>
                <a:latin typeface="Consolas"/>
              </a:defRPr>
            </a:pPr>
            <a:r>
              <a:t>TABEL: trucks</a:t>
            </a:r>
            <a:br/>
            <a:r>
              <a:t>• id (INT, PK, Auto Increment)</a:t>
            </a:r>
            <a:br/>
            <a:r>
              <a:t>• license_plate (VARCHAR 15, Unique)</a:t>
            </a:r>
            <a:br/>
            <a:r>
              <a:t>• rfid_tag (RFID e-Pass supir)</a:t>
            </a:r>
            <a:br/>
            <a:r>
              <a:t>• driver_name (Nama supir truk)</a:t>
            </a:r>
            <a:br/>
            <a:r>
              <a:t>• company (Vendor trucking)</a:t>
            </a:r>
            <a:br/>
            <a:r>
              <a:t>• container_number (Box yang dibawa)</a:t>
            </a:r>
            <a:br/>
            <a:r>
              <a:t>• status (in_yard / gate_out)</a:t>
            </a:r>
            <a:br/>
            <a:r>
              <a:t>• gate_in_time, gate_out_time</a:t>
            </a:r>
            <a:br/>
            <a:br/>
            <a:r>
              <a:t>TABEL: trains</a:t>
            </a:r>
            <a:br/>
            <a:r>
              <a:t>• id (INT, PK, Auto Increment)</a:t>
            </a:r>
            <a:br/>
            <a:r>
              <a:t>• train_code (KA-LOG-JKT-SMG)</a:t>
            </a:r>
            <a:br/>
            <a:r>
              <a:t>• total_wagons, loaded_wagons</a:t>
            </a:r>
            <a:br/>
            <a:r>
              <a:t>• arrival_time, departure_time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333EA"/>
                </a:solidFill>
              </a:defRPr>
            </a:pPr>
            <a:r>
              <a:t>TABEL: yard_events</a:t>
            </a:r>
          </a:p>
          <a:p>
            <a:pPr>
              <a:spcBef>
                <a:spcPts val="300"/>
              </a:spcBef>
              <a:defRPr sz="1150" b="1">
                <a:solidFill>
                  <a:srgbClr val="002F5E"/>
                </a:solidFill>
              </a:defRPr>
            </a:pPr>
            <a:r>
              <a:t>Entitas Audit Trail &amp; Billing</a:t>
            </a:r>
          </a:p>
          <a:p>
            <a:pPr>
              <a:spcBef>
                <a:spcPts val="500"/>
              </a:spcBef>
              <a:defRPr sz="780">
                <a:solidFill>
                  <a:srgbClr val="1E293B"/>
                </a:solidFill>
                <a:latin typeface="Consolas"/>
              </a:defRPr>
            </a:pPr>
            <a:r>
              <a:t>• id (BIGINT, PK, Auto Increment)</a:t>
            </a:r>
            <a:br/>
            <a:r>
              <a:t>• event_type (GATE_IN / RELOCATION / RAIL_UNLOAD / REEFER_PLUG)</a:t>
            </a:r>
            <a:br/>
            <a:r>
              <a:t>• container_number (Peti kemas terkait)</a:t>
            </a:r>
            <a:br/>
            <a:r>
              <a:t>• equipment_id (Alat berat yang bekerja)</a:t>
            </a:r>
            <a:br/>
            <a:r>
              <a:t>• from_block, from_bay, from_row, from_tier</a:t>
            </a:r>
            <a:br/>
            <a:r>
              <a:t>• to_block, to_bay, to_row, to_tier</a:t>
            </a:r>
            <a:br/>
            <a:r>
              <a:t>• operator_name (Penanggung jawab)</a:t>
            </a:r>
            <a:br/>
            <a:r>
              <a:t>• billable_amount (Nominal rupiah jasa)</a:t>
            </a:r>
            <a:br/>
            <a:r>
              <a:t>• notes (Keterangan audit kronologis)</a:t>
            </a:r>
            <a:br/>
            <a:r>
              <a:t>• created_at (TIMESTAMP waktu pasti)</a:t>
            </a:r>
            <a:br/>
            <a:br/>
            <a:r>
              <a:t>*Sumber data sinkronisasi ke ERP Odoo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170B9"/>
                </a:solidFill>
              </a:defRPr>
            </a:pPr>
            <a:r>
              <a:t>TOPIK 7: INLAND CONTAINER DEPOT (ICD) &amp; DRY PORT MANAGEMENT</a:t>
            </a:r>
          </a:p>
          <a:p>
            <a:pPr>
              <a:spcBef>
                <a:spcPts val="300"/>
              </a:spcBef>
              <a:defRPr sz="1900" b="1">
                <a:solidFill>
                  <a:srgbClr val="002F5E"/>
                </a:solidFill>
              </a:defRPr>
            </a:pPr>
            <a:r>
              <a:t>Arsitektur REST API Gateway &amp; Struktur Payload JSON Riil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Afriansayah Ayubi &amp; Zulfikar J. Fatah — Software &amp; Architecture | Topik 7: ICD &amp; Dry Port Management (CIDP 35 Ha)                    Slide 11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API 1: RELOKASI YARD OLEH REACH STACKER (Lo-Lo)</a:t>
            </a:r>
          </a:p>
          <a:p>
            <a:pPr>
              <a:spcBef>
                <a:spcPts val="600"/>
              </a:spcBef>
              <a:defRPr sz="850">
                <a:solidFill>
                  <a:srgbClr val="FFFFFF"/>
                </a:solidFill>
                <a:latin typeface="Consolas"/>
              </a:defRPr>
            </a:pPr>
            <a:r>
              <a:t>POST /api/simulator_action.php?action=move_container</a:t>
            </a:r>
            <a:br/>
            <a:r>
              <a:t>Content-Type: application/json</a:t>
            </a:r>
            <a:br/>
            <a:br/>
            <a:r>
              <a:t>{</a:t>
            </a:r>
            <a:br/>
            <a:r>
              <a:t>  "container_number": "MSKU9182374",</a:t>
            </a:r>
            <a:br/>
            <a:r>
              <a:t>  "equipment_id": "RS-02",</a:t>
            </a:r>
            <a:br/>
            <a:r>
              <a:t>  "to_block": "B",</a:t>
            </a:r>
            <a:br/>
            <a:r>
              <a:t>  "to_bay": "04",</a:t>
            </a:r>
            <a:br/>
            <a:r>
              <a:t>  "to_row": "02",</a:t>
            </a:r>
            <a:br/>
            <a:r>
              <a:t>  "to_tier": "03"</a:t>
            </a:r>
            <a:br/>
            <a:r>
              <a:t>}</a:t>
            </a:r>
            <a:br/>
            <a:br/>
            <a:r>
              <a:t>// HTTP 200 OK Response:</a:t>
            </a:r>
            <a:br/>
            <a:r>
              <a:t>{</a:t>
            </a:r>
            <a:br/>
            <a:r>
              <a:t>  "success": true,</a:t>
            </a:r>
            <a:br/>
            <a:r>
              <a:t>  "message": "Kontainer MSKU9182374 berhasil dipindahkan",</a:t>
            </a:r>
            <a:br/>
            <a:r>
              <a:t>  "event_id": 142,</a:t>
            </a:r>
            <a:br/>
            <a:r>
              <a:t>  "billing": {</a:t>
            </a:r>
            <a:br/>
            <a:r>
              <a:t>    "charge_name": "Jasa Lo-Lo / Relokasi Yard",</a:t>
            </a:r>
            <a:br/>
            <a:r>
              <a:t>    "amount": 250000,</a:t>
            </a:r>
            <a:br/>
            <a:r>
              <a:t>    "currency": "IDR"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API 2: INGESTION GATE-IN &amp; VERIFIKASI TIMBANGAN VGM</a:t>
            </a:r>
          </a:p>
          <a:p>
            <a:pPr>
              <a:spcBef>
                <a:spcPts val="600"/>
              </a:spcBef>
              <a:defRPr sz="850">
                <a:solidFill>
                  <a:srgbClr val="FFFFFF"/>
                </a:solidFill>
                <a:latin typeface="Consolas"/>
              </a:defRPr>
            </a:pPr>
            <a:r>
              <a:t>POST /api/simulator_action.php?action=gate_in</a:t>
            </a:r>
            <a:br/>
            <a:r>
              <a:t>Content-Type: application/json</a:t>
            </a:r>
            <a:br/>
            <a:br/>
            <a:r>
              <a:t>{</a:t>
            </a:r>
            <a:br/>
            <a:r>
              <a:t>  "license_plate": "B 9481 UEK",</a:t>
            </a:r>
            <a:br/>
            <a:r>
              <a:t>  "driver_name": "Sholehudin",</a:t>
            </a:r>
            <a:br/>
            <a:r>
              <a:t>  "company": "PT Samudera Logistik Prima",</a:t>
            </a:r>
            <a:br/>
            <a:r>
              <a:t>  "measured_gross_kg": 30500,</a:t>
            </a:r>
            <a:br/>
            <a:r>
              <a:t>  "truck_tare_kg": 11200</a:t>
            </a:r>
            <a:br/>
            <a:r>
              <a:t>}</a:t>
            </a:r>
            <a:br/>
            <a:br/>
            <a:r>
              <a:t>// HTTP 200 OK Response:</a:t>
            </a:r>
            <a:br/>
            <a:r>
              <a:t>{</a:t>
            </a:r>
            <a:br/>
            <a:r>
              <a:t>  "success": true,</a:t>
            </a:r>
            <a:br/>
            <a:r>
              <a:t>  "truck": {</a:t>
            </a:r>
            <a:br/>
            <a:r>
              <a:t>    "license_plate": "B 9481 UEK",</a:t>
            </a:r>
            <a:br/>
            <a:r>
              <a:t>    "vgm_net": 19300,</a:t>
            </a:r>
            <a:br/>
            <a:r>
              <a:t>    "vgm_status": "SOLAS VERIFIED (PASS)"</a:t>
            </a:r>
            <a:br/>
            <a:r>
              <a:t>  },</a:t>
            </a:r>
            <a:br/>
            <a:r>
              <a:t>  "billing": {</a:t>
            </a:r>
            <a:br/>
            <a:r>
              <a:t>    "charge_name": "Jasa Jembatan Timbang VGM SOLAS",</a:t>
            </a:r>
            <a:br/>
            <a:r>
              <a:t>    "amount": 50000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170B9"/>
                </a:solidFill>
              </a:defRPr>
            </a:pPr>
            <a:r>
              <a:t>TOPIK 7: INLAND CONTAINER DEPOT (ICD) &amp; DRY PORT MANAGEMENT</a:t>
            </a:r>
          </a:p>
          <a:p>
            <a:pPr>
              <a:spcBef>
                <a:spcPts val="300"/>
              </a:spcBef>
              <a:defRPr sz="1900" b="1">
                <a:solidFill>
                  <a:srgbClr val="002F5E"/>
                </a:solidFill>
              </a:defRPr>
            </a:pPr>
            <a:r>
              <a:t>Digital Twin &amp; Simulasi 3D Virtual Terminal (Three.js WebGL Engine)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Afriansayah Ayubi &amp; Zulfikar J. Fatah — Software &amp; Architecture | Topik 7: ICD &amp; Dry Port Management (CIDP 35 Ha)                    Slide 12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170B9"/>
                </a:solidFill>
              </a:defRPr>
            </a:pPr>
            <a:r>
              <a:t>GRAFIKA 3D WEBGL INTERAKTIF</a:t>
            </a:r>
          </a:p>
          <a:p>
            <a:pPr>
              <a:spcBef>
                <a:spcPts val="300"/>
              </a:spcBef>
              <a:defRPr sz="1250" b="1">
                <a:solidFill>
                  <a:srgbClr val="002F5E"/>
                </a:solidFill>
              </a:defRPr>
            </a:pPr>
            <a:r>
              <a:t>Visualisasi Realistis 35 Ha</a:t>
            </a:r>
          </a:p>
          <a:p>
            <a:pPr>
              <a:spcBef>
                <a:spcPts val="600"/>
              </a:spcBef>
              <a:defRPr sz="880">
                <a:solidFill>
                  <a:srgbClr val="1E293B"/>
                </a:solidFill>
              </a:defRPr>
            </a:pPr>
            <a:r>
              <a:t>• Three.js WebGL Engine v2.0:</a:t>
            </a:r>
            <a:br/>
            <a:r>
              <a:t>  Merender pemodelan spasial terminal 35 Hektar secara real-time pada 60 FPS langsung di browser web tanpa plugin tambahan.</a:t>
            </a:r>
            <a:br/>
            <a:br/>
            <a:r>
              <a:t>• Pewarnaan Kontainer Standar ISO:</a:t>
            </a:r>
            <a:br/>
            <a:r>
              <a:t>  - Biru: Peti kemas Dry Kargo umum (40HC / 20ft).</a:t>
            </a:r>
            <a:br/>
            <a:r>
              <a:t>  - Putih/Cyan: Reefer Cold Chain.</a:t>
            </a:r>
            <a:br/>
            <a:r>
              <a:t>  - Merah/Kuning: DG (Dangerous Goods).</a:t>
            </a:r>
            <a:br/>
            <a:r>
              <a:t>  - Abu-abu: Peti kemas kosong (Empty Depot).</a:t>
            </a:r>
            <a:br/>
            <a:br/>
            <a:r>
              <a:t>• Animasi Fisik Halus (Tween.js):</a:t>
            </a:r>
            <a:br/>
            <a:r>
              <a:t>  Menganimasikan gerakan boom crane, perputaran spreader twistlock, dan laju truk di jalan terminal.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17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6366F1"/>
                </a:solidFill>
              </a:defRPr>
            </a:pPr>
            <a:r>
              <a:t>PRESET KAMERA SINEMATIK</a:t>
            </a:r>
          </a:p>
          <a:p>
            <a:pPr>
              <a:spcBef>
                <a:spcPts val="300"/>
              </a:spcBef>
              <a:defRPr sz="1250" b="1">
                <a:solidFill>
                  <a:srgbClr val="002F5E"/>
                </a:solidFill>
              </a:defRPr>
            </a:pPr>
            <a:r>
              <a:t>5 Sudut Pandang Operator</a:t>
            </a:r>
          </a:p>
          <a:p>
            <a:pPr>
              <a:spcBef>
                <a:spcPts val="600"/>
              </a:spcBef>
              <a:defRPr sz="880">
                <a:solidFill>
                  <a:srgbClr val="1E293B"/>
                </a:solidFill>
              </a:defRPr>
            </a:pPr>
            <a:r>
              <a:t>• 1. Drone 35 Ha Overview: Sudut pandang makro manajerial seluruh fasilitas terminal.</a:t>
            </a:r>
            <a:br/>
            <a:r>
              <a:t>• 2. Gate &amp; VGM Timbangan: Sudut pandang gerbang masuk pemeriksaan truk trailer.</a:t>
            </a:r>
            <a:br/>
            <a:r>
              <a:t>• 3. Blok Yard Penumpukan: Sudut pandang tumpukan kontainer Bay-Row-Tier Blok A-E.</a:t>
            </a:r>
            <a:br/>
            <a:r>
              <a:t>• 4. Rail Siding Intermodal: Sudut pandang sepur simpan alih muat kereta api logistik.</a:t>
            </a:r>
            <a:br/>
            <a:r>
              <a:t>• 5. Kabin RS (POV Operator): Sudut pandang pengemudi Reach Stacker dari dalam kabin crane!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9333EA"/>
                </a:solidFill>
              </a:defRPr>
            </a:pPr>
            <a:r>
              <a:t>INSPEKTOR INTERAKTIF</a:t>
            </a:r>
          </a:p>
          <a:p>
            <a:pPr>
              <a:spcBef>
                <a:spcPts val="300"/>
              </a:spcBef>
              <a:defRPr sz="1250" b="1">
                <a:solidFill>
                  <a:srgbClr val="002F5E"/>
                </a:solidFill>
              </a:defRPr>
            </a:pPr>
            <a:r>
              <a:t>3D Raycasting &amp; Lingkungan</a:t>
            </a:r>
          </a:p>
          <a:p>
            <a:pPr>
              <a:spcBef>
                <a:spcPts val="600"/>
              </a:spcBef>
              <a:defRPr sz="880">
                <a:solidFill>
                  <a:srgbClr val="1E293B"/>
                </a:solidFill>
              </a:defRPr>
            </a:pPr>
            <a:r>
              <a:t>• 3D Raycasting Inspector:</a:t>
            </a:r>
            <a:br/>
            <a:r>
              <a:t>  Setiap peti kemas di layar 3D dapat diklik oleh pengguna. Seketika muncul HUD modal berisi metadata riil: Nomor ISO 6346, Tag RFID, Berat VGM, Pemilik Kargo, dan Posisi Slot.</a:t>
            </a:r>
            <a:br/>
            <a:br/>
            <a:r>
              <a:t>• Dynamic Time-of-Day Lighting:</a:t>
            </a:r>
            <a:br/>
            <a:r>
              <a:t>  Dilengkapi kontrol simulasi pencahayaan Siang (Day), Senja (Sunset), dan Malam (Night) untuk mensimulasikan operasional pelabuhan kering 24 jam nonstop dengan lampu sorot tower high-mast.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170B9"/>
                </a:solidFill>
              </a:defRPr>
            </a:pPr>
            <a:r>
              <a:t>TOPIK 7: INLAND CONTAINER DEPOT (ICD) &amp; DRY PORT MANAGEMENT</a:t>
            </a:r>
          </a:p>
          <a:p>
            <a:pPr>
              <a:spcBef>
                <a:spcPts val="300"/>
              </a:spcBef>
              <a:defRPr sz="1900" b="1">
                <a:solidFill>
                  <a:srgbClr val="002F5E"/>
                </a:solidFill>
              </a:defRPr>
            </a:pPr>
            <a:r>
              <a:t>Quality Assurance (QA), Postman Testing Suite &amp; Standar Mutu GS1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Afriansayah Ayubi &amp; Zulfikar J. Fatah — Software &amp; Architecture | Topik 7: ICD &amp; Dry Port Management (CIDP 35 Ha)                    Slide 13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POSTMAN AUTOMATED TESTING SUITE</a:t>
            </a:r>
          </a:p>
          <a:p>
            <a:pPr>
              <a:spcBef>
                <a:spcPts val="300"/>
              </a:spcBef>
              <a:defRPr sz="1300" b="1">
                <a:solidFill>
                  <a:srgbClr val="002F5E"/>
                </a:solidFill>
              </a:defRPr>
            </a:pPr>
            <a:r>
              <a:t>Uji Penjaminan Mutu Software (QA)</a:t>
            </a:r>
          </a:p>
          <a:p>
            <a:pPr>
              <a:spcBef>
                <a:spcPts val="600"/>
              </a:spcBef>
              <a:defRPr sz="919">
                <a:solidFill>
                  <a:srgbClr val="1E293B"/>
                </a:solidFill>
              </a:defRPr>
            </a:pPr>
            <a:r>
              <a:t>• Automated Assertion Scripts:</a:t>
            </a:r>
            <a:br/>
            <a:r>
              <a:t>  1. Status Code Check: pm.response.to.have.status(200);</a:t>
            </a:r>
            <a:br/>
            <a:r>
              <a:t>  2. Latency Threshold: pm.expect(pm.response.responseTime).to.be.below(150);</a:t>
            </a:r>
            <a:br/>
            <a:r>
              <a:t>  3. JSON Schema Validation: Memvalidasi keberadaan field wajib (container_number, vgm_status, billing_id).</a:t>
            </a:r>
            <a:br/>
            <a:br/>
            <a:r>
              <a:t>• Skenario Uji Stres &amp; Kegagalan (Edge Cases):</a:t>
            </a:r>
            <a:br/>
            <a:r>
              <a:t>  - Uji penolakan kontainer overweight (&gt;34 ton).</a:t>
            </a:r>
            <a:br/>
            <a:r>
              <a:t>  - Uji tabrakan slot (mencegah penumpukan di koordinat terisi).</a:t>
            </a:r>
            <a:br/>
            <a:r>
              <a:t>  - Uji toleransi koneksi basis data offline (graceful fallback ke mode demo).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170B9"/>
                </a:solidFill>
              </a:defRPr>
            </a:pPr>
            <a:r>
              <a:t>KEPATUHAN STANDAR MUTU GLOBAL</a:t>
            </a:r>
          </a:p>
          <a:p>
            <a:pPr>
              <a:spcBef>
                <a:spcPts val="300"/>
              </a:spcBef>
              <a:defRPr sz="1300" b="1">
                <a:solidFill>
                  <a:srgbClr val="002F5E"/>
                </a:solidFill>
              </a:defRPr>
            </a:pPr>
            <a:r>
              <a:t>Standardisasi AIDC, GS1 &amp; ISO Maritim</a:t>
            </a:r>
          </a:p>
          <a:p>
            <a:pPr>
              <a:spcBef>
                <a:spcPts val="600"/>
              </a:spcBef>
              <a:defRPr sz="919">
                <a:solidFill>
                  <a:srgbClr val="1E293B"/>
                </a:solidFill>
              </a:defRPr>
            </a:pPr>
            <a:r>
              <a:t>• Standar Identifikasi Peti Kemas ISO 6346:</a:t>
            </a:r>
            <a:br/>
            <a:r>
              <a:t>  Verifikasi otomatis Check Digit algoritma Modulo 11 (4 huruf kode pemilik + 6 angka seri + 1 angka pemeriksa).</a:t>
            </a:r>
            <a:br/>
            <a:br/>
            <a:r>
              <a:t>• Standar Barcode GS1-128 &amp; SSCC-18:</a:t>
            </a:r>
            <a:br/>
            <a:r>
              <a:t>  Mendukung parsing Application Identifier (AI):</a:t>
            </a:r>
            <a:br/>
            <a:r>
              <a:t>  - (00) Serial Shipping Container Code (SSCC-18) untuk tracking unit kargo.</a:t>
            </a:r>
            <a:br/>
            <a:r>
              <a:t>  - (10) Nomor Batch / Lot pengiriman.</a:t>
            </a:r>
            <a:br/>
            <a:r>
              <a:t>  - (17) Tanggal Kedaluwarsa komoditas rantai dingin.</a:t>
            </a:r>
            <a:br/>
            <a:br/>
            <a:r>
              <a:t>• Standar RFID Maritim:</a:t>
            </a:r>
            <a:br/>
            <a:r>
              <a:t>  Struktur data EPCglobal Gen2 UHF (ISO 18000-6C) untuk identifikasi otomatis tanpa sentuh saat truk melintasi gerbang.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170B9"/>
                </a:solidFill>
              </a:defRPr>
            </a:pPr>
            <a:r>
              <a:t>TOPIK 7: INLAND CONTAINER DEPOT (ICD) &amp; DRY PORT MANAGEMENT</a:t>
            </a:r>
          </a:p>
          <a:p>
            <a:pPr>
              <a:spcBef>
                <a:spcPts val="300"/>
              </a:spcBef>
              <a:defRPr sz="1900" b="1">
                <a:solidFill>
                  <a:srgbClr val="002F5E"/>
                </a:solidFill>
              </a:defRPr>
            </a:pPr>
            <a:r>
              <a:t>Benchmarking Industri: Perbandingan Solusi CIDP YMS vs Navis N4 vs Solvo.TOS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Afriansayah Ayubi &amp; Zulfikar J. Fatah — Software &amp; Architecture | Topik 7: ICD &amp; Dry Port Management (CIDP 35 Ha)                    Slide 14 of 15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926080"/>
                <a:gridCol w="2743200"/>
                <a:gridCol w="2651760"/>
              </a:tblGrid>
              <a:tr h="62701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Parameter Evaluasi Sistem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CIDP YMS (Inovasi Konsultan)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Navis N4 (Standard Port Global)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Solvo.TOS (Intermodal Rusia/Eropa)</a:t>
                      </a:r>
                    </a:p>
                  </a:txBody>
                  <a:tcPr>
                    <a:solidFill>
                      <a:srgbClr val="002F5E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Arsitektur &amp; Penerapan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Decoupled Web-Based, Zero Client Install, Modular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On-Premise / Hybrid Heavy Enterprise Client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Client-Server On-Premise Monolitik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Kesiapan Simulasi IoT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Tersedia Virtual Sandbox &amp; Postman 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Memerlukan lisensi emulator mahal tambahan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Simulasi terbatas pada lingkungan testing tertutup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Dukungan Antarmoda Rel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Native Frauscher Axle Counter &amp; SAKA KAI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Modul add-on rail berbiaya lisensi tinggi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Native rail support untuk standar rel CIS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Integrasi Pabean Indonesia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Terhubung langsung spesifikasi CEISA 4.0 DJBC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Memerlukan bridging EDI kustomisasi khusus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Memerlukan modul kustomisasi pihak ketiga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Integrasi Finansial ERP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Event-Driven Webhook langsung ke Odoo ERP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Integrasi kompleks ke SAP via middleware IBM MQ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Konektor kustom ke sistem akuntansi lokal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Biaya Kepemilikan (TCO)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Sangat Efisien, Bebas Royalti Lisensi Asing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Sangat Tinggi ($500k - $2M+ per terminal)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Tinggi ($250k - $800k per terminal)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170B9"/>
                </a:solidFill>
              </a:defRPr>
            </a:pPr>
            <a:r>
              <a:t>TOPIK 7: INLAND CONTAINER DEPOT (ICD) &amp; DRY PORT MANAGEMENT</a:t>
            </a:r>
          </a:p>
          <a:p>
            <a:pPr>
              <a:spcBef>
                <a:spcPts val="300"/>
              </a:spcBef>
              <a:defRPr sz="1900" b="1">
                <a:solidFill>
                  <a:srgbClr val="002F5E"/>
                </a:solidFill>
              </a:defRPr>
            </a:pPr>
            <a:r>
              <a:t>Kesimpulan: Transformasi Data Menjadi Efisiensi, Transparansi, &amp; Profitabilitas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Afriansayah Ayubi &amp; Zulfikar J. Fatah — Software &amp; Architecture | Topik 7: ICD &amp; Dry Port Management (CIDP 35 Ha)                    Slide 15 of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17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170B9"/>
                </a:solidFill>
              </a:defRPr>
            </a:pPr>
            <a:r>
              <a:t>1. KECEPATAN OPERASIONAL &amp; ELIMINASI KEMACETAN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</a:defRPr>
            </a:pPr>
            <a:r>
              <a:t>• Otomasi gerbang 28 detik per truk memangkas antrean di jalan akses logistik.</a:t>
            </a:r>
            <a:br/>
            <a:r>
              <a:t>• Algoritma auto-stacking meminimalkan pergerakan sia-sia (unproductive moves) armada Reach Stacker.</a:t>
            </a:r>
            <a:br/>
            <a:r>
              <a:t>• Dwell time berhasil ditekan hingga rata-rata 2.1 hari (jauh di bawah batas 3 hari).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6366F1"/>
                </a:solidFill>
              </a:defRPr>
            </a:pPr>
            <a:r>
              <a:t>2. INTEGRITAS DATA ABSOLUT TANPA HUMAN ERROR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</a:defRPr>
            </a:pPr>
            <a:r>
              <a:t>• 100% data transaksi operasional ditangkap otomatis oleh sensor dan divalidasi via API Gateway.</a:t>
            </a:r>
            <a:br/>
            <a:r>
              <a:t>• Menghilangkan pencatatan kertas manual (paperless terminal) dan kesalahan pengetikan nomor kontainer.</a:t>
            </a:r>
            <a:br/>
            <a:r>
              <a:t>• Memenuhi kepatuhan SOLAS VGM dan regulasi kepabeanan CEISA 4.0 secara presisi.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0B981"/>
                </a:solidFill>
              </a:defRPr>
            </a:pPr>
            <a:r>
              <a:t>3. AKUNTABILITAS FINANSIAL PENUH (ZERO LEAKAGE)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</a:defRPr>
            </a:pPr>
            <a:r>
              <a:t>• Setiap tindakan fisik (Lo-Lo, timbang, steker listrik, penumpukan) otomatis menjadi entri tagihan ERP Odoo.</a:t>
            </a:r>
            <a:br/>
            <a:r>
              <a:t>• Mencegah kebocoran pendapatan terminal (zero unbilled services).</a:t>
            </a:r>
            <a:br/>
            <a:r>
              <a:t>• Memastikan pengembalian investasi (ROI) fasilitas 35 Ha tercapai sesuai target studi kelayakan.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4. VISIBILITAS KOLABORATIF MULTI-STAKEHOLDER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</a:defRPr>
            </a:pPr>
            <a:r>
              <a:t>• Shipper / Pemilik Barang: Melacak kontainer dan mengunduh e-Invoice secara transparan.</a:t>
            </a:r>
            <a:br/>
            <a:r>
              <a:t>• Bea Cukai: Memantau kontainer jalur merah dan integritas E-Seal secara real-time.</a:t>
            </a:r>
            <a:br/>
            <a:r>
              <a:t>• PT KAI Logistik: Sinkronisasi jadwal kedatangan kereta dan rekonsiliasi kapasitas angkutan gandar rel.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